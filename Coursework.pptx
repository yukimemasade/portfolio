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ppt/charts/chart7.xml" ContentType="application/vnd.openxmlformats-officedocument.drawingml.chart+xml"/>
  <Override PartName="/ppt/charts/style7.xml" ContentType="application/vnd.ms-office.chartstyle+xml"/>
  <Override PartName="/ppt/charts/colors7.xml" ContentType="application/vnd.ms-office.chartcolorstyle+xml"/>
  <Override PartName="/ppt/charts/chart8.xml" ContentType="application/vnd.openxmlformats-officedocument.drawingml.chart+xml"/>
  <Override PartName="/ppt/charts/style8.xml" ContentType="application/vnd.ms-office.chartstyle+xml"/>
  <Override PartName="/ppt/charts/colors8.xml" ContentType="application/vnd.ms-office.chartcolorstyle+xml"/>
  <Override PartName="/ppt/charts/chart9.xml" ContentType="application/vnd.openxmlformats-officedocument.drawingml.chart+xml"/>
  <Override PartName="/ppt/charts/style9.xml" ContentType="application/vnd.ms-office.chartstyle+xml"/>
  <Override PartName="/ppt/charts/colors9.xml" ContentType="application/vnd.ms-office.chartcolorstyle+xml"/>
  <Override PartName="/ppt/charts/chart10.xml" ContentType="application/vnd.openxmlformats-officedocument.drawingml.chart+xml"/>
  <Override PartName="/ppt/charts/style10.xml" ContentType="application/vnd.ms-office.chartstyle+xml"/>
  <Override PartName="/ppt/charts/colors10.xml" ContentType="application/vnd.ms-office.chartcolorstyle+xml"/>
  <Override PartName="/ppt/charts/chart11.xml" ContentType="application/vnd.openxmlformats-officedocument.drawingml.chart+xml"/>
  <Override PartName="/ppt/charts/style11.xml" ContentType="application/vnd.ms-office.chartstyle+xml"/>
  <Override PartName="/ppt/charts/colors11.xml" ContentType="application/vnd.ms-office.chartcolorstyle+xml"/>
  <Override PartName="/ppt/charts/chart12.xml" ContentType="application/vnd.openxmlformats-officedocument.drawingml.chart+xml"/>
  <Override PartName="/ppt/charts/style12.xml" ContentType="application/vnd.ms-office.chartstyle+xml"/>
  <Override PartName="/ppt/charts/colors12.xml" ContentType="application/vnd.ms-office.chartcolorstyle+xml"/>
  <Override PartName="/ppt/charts/chart13.xml" ContentType="application/vnd.openxmlformats-officedocument.drawingml.chart+xml"/>
  <Override PartName="/ppt/charts/style13.xml" ContentType="application/vnd.ms-office.chartstyle+xml"/>
  <Override PartName="/ppt/charts/colors13.xml" ContentType="application/vnd.ms-office.chartcolorstyle+xml"/>
  <Override PartName="/ppt/charts/chart14.xml" ContentType="application/vnd.openxmlformats-officedocument.drawingml.chart+xml"/>
  <Override PartName="/ppt/charts/style14.xml" ContentType="application/vnd.ms-office.chartstyle+xml"/>
  <Override PartName="/ppt/charts/colors14.xml" ContentType="application/vnd.ms-office.chartcolorstyle+xml"/>
  <Override PartName="/ppt/charts/chart15.xml" ContentType="application/vnd.openxmlformats-officedocument.drawingml.chart+xml"/>
  <Override PartName="/ppt/charts/style15.xml" ContentType="application/vnd.ms-office.chartstyle+xml"/>
  <Override PartName="/ppt/charts/colors15.xml" ContentType="application/vnd.ms-office.chartcolorstyle+xml"/>
  <Override PartName="/ppt/charts/chart16.xml" ContentType="application/vnd.openxmlformats-officedocument.drawingml.chart+xml"/>
  <Override PartName="/ppt/charts/style16.xml" ContentType="application/vnd.ms-office.chartstyle+xml"/>
  <Override PartName="/ppt/charts/colors16.xml" ContentType="application/vnd.ms-office.chartcolorstyle+xml"/>
  <Override PartName="/ppt/charts/chart17.xml" ContentType="application/vnd.openxmlformats-officedocument.drawingml.chart+xml"/>
  <Override PartName="/ppt/charts/style17.xml" ContentType="application/vnd.ms-office.chartstyle+xml"/>
  <Override PartName="/ppt/charts/colors17.xml" ContentType="application/vnd.ms-office.chartcolorstyle+xml"/>
  <Override PartName="/ppt/charts/chart18.xml" ContentType="application/vnd.openxmlformats-officedocument.drawingml.chart+xml"/>
  <Override PartName="/ppt/charts/style18.xml" ContentType="application/vnd.ms-office.chartstyle+xml"/>
  <Override PartName="/ppt/charts/colors18.xml" ContentType="application/vnd.ms-office.chartcolorstyle+xml"/>
  <Override PartName="/ppt/charts/chart19.xml" ContentType="application/vnd.openxmlformats-officedocument.drawingml.chart+xml"/>
  <Override PartName="/ppt/charts/style19.xml" ContentType="application/vnd.ms-office.chartstyle+xml"/>
  <Override PartName="/ppt/charts/colors19.xml" ContentType="application/vnd.ms-office.chartcolorstyle+xml"/>
  <Override PartName="/ppt/charts/chart20.xml" ContentType="application/vnd.openxmlformats-officedocument.drawingml.chart+xml"/>
  <Override PartName="/ppt/charts/style20.xml" ContentType="application/vnd.ms-office.chartstyle+xml"/>
  <Override PartName="/ppt/charts/colors20.xml" ContentType="application/vnd.ms-office.chartcolorstyl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73" r:id="rId5"/>
    <p:sldId id="259" r:id="rId6"/>
    <p:sldId id="274" r:id="rId7"/>
    <p:sldId id="261" r:id="rId8"/>
    <p:sldId id="262" r:id="rId9"/>
    <p:sldId id="275" r:id="rId10"/>
    <p:sldId id="267" r:id="rId11"/>
    <p:sldId id="266" r:id="rId12"/>
    <p:sldId id="276" r:id="rId13"/>
    <p:sldId id="277" r:id="rId14"/>
    <p:sldId id="263" r:id="rId15"/>
    <p:sldId id="264" r:id="rId16"/>
    <p:sldId id="278" r:id="rId17"/>
    <p:sldId id="279" r:id="rId18"/>
    <p:sldId id="271" r:id="rId19"/>
    <p:sldId id="280" r:id="rId20"/>
    <p:sldId id="268" r:id="rId21"/>
    <p:sldId id="282" r:id="rId22"/>
    <p:sldId id="269" r:id="rId23"/>
  </p:sldIdLst>
  <p:sldSz cx="12192000" cy="6858000"/>
  <p:notesSz cx="6858000" cy="9144000"/>
  <p:defaultTex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Раздел по умолчанию" id="{83D2AD78-9ECB-42F9-A0F4-78DC26BF14CA}">
          <p14:sldIdLst>
            <p14:sldId id="256"/>
            <p14:sldId id="257"/>
            <p14:sldId id="258"/>
            <p14:sldId id="273"/>
          </p14:sldIdLst>
        </p14:section>
        <p14:section name="Раздел без заголовка" id="{D4D7FEE6-B42F-4C0C-B0CC-426ADDB41057}">
          <p14:sldIdLst>
            <p14:sldId id="259"/>
            <p14:sldId id="274"/>
            <p14:sldId id="261"/>
            <p14:sldId id="262"/>
            <p14:sldId id="275"/>
            <p14:sldId id="267"/>
            <p14:sldId id="266"/>
            <p14:sldId id="276"/>
            <p14:sldId id="277"/>
            <p14:sldId id="263"/>
            <p14:sldId id="264"/>
            <p14:sldId id="278"/>
            <p14:sldId id="279"/>
            <p14:sldId id="271"/>
            <p14:sldId id="280"/>
            <p14:sldId id="268"/>
            <p14:sldId id="282"/>
            <p14:sldId id="26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9" d="100"/>
          <a:sy n="79" d="100"/>
        </p:scale>
        <p:origin x="850"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3" Type="http://schemas.openxmlformats.org/officeDocument/2006/relationships/oleObject" Target="file:///C:\Users\asman\Downloads\07%2019_45_4866b3ceec4682e5.52044134&#1047;&#1072;&#1076;&#1072;&#1085;&#1080;&#1077;1_&#1040;&#1089;&#1084;&#1072;&#1085;&#1076;&#1080;&#1103;&#1088;&#1086;&#1074;_&#1056;&#1072;&#1080;&#1083;&#1100;.xlsx"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file:///C:\Users\asman\Downloads\07%2019_45_4866b3ceec4682e5.52044134&#1047;&#1072;&#1076;&#1072;&#1085;&#1080;&#1077;1_&#1040;&#1089;&#1084;&#1072;&#1085;&#1076;&#1080;&#1103;&#1088;&#1086;&#1074;_&#1056;&#1072;&#1080;&#1083;&#1100;.xlsx" TargetMode="External"/><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oleObject" Target="file:///C:\Users\asman\Downloads\07%2019_45_4866b3ceec4682e5.52044134&#1047;&#1072;&#1076;&#1072;&#1085;&#1080;&#1077;1_&#1040;&#1089;&#1084;&#1072;&#1085;&#1076;&#1080;&#1103;&#1088;&#1086;&#1074;_&#1056;&#1072;&#1080;&#1083;&#1100;.xlsx" TargetMode="External"/><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oleObject" Target="file:///C:\Users\asman\Downloads\07%2019_45_4866b3ceec4682e5.52044134&#1047;&#1072;&#1076;&#1072;&#1085;&#1080;&#1077;1_&#1040;&#1089;&#1084;&#1072;&#1085;&#1076;&#1080;&#1103;&#1088;&#1086;&#1074;_&#1056;&#1072;&#1080;&#1083;&#1100;.xlsx" TargetMode="External"/><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oleObject" Target="file:///C:\Users\asman\Downloads\07%2019_45_4866b3ceec4682e5.52044134&#1047;&#1072;&#1076;&#1072;&#1085;&#1080;&#1077;1_&#1040;&#1089;&#1084;&#1072;&#1085;&#1076;&#1080;&#1103;&#1088;&#1086;&#1074;_&#1056;&#1072;&#1080;&#1083;&#1100;.xlsx" TargetMode="External"/><Relationship Id="rId2" Type="http://schemas.microsoft.com/office/2011/relationships/chartColorStyle" Target="colors5.xml"/><Relationship Id="rId1" Type="http://schemas.microsoft.com/office/2011/relationships/chartStyle" Target="style5.xml"/></Relationships>
</file>

<file path=ppt/charts/_rels/chart6.xml.rels><?xml version="1.0" encoding="UTF-8" standalone="yes"?>
<Relationships xmlns="http://schemas.openxmlformats.org/package/2006/relationships"><Relationship Id="rId3" Type="http://schemas.openxmlformats.org/officeDocument/2006/relationships/oleObject" Target="file:///C:\Users\asman\Downloads\07%2019_45_4866b3ceec4682e5.52044134&#1047;&#1072;&#1076;&#1072;&#1085;&#1080;&#1077;1_&#1040;&#1089;&#1084;&#1072;&#1085;&#1076;&#1080;&#1103;&#1088;&#1086;&#1074;_&#1056;&#1072;&#1080;&#1083;&#1100;.xlsx" TargetMode="External"/><Relationship Id="rId2" Type="http://schemas.microsoft.com/office/2011/relationships/chartColorStyle" Target="colors6.xml"/><Relationship Id="rId1" Type="http://schemas.microsoft.com/office/2011/relationships/chartStyle" Target="style6.xml"/></Relationships>
</file>

<file path=ppt/charts/_rels/chart7.xml.rels><?xml version="1.0" encoding="UTF-8" standalone="yes"?>
<Relationships xmlns="http://schemas.openxmlformats.org/package/2006/relationships"><Relationship Id="rId3" Type="http://schemas.openxmlformats.org/officeDocument/2006/relationships/oleObject" Target="file:///C:\Users\asman\Downloads\09%2008_24_0966b5d229800076.83554415&#1047;&#1072;&#1076;&#1072;&#1085;&#1080;&#1077;2_&#1040;&#1089;&#1084;&#1072;&#1085;&#1076;&#1080;&#1103;&#1088;&#1086;&#1074;_&#1056;&#1072;&#1080;&#1083;&#1100;%20(1).xlsx" TargetMode="External"/><Relationship Id="rId2" Type="http://schemas.microsoft.com/office/2011/relationships/chartColorStyle" Target="colors7.xml"/><Relationship Id="rId1" Type="http://schemas.microsoft.com/office/2011/relationships/chartStyle" Target="style7.xml"/></Relationships>
</file>

<file path=ppt/charts/_rels/chart8.xml.rels><?xml version="1.0" encoding="UTF-8" standalone="yes"?>
<Relationships xmlns="http://schemas.openxmlformats.org/package/2006/relationships"><Relationship Id="rId3" Type="http://schemas.openxmlformats.org/officeDocument/2006/relationships/oleObject" Target="file:///C:\Users\asman\Downloads\07%2019_45_4866b3ceec4682e5.52044134&#1047;&#1072;&#1076;&#1072;&#1085;&#1080;&#1077;1_&#1040;&#1089;&#1084;&#1072;&#1085;&#1076;&#1080;&#1103;&#1088;&#1086;&#1074;_&#1056;&#1072;&#1080;&#1083;&#1100;.xlsx" TargetMode="External"/><Relationship Id="rId2" Type="http://schemas.microsoft.com/office/2011/relationships/chartColorStyle" Target="colors8.xml"/><Relationship Id="rId1" Type="http://schemas.microsoft.com/office/2011/relationships/chartStyle" Target="style8.xml"/></Relationships>
</file>

<file path=ppt/charts/_rels/chart9.xml.rels><?xml version="1.0" encoding="UTF-8" standalone="yes"?>
<Relationships xmlns="http://schemas.openxmlformats.org/package/2006/relationships"><Relationship Id="rId3" Type="http://schemas.openxmlformats.org/officeDocument/2006/relationships/oleObject" Target="file:///C:\Users\asman\Downloads\07%2019_45_4866b3ceec4682e5.52044134&#1047;&#1072;&#1076;&#1072;&#1085;&#1080;&#1077;1_&#1040;&#1089;&#1084;&#1072;&#1085;&#1076;&#1080;&#1103;&#1088;&#1086;&#1074;_&#1056;&#1072;&#1080;&#1083;&#1100;.xlsx" TargetMode="External"/><Relationship Id="rId2" Type="http://schemas.microsoft.com/office/2011/relationships/chartColorStyle" Target="colors9.xml"/><Relationship Id="rId1" Type="http://schemas.microsoft.com/office/2011/relationships/chartStyle" Target="style9.xml"/></Relationships>
</file>

<file path=ppt/charts/_rels/chart10.xml.rels><?xml version="1.0" encoding="UTF-8" standalone="yes"?>
<Relationships xmlns="http://schemas.openxmlformats.org/package/2006/relationships"><Relationship Id="rId3" Type="http://schemas.openxmlformats.org/officeDocument/2006/relationships/oleObject" Target="file:///C:\Users\asman\Downloads\09%2008_24_0966b5d229800076.83554415&#1047;&#1072;&#1076;&#1072;&#1085;&#1080;&#1077;2_&#1040;&#1089;&#1084;&#1072;&#1085;&#1076;&#1080;&#1103;&#1088;&#1086;&#1074;_&#1056;&#1072;&#1080;&#1083;&#1100;%20(1).xlsx" TargetMode="External"/><Relationship Id="rId2" Type="http://schemas.microsoft.com/office/2011/relationships/chartColorStyle" Target="colors10.xml"/><Relationship Id="rId1" Type="http://schemas.microsoft.com/office/2011/relationships/chartStyle" Target="style10.xml"/></Relationships>
</file>

<file path=ppt/charts/_rels/chart11.xml.rels><?xml version="1.0" encoding="UTF-8" standalone="yes"?>
<Relationships xmlns="http://schemas.openxmlformats.org/package/2006/relationships"><Relationship Id="rId3" Type="http://schemas.openxmlformats.org/officeDocument/2006/relationships/oleObject" Target="file:///C:\Users\asman\Downloads\09%2008_24_0966b5d229800076.83554415&#1047;&#1072;&#1076;&#1072;&#1085;&#1080;&#1077;2_&#1040;&#1089;&#1084;&#1072;&#1085;&#1076;&#1080;&#1103;&#1088;&#1086;&#1074;_&#1056;&#1072;&#1080;&#1083;&#1100;%20(1).xlsx" TargetMode="External"/><Relationship Id="rId2" Type="http://schemas.microsoft.com/office/2011/relationships/chartColorStyle" Target="colors11.xml"/><Relationship Id="rId1" Type="http://schemas.microsoft.com/office/2011/relationships/chartStyle" Target="style11.xml"/></Relationships>
</file>

<file path=ppt/charts/_rels/chart12.xml.rels><?xml version="1.0" encoding="UTF-8" standalone="yes"?>
<Relationships xmlns="http://schemas.openxmlformats.org/package/2006/relationships"><Relationship Id="rId3" Type="http://schemas.openxmlformats.org/officeDocument/2006/relationships/oleObject" Target="file:///C:\Users\asman\Downloads\09%2008_24_0966b5d229800076.83554415&#1047;&#1072;&#1076;&#1072;&#1085;&#1080;&#1077;2_&#1040;&#1089;&#1084;&#1072;&#1085;&#1076;&#1080;&#1103;&#1088;&#1086;&#1074;_&#1056;&#1072;&#1080;&#1083;&#1100;%20(1).xlsx" TargetMode="External"/><Relationship Id="rId2" Type="http://schemas.microsoft.com/office/2011/relationships/chartColorStyle" Target="colors12.xml"/><Relationship Id="rId1" Type="http://schemas.microsoft.com/office/2011/relationships/chartStyle" Target="style12.xml"/></Relationships>
</file>

<file path=ppt/charts/_rels/chart13.xml.rels><?xml version="1.0" encoding="UTF-8" standalone="yes"?>
<Relationships xmlns="http://schemas.openxmlformats.org/package/2006/relationships"><Relationship Id="rId3" Type="http://schemas.openxmlformats.org/officeDocument/2006/relationships/oleObject" Target="file:///C:\Users\asman\Downloads\09%2008_24_0966b5d229800076.83554415&#1047;&#1072;&#1076;&#1072;&#1085;&#1080;&#1077;2_&#1040;&#1089;&#1084;&#1072;&#1085;&#1076;&#1080;&#1103;&#1088;&#1086;&#1074;_&#1056;&#1072;&#1080;&#1083;&#1100;%20(1).xlsx" TargetMode="External"/><Relationship Id="rId2" Type="http://schemas.microsoft.com/office/2011/relationships/chartColorStyle" Target="colors13.xml"/><Relationship Id="rId1" Type="http://schemas.microsoft.com/office/2011/relationships/chartStyle" Target="style13.xml"/></Relationships>
</file>

<file path=ppt/charts/_rels/chart14.xml.rels><?xml version="1.0" encoding="UTF-8" standalone="yes"?>
<Relationships xmlns="http://schemas.openxmlformats.org/package/2006/relationships"><Relationship Id="rId3" Type="http://schemas.openxmlformats.org/officeDocument/2006/relationships/oleObject" Target="file:///C:\Users\asman\Downloads\09%2008_24_0966b5d229800076.83554415&#1047;&#1072;&#1076;&#1072;&#1085;&#1080;&#1077;2_&#1040;&#1089;&#1084;&#1072;&#1085;&#1076;&#1080;&#1103;&#1088;&#1086;&#1074;_&#1056;&#1072;&#1080;&#1083;&#1100;%20(1).xlsx" TargetMode="External"/><Relationship Id="rId2" Type="http://schemas.microsoft.com/office/2011/relationships/chartColorStyle" Target="colors14.xml"/><Relationship Id="rId1" Type="http://schemas.microsoft.com/office/2011/relationships/chartStyle" Target="style14.xml"/></Relationships>
</file>

<file path=ppt/charts/_rels/chart15.xml.rels><?xml version="1.0" encoding="UTF-8" standalone="yes"?>
<Relationships xmlns="http://schemas.openxmlformats.org/package/2006/relationships"><Relationship Id="rId3" Type="http://schemas.openxmlformats.org/officeDocument/2006/relationships/oleObject" Target="file:///C:\Users\asman\Downloads\09%2008_24_0966b5d229800076.83554415&#1047;&#1072;&#1076;&#1072;&#1085;&#1080;&#1077;2_&#1040;&#1089;&#1084;&#1072;&#1085;&#1076;&#1080;&#1103;&#1088;&#1086;&#1074;_&#1056;&#1072;&#1080;&#1083;&#1100;%20(1).xlsx" TargetMode="External"/><Relationship Id="rId2" Type="http://schemas.microsoft.com/office/2011/relationships/chartColorStyle" Target="colors15.xml"/><Relationship Id="rId1" Type="http://schemas.microsoft.com/office/2011/relationships/chartStyle" Target="style15.xml"/></Relationships>
</file>

<file path=ppt/charts/_rels/chart16.xml.rels><?xml version="1.0" encoding="UTF-8" standalone="yes"?>
<Relationships xmlns="http://schemas.openxmlformats.org/package/2006/relationships"><Relationship Id="rId3" Type="http://schemas.openxmlformats.org/officeDocument/2006/relationships/oleObject" Target="file:///C:\Users\asman\Downloads\22%2019_51_0366c796a7222c29.91880360&#1042;&#1086;&#1088;&#1082;&#1096;&#1086;&#1087;excel1_&#1040;&#1089;&#1084;&#1072;&#1085;&#1076;&#1080;&#1103;&#1088;&#1086;&#1074;_&#1056;&#1040;.xlsx" TargetMode="External"/><Relationship Id="rId2" Type="http://schemas.microsoft.com/office/2011/relationships/chartColorStyle" Target="colors16.xml"/><Relationship Id="rId1" Type="http://schemas.microsoft.com/office/2011/relationships/chartStyle" Target="style16.xml"/></Relationships>
</file>

<file path=ppt/charts/_rels/chart17.xml.rels><?xml version="1.0" encoding="UTF-8" standalone="yes"?>
<Relationships xmlns="http://schemas.openxmlformats.org/package/2006/relationships"><Relationship Id="rId3" Type="http://schemas.openxmlformats.org/officeDocument/2006/relationships/oleObject" Target="file:///C:\Users\asman\Downloads\22%2019_51_0366c796a7222c29.91880360&#1042;&#1086;&#1088;&#1082;&#1096;&#1086;&#1087;excel1_&#1040;&#1089;&#1084;&#1072;&#1085;&#1076;&#1080;&#1103;&#1088;&#1086;&#1074;_&#1056;&#1040;.xlsx" TargetMode="External"/><Relationship Id="rId2" Type="http://schemas.microsoft.com/office/2011/relationships/chartColorStyle" Target="colors17.xml"/><Relationship Id="rId1" Type="http://schemas.microsoft.com/office/2011/relationships/chartStyle" Target="style17.xml"/></Relationships>
</file>

<file path=ppt/charts/_rels/chart18.xml.rels><?xml version="1.0" encoding="UTF-8" standalone="yes"?>
<Relationships xmlns="http://schemas.openxmlformats.org/package/2006/relationships"><Relationship Id="rId3" Type="http://schemas.openxmlformats.org/officeDocument/2006/relationships/oleObject" Target="file:///C:\Users\asman\Downloads\22%2019_51_0366c796a7222c29.91880360&#1042;&#1086;&#1088;&#1082;&#1096;&#1086;&#1087;excel1_&#1040;&#1089;&#1084;&#1072;&#1085;&#1076;&#1080;&#1103;&#1088;&#1086;&#1074;_&#1056;&#1040;.xlsx" TargetMode="External"/><Relationship Id="rId2" Type="http://schemas.microsoft.com/office/2011/relationships/chartColorStyle" Target="colors18.xml"/><Relationship Id="rId1" Type="http://schemas.microsoft.com/office/2011/relationships/chartStyle" Target="style18.xml"/></Relationships>
</file>

<file path=ppt/charts/_rels/chart19.xml.rels><?xml version="1.0" encoding="UTF-8" standalone="yes"?>
<Relationships xmlns="http://schemas.openxmlformats.org/package/2006/relationships"><Relationship Id="rId3" Type="http://schemas.openxmlformats.org/officeDocument/2006/relationships/oleObject" Target="file:///C:\Users\asman\Downloads\23%2019_24_5466c8e206d4de68.59189473&#1042;&#1086;&#1088;&#1082;&#1096;&#1086;&#1087;excel1_&#1040;&#1089;&#1084;&#1072;&#1085;&#1076;&#1080;&#1103;&#1088;&#1086;&#1074;_&#1056;&#1040;.xlsx" TargetMode="External"/><Relationship Id="rId2" Type="http://schemas.microsoft.com/office/2011/relationships/chartColorStyle" Target="colors19.xml"/><Relationship Id="rId1" Type="http://schemas.microsoft.com/office/2011/relationships/chartStyle" Target="style19.xml"/></Relationships>
</file>

<file path=ppt/charts/_rels/chart20.xml.rels><?xml version="1.0" encoding="UTF-8" standalone="yes"?>
<Relationships xmlns="http://schemas.openxmlformats.org/package/2006/relationships"><Relationship Id="rId3" Type="http://schemas.openxmlformats.org/officeDocument/2006/relationships/oleObject" Target="file:///C:\Users\asman\Downloads\22%2019_51_0366c796a7222c29.91880360&#1042;&#1086;&#1088;&#1082;&#1096;&#1086;&#1087;excel1_&#1040;&#1089;&#1084;&#1072;&#1085;&#1076;&#1080;&#1103;&#1088;&#1086;&#1074;_&#1056;&#1040;.xlsx" TargetMode="External"/><Relationship Id="rId2" Type="http://schemas.microsoft.com/office/2011/relationships/chartColorStyle" Target="colors20.xml"/><Relationship Id="rId1" Type="http://schemas.microsoft.com/office/2011/relationships/chartStyle" Target="style20.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pivotSource>
    <c:name>[07 19_45_4866b3ceec4682e5.52044134Задание1_Асмандияров_Раиль.xlsx]Задание 1!Сводная таблица1</c:name>
    <c:fmtId val="15"/>
  </c:pivotSource>
  <c:chart>
    <c:autoTitleDeleted val="1"/>
    <c:pivotFmts>
      <c:pivotFmt>
        <c:idx val="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ru-RU"/>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ru-RU"/>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ru-RU"/>
            </a:p>
          </c:txPr>
          <c:showLegendKey val="0"/>
          <c:showVal val="0"/>
          <c:showCatName val="0"/>
          <c:showSerName val="0"/>
          <c:showPercent val="0"/>
          <c:showBubbleSize val="0"/>
          <c:extLst>
            <c:ext xmlns:c15="http://schemas.microsoft.com/office/drawing/2012/chart" uri="{CE6537A1-D6FC-4f65-9D91-7224C49458BB}"/>
          </c:extLst>
        </c:dLbl>
      </c:pivotFmt>
      <c:pivotFmt>
        <c:idx val="3"/>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ru-RU"/>
            </a:p>
          </c:txPr>
          <c:showLegendKey val="0"/>
          <c:showVal val="0"/>
          <c:showCatName val="0"/>
          <c:showSerName val="0"/>
          <c:showPercent val="0"/>
          <c:showBubbleSize val="0"/>
          <c:extLst>
            <c:ext xmlns:c15="http://schemas.microsoft.com/office/drawing/2012/chart" uri="{CE6537A1-D6FC-4f65-9D91-7224C49458BB}"/>
          </c:extLst>
        </c:dLbl>
      </c:pivotFmt>
      <c:pivotFmt>
        <c:idx val="4"/>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ru-RU"/>
            </a:p>
          </c:txPr>
          <c:showLegendKey val="0"/>
          <c:showVal val="0"/>
          <c:showCatName val="0"/>
          <c:showSerName val="0"/>
          <c:showPercent val="0"/>
          <c:showBubbleSize val="0"/>
          <c:extLst>
            <c:ext xmlns:c15="http://schemas.microsoft.com/office/drawing/2012/chart" uri="{CE6537A1-D6FC-4f65-9D91-7224C49458BB}"/>
          </c:extLst>
        </c:dLbl>
      </c:pivotFmt>
      <c:pivotFmt>
        <c:idx val="5"/>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ru-RU"/>
            </a:p>
          </c:txPr>
          <c:showLegendKey val="0"/>
          <c:showVal val="0"/>
          <c:showCatName val="0"/>
          <c:showSerName val="0"/>
          <c:showPercent val="0"/>
          <c:showBubbleSize val="0"/>
          <c:extLst>
            <c:ext xmlns:c15="http://schemas.microsoft.com/office/drawing/2012/chart" uri="{CE6537A1-D6FC-4f65-9D91-7224C49458BB}"/>
          </c:extLst>
        </c:dLbl>
      </c:pivotFmt>
      <c:pivotFmt>
        <c:idx val="6"/>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ru-RU"/>
            </a:p>
          </c:txPr>
          <c:showLegendKey val="0"/>
          <c:showVal val="0"/>
          <c:showCatName val="0"/>
          <c:showSerName val="0"/>
          <c:showPercent val="0"/>
          <c:showBubbleSize val="0"/>
          <c:extLst>
            <c:ext xmlns:c15="http://schemas.microsoft.com/office/drawing/2012/chart" uri="{CE6537A1-D6FC-4f65-9D91-7224C49458BB}"/>
          </c:extLst>
        </c:dLbl>
      </c:pivotFmt>
      <c:pivotFmt>
        <c:idx val="7"/>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ru-RU"/>
            </a:p>
          </c:txPr>
          <c:showLegendKey val="0"/>
          <c:showVal val="0"/>
          <c:showCatName val="0"/>
          <c:showSerName val="0"/>
          <c:showPercent val="0"/>
          <c:showBubbleSize val="0"/>
          <c:extLst>
            <c:ext xmlns:c15="http://schemas.microsoft.com/office/drawing/2012/chart" uri="{CE6537A1-D6FC-4f65-9D91-7224C49458BB}"/>
          </c:extLst>
        </c:dLbl>
      </c:pivotFmt>
      <c:pivotFmt>
        <c:idx val="8"/>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ru-RU"/>
            </a:p>
          </c:txPr>
          <c:showLegendKey val="0"/>
          <c:showVal val="0"/>
          <c:showCatName val="0"/>
          <c:showSerName val="0"/>
          <c:showPercent val="0"/>
          <c:showBubbleSize val="0"/>
          <c:extLst>
            <c:ext xmlns:c15="http://schemas.microsoft.com/office/drawing/2012/chart" uri="{CE6537A1-D6FC-4f65-9D91-7224C49458BB}"/>
          </c:extLst>
        </c:dLbl>
      </c:pivotFmt>
      <c:pivotFmt>
        <c:idx val="9"/>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ru-RU"/>
            </a:p>
          </c:txPr>
          <c:showLegendKey val="0"/>
          <c:showVal val="0"/>
          <c:showCatName val="0"/>
          <c:showSerName val="0"/>
          <c:showPercent val="0"/>
          <c:showBubbleSize val="0"/>
          <c:extLst>
            <c:ext xmlns:c15="http://schemas.microsoft.com/office/drawing/2012/chart" uri="{CE6537A1-D6FC-4f65-9D91-7224C49458BB}"/>
          </c:extLst>
        </c:dLbl>
      </c:pivotFmt>
      <c:pivotFmt>
        <c:idx val="1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ru-RU"/>
            </a:p>
          </c:txPr>
          <c:showLegendKey val="0"/>
          <c:showVal val="0"/>
          <c:showCatName val="0"/>
          <c:showSerName val="0"/>
          <c:showPercent val="0"/>
          <c:showBubbleSize val="0"/>
          <c:extLst>
            <c:ext xmlns:c15="http://schemas.microsoft.com/office/drawing/2012/chart" uri="{CE6537A1-D6FC-4f65-9D91-7224C49458BB}"/>
          </c:extLst>
        </c:dLbl>
      </c:pivotFmt>
      <c:pivotFmt>
        <c:idx val="1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ru-RU"/>
            </a:p>
          </c:txPr>
          <c:showLegendKey val="0"/>
          <c:showVal val="0"/>
          <c:showCatName val="0"/>
          <c:showSerName val="0"/>
          <c:showPercent val="0"/>
          <c:showBubbleSize val="0"/>
          <c:extLst>
            <c:ext xmlns:c15="http://schemas.microsoft.com/office/drawing/2012/chart" uri="{CE6537A1-D6FC-4f65-9D91-7224C49458BB}"/>
          </c:extLst>
        </c:dLbl>
      </c:pivotFmt>
      <c:pivotFmt>
        <c:idx val="1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ru-RU"/>
            </a:p>
          </c:txPr>
          <c:showLegendKey val="0"/>
          <c:showVal val="0"/>
          <c:showCatName val="0"/>
          <c:showSerName val="0"/>
          <c:showPercent val="0"/>
          <c:showBubbleSize val="0"/>
          <c:extLst>
            <c:ext xmlns:c15="http://schemas.microsoft.com/office/drawing/2012/chart" uri="{CE6537A1-D6FC-4f65-9D91-7224C49458BB}"/>
          </c:extLst>
        </c:dLbl>
      </c:pivotFmt>
      <c:pivotFmt>
        <c:idx val="13"/>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ru-RU"/>
            </a:p>
          </c:txPr>
          <c:showLegendKey val="0"/>
          <c:showVal val="0"/>
          <c:showCatName val="0"/>
          <c:showSerName val="0"/>
          <c:showPercent val="0"/>
          <c:showBubbleSize val="0"/>
          <c:extLst>
            <c:ext xmlns:c15="http://schemas.microsoft.com/office/drawing/2012/chart" uri="{CE6537A1-D6FC-4f65-9D91-7224C49458BB}"/>
          </c:extLst>
        </c:dLbl>
      </c:pivotFmt>
      <c:pivotFmt>
        <c:idx val="14"/>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ru-RU"/>
            </a:p>
          </c:txPr>
          <c:showLegendKey val="0"/>
          <c:showVal val="0"/>
          <c:showCatName val="0"/>
          <c:showSerName val="0"/>
          <c:showPercent val="0"/>
          <c:showBubbleSize val="0"/>
          <c:extLst>
            <c:ext xmlns:c15="http://schemas.microsoft.com/office/drawing/2012/chart" uri="{CE6537A1-D6FC-4f65-9D91-7224C49458BB}"/>
          </c:extLst>
        </c:dLbl>
      </c:pivotFmt>
      <c:pivotFmt>
        <c:idx val="15"/>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ru-RU"/>
            </a:p>
          </c:txPr>
          <c:showLegendKey val="0"/>
          <c:showVal val="0"/>
          <c:showCatName val="0"/>
          <c:showSerName val="0"/>
          <c:showPercent val="0"/>
          <c:showBubbleSize val="0"/>
          <c:extLst>
            <c:ext xmlns:c15="http://schemas.microsoft.com/office/drawing/2012/chart" uri="{CE6537A1-D6FC-4f65-9D91-7224C49458BB}"/>
          </c:extLst>
        </c:dLbl>
      </c:pivotFmt>
      <c:pivotFmt>
        <c:idx val="16"/>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ru-RU"/>
            </a:p>
          </c:txPr>
          <c:showLegendKey val="0"/>
          <c:showVal val="0"/>
          <c:showCatName val="0"/>
          <c:showSerName val="0"/>
          <c:showPercent val="0"/>
          <c:showBubbleSize val="0"/>
          <c:extLst>
            <c:ext xmlns:c15="http://schemas.microsoft.com/office/drawing/2012/chart" uri="{CE6537A1-D6FC-4f65-9D91-7224C49458BB}"/>
          </c:extLst>
        </c:dLbl>
      </c:pivotFmt>
      <c:pivotFmt>
        <c:idx val="17"/>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ru-RU"/>
            </a:p>
          </c:txPr>
          <c:showLegendKey val="0"/>
          <c:showVal val="0"/>
          <c:showCatName val="0"/>
          <c:showSerName val="0"/>
          <c:showPercent val="0"/>
          <c:showBubbleSize val="0"/>
          <c:extLst>
            <c:ext xmlns:c15="http://schemas.microsoft.com/office/drawing/2012/chart" uri="{CE6537A1-D6FC-4f65-9D91-7224C49458BB}"/>
          </c:extLst>
        </c:dLbl>
      </c:pivotFmt>
    </c:pivotFmts>
    <c:plotArea>
      <c:layout>
        <c:manualLayout>
          <c:layoutTarget val="inner"/>
          <c:xMode val="edge"/>
          <c:yMode val="edge"/>
          <c:x val="0.11005922997353242"/>
          <c:y val="6.402745718960931E-2"/>
          <c:w val="0.71659981361025538"/>
          <c:h val="0.74982682998544326"/>
        </c:manualLayout>
      </c:layout>
      <c:barChart>
        <c:barDir val="col"/>
        <c:grouping val="stacked"/>
        <c:varyColors val="0"/>
        <c:ser>
          <c:idx val="0"/>
          <c:order val="0"/>
          <c:tx>
            <c:strRef>
              <c:f>'Задание 1'!$B$1:$B$2</c:f>
              <c:strCache>
                <c:ptCount val="1"/>
                <c:pt idx="0">
                  <c:v>Ленинский пр-т, 162/1</c:v>
                </c:pt>
              </c:strCache>
            </c:strRef>
          </c:tx>
          <c:spPr>
            <a:solidFill>
              <a:schemeClr val="accent1"/>
            </a:solidFill>
            <a:ln>
              <a:noFill/>
            </a:ln>
            <a:effectLst/>
          </c:spPr>
          <c:invertIfNegative val="0"/>
          <c:cat>
            <c:strRef>
              <c:f>'Задание 1'!$A$3:$A$7</c:f>
              <c:strCache>
                <c:ptCount val="4"/>
                <c:pt idx="0">
                  <c:v>01.сен</c:v>
                </c:pt>
                <c:pt idx="1">
                  <c:v>02.сен</c:v>
                </c:pt>
                <c:pt idx="2">
                  <c:v>03.сен</c:v>
                </c:pt>
                <c:pt idx="3">
                  <c:v>04.сен</c:v>
                </c:pt>
              </c:strCache>
            </c:strRef>
          </c:cat>
          <c:val>
            <c:numRef>
              <c:f>'Задание 1'!$B$3:$B$7</c:f>
              <c:numCache>
                <c:formatCode>General</c:formatCode>
                <c:ptCount val="4"/>
                <c:pt idx="0">
                  <c:v>2775</c:v>
                </c:pt>
                <c:pt idx="1">
                  <c:v>2798</c:v>
                </c:pt>
                <c:pt idx="2">
                  <c:v>2615</c:v>
                </c:pt>
                <c:pt idx="3">
                  <c:v>2655</c:v>
                </c:pt>
              </c:numCache>
            </c:numRef>
          </c:val>
          <c:extLst>
            <c:ext xmlns:c16="http://schemas.microsoft.com/office/drawing/2014/chart" uri="{C3380CC4-5D6E-409C-BE32-E72D297353CC}">
              <c16:uniqueId val="{00000000-D779-4360-AF04-F5B184E964D5}"/>
            </c:ext>
          </c:extLst>
        </c:ser>
        <c:ser>
          <c:idx val="1"/>
          <c:order val="1"/>
          <c:tx>
            <c:strRef>
              <c:f>'Задание 1'!$C$1:$C$2</c:f>
              <c:strCache>
                <c:ptCount val="1"/>
                <c:pt idx="0">
                  <c:v>пр-т Вернадского, 88к3</c:v>
                </c:pt>
              </c:strCache>
            </c:strRef>
          </c:tx>
          <c:spPr>
            <a:solidFill>
              <a:schemeClr val="accent2"/>
            </a:solidFill>
            <a:ln>
              <a:noFill/>
            </a:ln>
            <a:effectLst/>
          </c:spPr>
          <c:invertIfNegative val="0"/>
          <c:cat>
            <c:strRef>
              <c:f>'Задание 1'!$A$3:$A$7</c:f>
              <c:strCache>
                <c:ptCount val="4"/>
                <c:pt idx="0">
                  <c:v>01.сен</c:v>
                </c:pt>
                <c:pt idx="1">
                  <c:v>02.сен</c:v>
                </c:pt>
                <c:pt idx="2">
                  <c:v>03.сен</c:v>
                </c:pt>
                <c:pt idx="3">
                  <c:v>04.сен</c:v>
                </c:pt>
              </c:strCache>
            </c:strRef>
          </c:cat>
          <c:val>
            <c:numRef>
              <c:f>'Задание 1'!$C$3:$C$7</c:f>
              <c:numCache>
                <c:formatCode>General</c:formatCode>
                <c:ptCount val="4"/>
                <c:pt idx="0">
                  <c:v>1692</c:v>
                </c:pt>
                <c:pt idx="1">
                  <c:v>1687</c:v>
                </c:pt>
                <c:pt idx="2">
                  <c:v>1657</c:v>
                </c:pt>
                <c:pt idx="3">
                  <c:v>1593</c:v>
                </c:pt>
              </c:numCache>
            </c:numRef>
          </c:val>
          <c:extLst>
            <c:ext xmlns:c16="http://schemas.microsoft.com/office/drawing/2014/chart" uri="{C3380CC4-5D6E-409C-BE32-E72D297353CC}">
              <c16:uniqueId val="{00000001-D779-4360-AF04-F5B184E964D5}"/>
            </c:ext>
          </c:extLst>
        </c:ser>
        <c:ser>
          <c:idx val="2"/>
          <c:order val="2"/>
          <c:tx>
            <c:strRef>
              <c:f>'Задание 1'!$D$1:$D$2</c:f>
              <c:strCache>
                <c:ptCount val="1"/>
                <c:pt idx="0">
                  <c:v>Ракетный б-р, 14к1</c:v>
                </c:pt>
              </c:strCache>
            </c:strRef>
          </c:tx>
          <c:spPr>
            <a:solidFill>
              <a:schemeClr val="accent3"/>
            </a:solidFill>
            <a:ln>
              <a:noFill/>
            </a:ln>
            <a:effectLst/>
          </c:spPr>
          <c:invertIfNegative val="0"/>
          <c:cat>
            <c:strRef>
              <c:f>'Задание 1'!$A$3:$A$7</c:f>
              <c:strCache>
                <c:ptCount val="4"/>
                <c:pt idx="0">
                  <c:v>01.сен</c:v>
                </c:pt>
                <c:pt idx="1">
                  <c:v>02.сен</c:v>
                </c:pt>
                <c:pt idx="2">
                  <c:v>03.сен</c:v>
                </c:pt>
                <c:pt idx="3">
                  <c:v>04.сен</c:v>
                </c:pt>
              </c:strCache>
            </c:strRef>
          </c:cat>
          <c:val>
            <c:numRef>
              <c:f>'Задание 1'!$D$3:$D$7</c:f>
              <c:numCache>
                <c:formatCode>General</c:formatCode>
                <c:ptCount val="4"/>
                <c:pt idx="0">
                  <c:v>1408</c:v>
                </c:pt>
                <c:pt idx="1">
                  <c:v>1482</c:v>
                </c:pt>
                <c:pt idx="2">
                  <c:v>1388</c:v>
                </c:pt>
                <c:pt idx="3">
                  <c:v>1326</c:v>
                </c:pt>
              </c:numCache>
            </c:numRef>
          </c:val>
          <c:extLst>
            <c:ext xmlns:c16="http://schemas.microsoft.com/office/drawing/2014/chart" uri="{C3380CC4-5D6E-409C-BE32-E72D297353CC}">
              <c16:uniqueId val="{00000002-D779-4360-AF04-F5B184E964D5}"/>
            </c:ext>
          </c:extLst>
        </c:ser>
        <c:ser>
          <c:idx val="3"/>
          <c:order val="3"/>
          <c:tx>
            <c:strRef>
              <c:f>'Задание 1'!$E$1:$E$2</c:f>
              <c:strCache>
                <c:ptCount val="1"/>
                <c:pt idx="0">
                  <c:v>Симферопольский б-р, 22</c:v>
                </c:pt>
              </c:strCache>
            </c:strRef>
          </c:tx>
          <c:spPr>
            <a:solidFill>
              <a:schemeClr val="accent4"/>
            </a:solidFill>
            <a:ln>
              <a:noFill/>
            </a:ln>
            <a:effectLst/>
          </c:spPr>
          <c:invertIfNegative val="0"/>
          <c:cat>
            <c:strRef>
              <c:f>'Задание 1'!$A$3:$A$7</c:f>
              <c:strCache>
                <c:ptCount val="4"/>
                <c:pt idx="0">
                  <c:v>01.сен</c:v>
                </c:pt>
                <c:pt idx="1">
                  <c:v>02.сен</c:v>
                </c:pt>
                <c:pt idx="2">
                  <c:v>03.сен</c:v>
                </c:pt>
                <c:pt idx="3">
                  <c:v>04.сен</c:v>
                </c:pt>
              </c:strCache>
            </c:strRef>
          </c:cat>
          <c:val>
            <c:numRef>
              <c:f>'Задание 1'!$E$3:$E$7</c:f>
              <c:numCache>
                <c:formatCode>General</c:formatCode>
                <c:ptCount val="4"/>
                <c:pt idx="0">
                  <c:v>855</c:v>
                </c:pt>
                <c:pt idx="1">
                  <c:v>910</c:v>
                </c:pt>
                <c:pt idx="2">
                  <c:v>227</c:v>
                </c:pt>
                <c:pt idx="3">
                  <c:v>293</c:v>
                </c:pt>
              </c:numCache>
            </c:numRef>
          </c:val>
          <c:extLst>
            <c:ext xmlns:c16="http://schemas.microsoft.com/office/drawing/2014/chart" uri="{C3380CC4-5D6E-409C-BE32-E72D297353CC}">
              <c16:uniqueId val="{00000003-D779-4360-AF04-F5B184E964D5}"/>
            </c:ext>
          </c:extLst>
        </c:ser>
        <c:ser>
          <c:idx val="4"/>
          <c:order val="4"/>
          <c:tx>
            <c:strRef>
              <c:f>'Задание 1'!$F$1:$F$2</c:f>
              <c:strCache>
                <c:ptCount val="1"/>
                <c:pt idx="0">
                  <c:v>ул. Щорса, 26/3</c:v>
                </c:pt>
              </c:strCache>
            </c:strRef>
          </c:tx>
          <c:spPr>
            <a:solidFill>
              <a:schemeClr val="accent5"/>
            </a:solidFill>
            <a:ln>
              <a:noFill/>
            </a:ln>
            <a:effectLst/>
          </c:spPr>
          <c:invertIfNegative val="0"/>
          <c:cat>
            <c:strRef>
              <c:f>'Задание 1'!$A$3:$A$7</c:f>
              <c:strCache>
                <c:ptCount val="4"/>
                <c:pt idx="0">
                  <c:v>01.сен</c:v>
                </c:pt>
                <c:pt idx="1">
                  <c:v>02.сен</c:v>
                </c:pt>
                <c:pt idx="2">
                  <c:v>03.сен</c:v>
                </c:pt>
                <c:pt idx="3">
                  <c:v>04.сен</c:v>
                </c:pt>
              </c:strCache>
            </c:strRef>
          </c:cat>
          <c:val>
            <c:numRef>
              <c:f>'Задание 1'!$F$3:$F$7</c:f>
              <c:numCache>
                <c:formatCode>General</c:formatCode>
                <c:ptCount val="4"/>
                <c:pt idx="0">
                  <c:v>1119</c:v>
                </c:pt>
                <c:pt idx="1">
                  <c:v>1070</c:v>
                </c:pt>
                <c:pt idx="2">
                  <c:v>1079</c:v>
                </c:pt>
                <c:pt idx="3">
                  <c:v>1036</c:v>
                </c:pt>
              </c:numCache>
            </c:numRef>
          </c:val>
          <c:extLst>
            <c:ext xmlns:c16="http://schemas.microsoft.com/office/drawing/2014/chart" uri="{C3380CC4-5D6E-409C-BE32-E72D297353CC}">
              <c16:uniqueId val="{00000004-D779-4360-AF04-F5B184E964D5}"/>
            </c:ext>
          </c:extLst>
        </c:ser>
        <c:ser>
          <c:idx val="5"/>
          <c:order val="5"/>
          <c:tx>
            <c:strRef>
              <c:f>'Задание 1'!$G$1:$G$2</c:f>
              <c:strCache>
                <c:ptCount val="1"/>
                <c:pt idx="0">
                  <c:v>ул. Чертановская,  20к2</c:v>
                </c:pt>
              </c:strCache>
            </c:strRef>
          </c:tx>
          <c:spPr>
            <a:solidFill>
              <a:schemeClr val="accent6"/>
            </a:solidFill>
            <a:ln>
              <a:noFill/>
            </a:ln>
            <a:effectLst/>
          </c:spPr>
          <c:invertIfNegative val="0"/>
          <c:cat>
            <c:strRef>
              <c:f>'Задание 1'!$A$3:$A$7</c:f>
              <c:strCache>
                <c:ptCount val="4"/>
                <c:pt idx="0">
                  <c:v>01.сен</c:v>
                </c:pt>
                <c:pt idx="1">
                  <c:v>02.сен</c:v>
                </c:pt>
                <c:pt idx="2">
                  <c:v>03.сен</c:v>
                </c:pt>
                <c:pt idx="3">
                  <c:v>04.сен</c:v>
                </c:pt>
              </c:strCache>
            </c:strRef>
          </c:cat>
          <c:val>
            <c:numRef>
              <c:f>'Задание 1'!$G$3:$G$7</c:f>
              <c:numCache>
                <c:formatCode>General</c:formatCode>
                <c:ptCount val="4"/>
                <c:pt idx="2">
                  <c:v>1823</c:v>
                </c:pt>
                <c:pt idx="3">
                  <c:v>3172</c:v>
                </c:pt>
              </c:numCache>
            </c:numRef>
          </c:val>
          <c:extLst>
            <c:ext xmlns:c16="http://schemas.microsoft.com/office/drawing/2014/chart" uri="{C3380CC4-5D6E-409C-BE32-E72D297353CC}">
              <c16:uniqueId val="{00000005-D779-4360-AF04-F5B184E964D5}"/>
            </c:ext>
          </c:extLst>
        </c:ser>
        <c:dLbls>
          <c:showLegendKey val="0"/>
          <c:showVal val="0"/>
          <c:showCatName val="0"/>
          <c:showSerName val="0"/>
          <c:showPercent val="0"/>
          <c:showBubbleSize val="0"/>
        </c:dLbls>
        <c:gapWidth val="150"/>
        <c:overlap val="100"/>
        <c:axId val="1367948223"/>
        <c:axId val="1069568783"/>
      </c:barChart>
      <c:catAx>
        <c:axId val="1367948223"/>
        <c:scaling>
          <c:orientation val="minMax"/>
        </c:scaling>
        <c:delete val="0"/>
        <c:axPos val="b"/>
        <c:title>
          <c:tx>
            <c:rich>
              <a:bodyPr rot="0" spcFirstLastPara="1" vertOverflow="ellipsis" vert="horz" wrap="square" anchor="ctr" anchorCtr="1"/>
              <a:lstStyle/>
              <a:p>
                <a:pPr marL="0" marR="0" lvl="0" indent="0" algn="ctr" defTabSz="914400" rtl="0" eaLnBrk="1" fontAlgn="auto" latinLnBrk="0" hangingPunct="1">
                  <a:lnSpc>
                    <a:spcPct val="100000"/>
                  </a:lnSpc>
                  <a:spcBef>
                    <a:spcPts val="0"/>
                  </a:spcBef>
                  <a:spcAft>
                    <a:spcPts val="0"/>
                  </a:spcAft>
                  <a:buClrTx/>
                  <a:buSzTx/>
                  <a:buFontTx/>
                  <a:buNone/>
                  <a:tabLst/>
                  <a:defRPr lang="en-US" sz="1200" b="0" i="0" u="none" strike="noStrike" kern="1200" baseline="0" smtClean="0">
                    <a:solidFill>
                      <a:sysClr val="windowText" lastClr="000000"/>
                    </a:solidFill>
                    <a:latin typeface="+mn-lt"/>
                    <a:ea typeface="+mn-ea"/>
                    <a:cs typeface="+mn-cs"/>
                  </a:defRPr>
                </a:pPr>
                <a:r>
                  <a:rPr lang="en-US" sz="1200" b="0" i="0" u="none" strike="noStrike" kern="1200" baseline="0">
                    <a:solidFill>
                      <a:sysClr val="windowText" lastClr="000000"/>
                    </a:solidFill>
                  </a:rPr>
                  <a:t>Date</a:t>
                </a:r>
              </a:p>
            </c:rich>
          </c:tx>
          <c:layout>
            <c:manualLayout>
              <c:xMode val="edge"/>
              <c:yMode val="edge"/>
              <c:x val="0.45212428482410921"/>
              <c:y val="0.92565837476868562"/>
            </c:manualLayout>
          </c:layout>
          <c:overlay val="0"/>
          <c:spPr>
            <a:noFill/>
            <a:ln>
              <a:noFill/>
            </a:ln>
            <a:effectLst/>
          </c:spPr>
          <c:txPr>
            <a:bodyPr rot="0" spcFirstLastPara="1" vertOverflow="ellipsis" vert="horz" wrap="square" anchor="ctr" anchorCtr="1"/>
            <a:lstStyle/>
            <a:p>
              <a:pPr marL="0" marR="0" lvl="0" indent="0" algn="ctr" defTabSz="914400" rtl="0" eaLnBrk="1" fontAlgn="auto" latinLnBrk="0" hangingPunct="1">
                <a:lnSpc>
                  <a:spcPct val="100000"/>
                </a:lnSpc>
                <a:spcBef>
                  <a:spcPts val="0"/>
                </a:spcBef>
                <a:spcAft>
                  <a:spcPts val="0"/>
                </a:spcAft>
                <a:buClrTx/>
                <a:buSzTx/>
                <a:buFontTx/>
                <a:buNone/>
                <a:tabLst/>
                <a:defRPr lang="en-US" sz="1200" b="0" i="0" u="none" strike="noStrike" kern="1200" baseline="0" smtClean="0">
                  <a:solidFill>
                    <a:sysClr val="windowText" lastClr="000000"/>
                  </a:solidFill>
                  <a:latin typeface="+mn-lt"/>
                  <a:ea typeface="+mn-ea"/>
                  <a:cs typeface="+mn-cs"/>
                </a:defRPr>
              </a:pPr>
              <a:endParaRPr lang="ru-RU"/>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ru-RU"/>
          </a:p>
        </c:txPr>
        <c:crossAx val="1069568783"/>
        <c:crosses val="autoZero"/>
        <c:auto val="1"/>
        <c:lblAlgn val="ctr"/>
        <c:lblOffset val="100"/>
        <c:noMultiLvlLbl val="0"/>
      </c:catAx>
      <c:valAx>
        <c:axId val="1069568783"/>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lang="en-US" sz="1200" b="0" i="0" u="none" strike="noStrike" kern="1200" baseline="0" smtClean="0">
                    <a:solidFill>
                      <a:schemeClr val="tx1"/>
                    </a:solidFill>
                    <a:latin typeface="+mn-lt"/>
                    <a:ea typeface="+mn-ea"/>
                    <a:cs typeface="+mn-cs"/>
                  </a:defRPr>
                </a:pPr>
                <a:r>
                  <a:rPr lang="en-US" sz="1200" b="0" i="0" u="none" strike="noStrike" kern="1200" baseline="0">
                    <a:solidFill>
                      <a:schemeClr val="tx1"/>
                    </a:solidFill>
                  </a:rPr>
                  <a:t>Number of transactions by points</a:t>
                </a:r>
              </a:p>
            </c:rich>
          </c:tx>
          <c:layout>
            <c:manualLayout>
              <c:xMode val="edge"/>
              <c:yMode val="edge"/>
              <c:x val="2.9987827608505463E-2"/>
              <c:y val="0.28058205694114829"/>
            </c:manualLayout>
          </c:layout>
          <c:overlay val="0"/>
          <c:spPr>
            <a:noFill/>
            <a:ln>
              <a:noFill/>
            </a:ln>
            <a:effectLst/>
          </c:spPr>
          <c:txPr>
            <a:bodyPr rot="-5400000" spcFirstLastPara="1" vertOverflow="ellipsis" vert="horz" wrap="square" anchor="ctr" anchorCtr="1"/>
            <a:lstStyle/>
            <a:p>
              <a:pPr>
                <a:defRPr lang="en-US" sz="1200" b="0" i="0" u="none" strike="noStrike" kern="1200" baseline="0" smtClean="0">
                  <a:solidFill>
                    <a:schemeClr val="tx1"/>
                  </a:solidFill>
                  <a:latin typeface="+mn-lt"/>
                  <a:ea typeface="+mn-ea"/>
                  <a:cs typeface="+mn-cs"/>
                </a:defRPr>
              </a:pPr>
              <a:endParaRPr lang="ru-RU"/>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ru-RU"/>
          </a:p>
        </c:txPr>
        <c:crossAx val="1367948223"/>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ru-RU"/>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ru-RU"/>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pivotOptions>
    </c:ext>
    <c:ext xmlns:c16="http://schemas.microsoft.com/office/drawing/2014/chart" uri="{E28EC0CA-F0BB-4C9C-879D-F8772B89E7AC}">
      <c16:pivotOptions16>
        <c16:showExpandCollapseFieldButtons val="1"/>
      </c16:pivotOptions16>
    </c:ext>
  </c:extLst>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pivotSource>
    <c:name>[07 19_45_4866b3ceec4682e5.52044134Задание1_Асмандияров_Раиль.xlsx]Задание 1!Сводная таблица1</c:name>
    <c:fmtId val="18"/>
  </c:pivotSource>
  <c:chart>
    <c:autoTitleDeleted val="1"/>
    <c:pivotFmts>
      <c:pivotFmt>
        <c:idx val="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ru-RU"/>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ru-RU"/>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ru-RU"/>
            </a:p>
          </c:txPr>
          <c:showLegendKey val="0"/>
          <c:showVal val="0"/>
          <c:showCatName val="0"/>
          <c:showSerName val="0"/>
          <c:showPercent val="0"/>
          <c:showBubbleSize val="0"/>
          <c:extLst>
            <c:ext xmlns:c15="http://schemas.microsoft.com/office/drawing/2012/chart" uri="{CE6537A1-D6FC-4f65-9D91-7224C49458BB}"/>
          </c:extLst>
        </c:dLbl>
      </c:pivotFmt>
      <c:pivotFmt>
        <c:idx val="3"/>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ru-RU"/>
            </a:p>
          </c:txPr>
          <c:showLegendKey val="0"/>
          <c:showVal val="0"/>
          <c:showCatName val="0"/>
          <c:showSerName val="0"/>
          <c:showPercent val="0"/>
          <c:showBubbleSize val="0"/>
          <c:extLst>
            <c:ext xmlns:c15="http://schemas.microsoft.com/office/drawing/2012/chart" uri="{CE6537A1-D6FC-4f65-9D91-7224C49458BB}"/>
          </c:extLst>
        </c:dLbl>
      </c:pivotFmt>
      <c:pivotFmt>
        <c:idx val="4"/>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ru-RU"/>
            </a:p>
          </c:txPr>
          <c:showLegendKey val="0"/>
          <c:showVal val="0"/>
          <c:showCatName val="0"/>
          <c:showSerName val="0"/>
          <c:showPercent val="0"/>
          <c:showBubbleSize val="0"/>
          <c:extLst>
            <c:ext xmlns:c15="http://schemas.microsoft.com/office/drawing/2012/chart" uri="{CE6537A1-D6FC-4f65-9D91-7224C49458BB}"/>
          </c:extLst>
        </c:dLbl>
      </c:pivotFmt>
      <c:pivotFmt>
        <c:idx val="5"/>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ru-RU"/>
            </a:p>
          </c:txPr>
          <c:showLegendKey val="0"/>
          <c:showVal val="0"/>
          <c:showCatName val="0"/>
          <c:showSerName val="0"/>
          <c:showPercent val="0"/>
          <c:showBubbleSize val="0"/>
          <c:extLst>
            <c:ext xmlns:c15="http://schemas.microsoft.com/office/drawing/2012/chart" uri="{CE6537A1-D6FC-4f65-9D91-7224C49458BB}"/>
          </c:extLst>
        </c:dLbl>
      </c:pivotFmt>
      <c:pivotFmt>
        <c:idx val="6"/>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ru-RU"/>
            </a:p>
          </c:txPr>
          <c:showLegendKey val="0"/>
          <c:showVal val="0"/>
          <c:showCatName val="0"/>
          <c:showSerName val="0"/>
          <c:showPercent val="0"/>
          <c:showBubbleSize val="0"/>
          <c:extLst>
            <c:ext xmlns:c15="http://schemas.microsoft.com/office/drawing/2012/chart" uri="{CE6537A1-D6FC-4f65-9D91-7224C49458BB}"/>
          </c:extLst>
        </c:dLbl>
      </c:pivotFmt>
      <c:pivotFmt>
        <c:idx val="7"/>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ru-RU"/>
            </a:p>
          </c:txPr>
          <c:showLegendKey val="0"/>
          <c:showVal val="0"/>
          <c:showCatName val="0"/>
          <c:showSerName val="0"/>
          <c:showPercent val="0"/>
          <c:showBubbleSize val="0"/>
          <c:extLst>
            <c:ext xmlns:c15="http://schemas.microsoft.com/office/drawing/2012/chart" uri="{CE6537A1-D6FC-4f65-9D91-7224C49458BB}"/>
          </c:extLst>
        </c:dLbl>
      </c:pivotFmt>
      <c:pivotFmt>
        <c:idx val="8"/>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ru-RU"/>
            </a:p>
          </c:txPr>
          <c:showLegendKey val="0"/>
          <c:showVal val="0"/>
          <c:showCatName val="0"/>
          <c:showSerName val="0"/>
          <c:showPercent val="0"/>
          <c:showBubbleSize val="0"/>
          <c:extLst>
            <c:ext xmlns:c15="http://schemas.microsoft.com/office/drawing/2012/chart" uri="{CE6537A1-D6FC-4f65-9D91-7224C49458BB}"/>
          </c:extLst>
        </c:dLbl>
      </c:pivotFmt>
      <c:pivotFmt>
        <c:idx val="9"/>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ru-RU"/>
            </a:p>
          </c:txPr>
          <c:showLegendKey val="0"/>
          <c:showVal val="0"/>
          <c:showCatName val="0"/>
          <c:showSerName val="0"/>
          <c:showPercent val="0"/>
          <c:showBubbleSize val="0"/>
          <c:extLst>
            <c:ext xmlns:c15="http://schemas.microsoft.com/office/drawing/2012/chart" uri="{CE6537A1-D6FC-4f65-9D91-7224C49458BB}"/>
          </c:extLst>
        </c:dLbl>
      </c:pivotFmt>
      <c:pivotFmt>
        <c:idx val="1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ru-RU"/>
            </a:p>
          </c:txPr>
          <c:showLegendKey val="0"/>
          <c:showVal val="0"/>
          <c:showCatName val="0"/>
          <c:showSerName val="0"/>
          <c:showPercent val="0"/>
          <c:showBubbleSize val="0"/>
          <c:extLst>
            <c:ext xmlns:c15="http://schemas.microsoft.com/office/drawing/2012/chart" uri="{CE6537A1-D6FC-4f65-9D91-7224C49458BB}"/>
          </c:extLst>
        </c:dLbl>
      </c:pivotFmt>
      <c:pivotFmt>
        <c:idx val="1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ru-RU"/>
            </a:p>
          </c:txPr>
          <c:showLegendKey val="0"/>
          <c:showVal val="0"/>
          <c:showCatName val="0"/>
          <c:showSerName val="0"/>
          <c:showPercent val="0"/>
          <c:showBubbleSize val="0"/>
          <c:extLst>
            <c:ext xmlns:c15="http://schemas.microsoft.com/office/drawing/2012/chart" uri="{CE6537A1-D6FC-4f65-9D91-7224C49458BB}"/>
          </c:extLst>
        </c:dLbl>
      </c:pivotFmt>
      <c:pivotFmt>
        <c:idx val="1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ru-RU"/>
            </a:p>
          </c:txPr>
          <c:showLegendKey val="0"/>
          <c:showVal val="0"/>
          <c:showCatName val="0"/>
          <c:showSerName val="0"/>
          <c:showPercent val="0"/>
          <c:showBubbleSize val="0"/>
          <c:extLst>
            <c:ext xmlns:c15="http://schemas.microsoft.com/office/drawing/2012/chart" uri="{CE6537A1-D6FC-4f65-9D91-7224C49458BB}"/>
          </c:extLst>
        </c:dLbl>
      </c:pivotFmt>
      <c:pivotFmt>
        <c:idx val="13"/>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ru-RU"/>
            </a:p>
          </c:txPr>
          <c:showLegendKey val="0"/>
          <c:showVal val="0"/>
          <c:showCatName val="0"/>
          <c:showSerName val="0"/>
          <c:showPercent val="0"/>
          <c:showBubbleSize val="0"/>
          <c:extLst>
            <c:ext xmlns:c15="http://schemas.microsoft.com/office/drawing/2012/chart" uri="{CE6537A1-D6FC-4f65-9D91-7224C49458BB}"/>
          </c:extLst>
        </c:dLbl>
      </c:pivotFmt>
      <c:pivotFmt>
        <c:idx val="14"/>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ru-RU"/>
            </a:p>
          </c:txPr>
          <c:showLegendKey val="0"/>
          <c:showVal val="0"/>
          <c:showCatName val="0"/>
          <c:showSerName val="0"/>
          <c:showPercent val="0"/>
          <c:showBubbleSize val="0"/>
          <c:extLst>
            <c:ext xmlns:c15="http://schemas.microsoft.com/office/drawing/2012/chart" uri="{CE6537A1-D6FC-4f65-9D91-7224C49458BB}"/>
          </c:extLst>
        </c:dLbl>
      </c:pivotFmt>
      <c:pivotFmt>
        <c:idx val="15"/>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ru-RU"/>
            </a:p>
          </c:txPr>
          <c:showLegendKey val="0"/>
          <c:showVal val="0"/>
          <c:showCatName val="0"/>
          <c:showSerName val="0"/>
          <c:showPercent val="0"/>
          <c:showBubbleSize val="0"/>
          <c:extLst>
            <c:ext xmlns:c15="http://schemas.microsoft.com/office/drawing/2012/chart" uri="{CE6537A1-D6FC-4f65-9D91-7224C49458BB}"/>
          </c:extLst>
        </c:dLbl>
      </c:pivotFmt>
      <c:pivotFmt>
        <c:idx val="16"/>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ru-RU"/>
            </a:p>
          </c:txPr>
          <c:showLegendKey val="0"/>
          <c:showVal val="0"/>
          <c:showCatName val="0"/>
          <c:showSerName val="0"/>
          <c:showPercent val="0"/>
          <c:showBubbleSize val="0"/>
          <c:extLst>
            <c:ext xmlns:c15="http://schemas.microsoft.com/office/drawing/2012/chart" uri="{CE6537A1-D6FC-4f65-9D91-7224C49458BB}"/>
          </c:extLst>
        </c:dLbl>
      </c:pivotFmt>
      <c:pivotFmt>
        <c:idx val="17"/>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ru-RU"/>
            </a:p>
          </c:txPr>
          <c:showLegendKey val="0"/>
          <c:showVal val="0"/>
          <c:showCatName val="0"/>
          <c:showSerName val="0"/>
          <c:showPercent val="0"/>
          <c:showBubbleSize val="0"/>
          <c:extLst>
            <c:ext xmlns:c15="http://schemas.microsoft.com/office/drawing/2012/chart" uri="{CE6537A1-D6FC-4f65-9D91-7224C49458BB}"/>
          </c:extLst>
        </c:dLbl>
      </c:pivotFmt>
    </c:pivotFmts>
    <c:plotArea>
      <c:layout/>
      <c:barChart>
        <c:barDir val="col"/>
        <c:grouping val="percentStacked"/>
        <c:varyColors val="0"/>
        <c:ser>
          <c:idx val="0"/>
          <c:order val="0"/>
          <c:tx>
            <c:strRef>
              <c:f>'Задание 1'!$B$1:$B$2</c:f>
              <c:strCache>
                <c:ptCount val="1"/>
                <c:pt idx="0">
                  <c:v>Ленинский пр-т, 162/1</c:v>
                </c:pt>
              </c:strCache>
            </c:strRef>
          </c:tx>
          <c:spPr>
            <a:solidFill>
              <a:schemeClr val="accent1"/>
            </a:solidFill>
            <a:ln>
              <a:noFill/>
            </a:ln>
            <a:effectLst/>
          </c:spPr>
          <c:invertIfNegative val="0"/>
          <c:cat>
            <c:strRef>
              <c:f>'Задание 1'!$A$3:$A$7</c:f>
              <c:strCache>
                <c:ptCount val="4"/>
                <c:pt idx="0">
                  <c:v>01.сен</c:v>
                </c:pt>
                <c:pt idx="1">
                  <c:v>02.сен</c:v>
                </c:pt>
                <c:pt idx="2">
                  <c:v>03.сен</c:v>
                </c:pt>
                <c:pt idx="3">
                  <c:v>04.сен</c:v>
                </c:pt>
              </c:strCache>
            </c:strRef>
          </c:cat>
          <c:val>
            <c:numRef>
              <c:f>'Задание 1'!$B$3:$B$7</c:f>
              <c:numCache>
                <c:formatCode>General</c:formatCode>
                <c:ptCount val="4"/>
                <c:pt idx="0">
                  <c:v>2775</c:v>
                </c:pt>
                <c:pt idx="1">
                  <c:v>2798</c:v>
                </c:pt>
                <c:pt idx="2">
                  <c:v>2615</c:v>
                </c:pt>
                <c:pt idx="3">
                  <c:v>2655</c:v>
                </c:pt>
              </c:numCache>
            </c:numRef>
          </c:val>
          <c:extLst>
            <c:ext xmlns:c16="http://schemas.microsoft.com/office/drawing/2014/chart" uri="{C3380CC4-5D6E-409C-BE32-E72D297353CC}">
              <c16:uniqueId val="{00000000-FBCE-42C3-8389-0A98480C877A}"/>
            </c:ext>
          </c:extLst>
        </c:ser>
        <c:ser>
          <c:idx val="1"/>
          <c:order val="1"/>
          <c:tx>
            <c:strRef>
              <c:f>'Задание 1'!$C$1:$C$2</c:f>
              <c:strCache>
                <c:ptCount val="1"/>
                <c:pt idx="0">
                  <c:v>пр-т Вернадского, 88к3</c:v>
                </c:pt>
              </c:strCache>
            </c:strRef>
          </c:tx>
          <c:spPr>
            <a:solidFill>
              <a:schemeClr val="accent2"/>
            </a:solidFill>
            <a:ln>
              <a:noFill/>
            </a:ln>
            <a:effectLst/>
          </c:spPr>
          <c:invertIfNegative val="0"/>
          <c:cat>
            <c:strRef>
              <c:f>'Задание 1'!$A$3:$A$7</c:f>
              <c:strCache>
                <c:ptCount val="4"/>
                <c:pt idx="0">
                  <c:v>01.сен</c:v>
                </c:pt>
                <c:pt idx="1">
                  <c:v>02.сен</c:v>
                </c:pt>
                <c:pt idx="2">
                  <c:v>03.сен</c:v>
                </c:pt>
                <c:pt idx="3">
                  <c:v>04.сен</c:v>
                </c:pt>
              </c:strCache>
            </c:strRef>
          </c:cat>
          <c:val>
            <c:numRef>
              <c:f>'Задание 1'!$C$3:$C$7</c:f>
              <c:numCache>
                <c:formatCode>General</c:formatCode>
                <c:ptCount val="4"/>
                <c:pt idx="0">
                  <c:v>1692</c:v>
                </c:pt>
                <c:pt idx="1">
                  <c:v>1687</c:v>
                </c:pt>
                <c:pt idx="2">
                  <c:v>1657</c:v>
                </c:pt>
                <c:pt idx="3">
                  <c:v>1593</c:v>
                </c:pt>
              </c:numCache>
            </c:numRef>
          </c:val>
          <c:extLst>
            <c:ext xmlns:c16="http://schemas.microsoft.com/office/drawing/2014/chart" uri="{C3380CC4-5D6E-409C-BE32-E72D297353CC}">
              <c16:uniqueId val="{00000001-FBCE-42C3-8389-0A98480C877A}"/>
            </c:ext>
          </c:extLst>
        </c:ser>
        <c:ser>
          <c:idx val="2"/>
          <c:order val="2"/>
          <c:tx>
            <c:strRef>
              <c:f>'Задание 1'!$D$1:$D$2</c:f>
              <c:strCache>
                <c:ptCount val="1"/>
                <c:pt idx="0">
                  <c:v>Ракетный б-р, 14к1</c:v>
                </c:pt>
              </c:strCache>
            </c:strRef>
          </c:tx>
          <c:spPr>
            <a:solidFill>
              <a:schemeClr val="accent3"/>
            </a:solidFill>
            <a:ln>
              <a:noFill/>
            </a:ln>
            <a:effectLst/>
          </c:spPr>
          <c:invertIfNegative val="0"/>
          <c:cat>
            <c:strRef>
              <c:f>'Задание 1'!$A$3:$A$7</c:f>
              <c:strCache>
                <c:ptCount val="4"/>
                <c:pt idx="0">
                  <c:v>01.сен</c:v>
                </c:pt>
                <c:pt idx="1">
                  <c:v>02.сен</c:v>
                </c:pt>
                <c:pt idx="2">
                  <c:v>03.сен</c:v>
                </c:pt>
                <c:pt idx="3">
                  <c:v>04.сен</c:v>
                </c:pt>
              </c:strCache>
            </c:strRef>
          </c:cat>
          <c:val>
            <c:numRef>
              <c:f>'Задание 1'!$D$3:$D$7</c:f>
              <c:numCache>
                <c:formatCode>General</c:formatCode>
                <c:ptCount val="4"/>
                <c:pt idx="0">
                  <c:v>1408</c:v>
                </c:pt>
                <c:pt idx="1">
                  <c:v>1482</c:v>
                </c:pt>
                <c:pt idx="2">
                  <c:v>1388</c:v>
                </c:pt>
                <c:pt idx="3">
                  <c:v>1326</c:v>
                </c:pt>
              </c:numCache>
            </c:numRef>
          </c:val>
          <c:extLst>
            <c:ext xmlns:c16="http://schemas.microsoft.com/office/drawing/2014/chart" uri="{C3380CC4-5D6E-409C-BE32-E72D297353CC}">
              <c16:uniqueId val="{00000002-FBCE-42C3-8389-0A98480C877A}"/>
            </c:ext>
          </c:extLst>
        </c:ser>
        <c:ser>
          <c:idx val="3"/>
          <c:order val="3"/>
          <c:tx>
            <c:strRef>
              <c:f>'Задание 1'!$E$1:$E$2</c:f>
              <c:strCache>
                <c:ptCount val="1"/>
                <c:pt idx="0">
                  <c:v>Симферопольский б-р, 22</c:v>
                </c:pt>
              </c:strCache>
            </c:strRef>
          </c:tx>
          <c:spPr>
            <a:solidFill>
              <a:schemeClr val="accent4"/>
            </a:solidFill>
            <a:ln>
              <a:noFill/>
            </a:ln>
            <a:effectLst/>
          </c:spPr>
          <c:invertIfNegative val="0"/>
          <c:cat>
            <c:strRef>
              <c:f>'Задание 1'!$A$3:$A$7</c:f>
              <c:strCache>
                <c:ptCount val="4"/>
                <c:pt idx="0">
                  <c:v>01.сен</c:v>
                </c:pt>
                <c:pt idx="1">
                  <c:v>02.сен</c:v>
                </c:pt>
                <c:pt idx="2">
                  <c:v>03.сен</c:v>
                </c:pt>
                <c:pt idx="3">
                  <c:v>04.сен</c:v>
                </c:pt>
              </c:strCache>
            </c:strRef>
          </c:cat>
          <c:val>
            <c:numRef>
              <c:f>'Задание 1'!$E$3:$E$7</c:f>
              <c:numCache>
                <c:formatCode>General</c:formatCode>
                <c:ptCount val="4"/>
                <c:pt idx="0">
                  <c:v>855</c:v>
                </c:pt>
                <c:pt idx="1">
                  <c:v>910</c:v>
                </c:pt>
                <c:pt idx="2">
                  <c:v>227</c:v>
                </c:pt>
                <c:pt idx="3">
                  <c:v>293</c:v>
                </c:pt>
              </c:numCache>
            </c:numRef>
          </c:val>
          <c:extLst>
            <c:ext xmlns:c16="http://schemas.microsoft.com/office/drawing/2014/chart" uri="{C3380CC4-5D6E-409C-BE32-E72D297353CC}">
              <c16:uniqueId val="{00000003-FBCE-42C3-8389-0A98480C877A}"/>
            </c:ext>
          </c:extLst>
        </c:ser>
        <c:ser>
          <c:idx val="4"/>
          <c:order val="4"/>
          <c:tx>
            <c:strRef>
              <c:f>'Задание 1'!$F$1:$F$2</c:f>
              <c:strCache>
                <c:ptCount val="1"/>
                <c:pt idx="0">
                  <c:v>ул. Щорса, 26/3</c:v>
                </c:pt>
              </c:strCache>
            </c:strRef>
          </c:tx>
          <c:spPr>
            <a:solidFill>
              <a:schemeClr val="accent5"/>
            </a:solidFill>
            <a:ln>
              <a:noFill/>
            </a:ln>
            <a:effectLst/>
          </c:spPr>
          <c:invertIfNegative val="0"/>
          <c:cat>
            <c:strRef>
              <c:f>'Задание 1'!$A$3:$A$7</c:f>
              <c:strCache>
                <c:ptCount val="4"/>
                <c:pt idx="0">
                  <c:v>01.сен</c:v>
                </c:pt>
                <c:pt idx="1">
                  <c:v>02.сен</c:v>
                </c:pt>
                <c:pt idx="2">
                  <c:v>03.сен</c:v>
                </c:pt>
                <c:pt idx="3">
                  <c:v>04.сен</c:v>
                </c:pt>
              </c:strCache>
            </c:strRef>
          </c:cat>
          <c:val>
            <c:numRef>
              <c:f>'Задание 1'!$F$3:$F$7</c:f>
              <c:numCache>
                <c:formatCode>General</c:formatCode>
                <c:ptCount val="4"/>
                <c:pt idx="0">
                  <c:v>1119</c:v>
                </c:pt>
                <c:pt idx="1">
                  <c:v>1070</c:v>
                </c:pt>
                <c:pt idx="2">
                  <c:v>1079</c:v>
                </c:pt>
                <c:pt idx="3">
                  <c:v>1036</c:v>
                </c:pt>
              </c:numCache>
            </c:numRef>
          </c:val>
          <c:extLst>
            <c:ext xmlns:c16="http://schemas.microsoft.com/office/drawing/2014/chart" uri="{C3380CC4-5D6E-409C-BE32-E72D297353CC}">
              <c16:uniqueId val="{00000004-FBCE-42C3-8389-0A98480C877A}"/>
            </c:ext>
          </c:extLst>
        </c:ser>
        <c:ser>
          <c:idx val="5"/>
          <c:order val="5"/>
          <c:tx>
            <c:strRef>
              <c:f>'Задание 1'!$G$1:$G$2</c:f>
              <c:strCache>
                <c:ptCount val="1"/>
                <c:pt idx="0">
                  <c:v>ул. Чертановская,  20к2</c:v>
                </c:pt>
              </c:strCache>
            </c:strRef>
          </c:tx>
          <c:spPr>
            <a:solidFill>
              <a:schemeClr val="accent6"/>
            </a:solidFill>
            <a:ln>
              <a:noFill/>
            </a:ln>
            <a:effectLst/>
          </c:spPr>
          <c:invertIfNegative val="0"/>
          <c:cat>
            <c:strRef>
              <c:f>'Задание 1'!$A$3:$A$7</c:f>
              <c:strCache>
                <c:ptCount val="4"/>
                <c:pt idx="0">
                  <c:v>01.сен</c:v>
                </c:pt>
                <c:pt idx="1">
                  <c:v>02.сен</c:v>
                </c:pt>
                <c:pt idx="2">
                  <c:v>03.сен</c:v>
                </c:pt>
                <c:pt idx="3">
                  <c:v>04.сен</c:v>
                </c:pt>
              </c:strCache>
            </c:strRef>
          </c:cat>
          <c:val>
            <c:numRef>
              <c:f>'Задание 1'!$G$3:$G$7</c:f>
              <c:numCache>
                <c:formatCode>General</c:formatCode>
                <c:ptCount val="4"/>
                <c:pt idx="2">
                  <c:v>1823</c:v>
                </c:pt>
                <c:pt idx="3">
                  <c:v>3172</c:v>
                </c:pt>
              </c:numCache>
            </c:numRef>
          </c:val>
          <c:extLst>
            <c:ext xmlns:c16="http://schemas.microsoft.com/office/drawing/2014/chart" uri="{C3380CC4-5D6E-409C-BE32-E72D297353CC}">
              <c16:uniqueId val="{00000005-FBCE-42C3-8389-0A98480C877A}"/>
            </c:ext>
          </c:extLst>
        </c:ser>
        <c:dLbls>
          <c:showLegendKey val="0"/>
          <c:showVal val="0"/>
          <c:showCatName val="0"/>
          <c:showSerName val="0"/>
          <c:showPercent val="0"/>
          <c:showBubbleSize val="0"/>
        </c:dLbls>
        <c:gapWidth val="150"/>
        <c:overlap val="100"/>
        <c:axId val="1489034223"/>
        <c:axId val="1489041423"/>
      </c:barChart>
      <c:catAx>
        <c:axId val="1489034223"/>
        <c:scaling>
          <c:orientation val="minMax"/>
        </c:scaling>
        <c:delete val="0"/>
        <c:axPos val="b"/>
        <c:title>
          <c:tx>
            <c:rich>
              <a:bodyPr rot="0" spcFirstLastPara="1" vertOverflow="ellipsis" vert="horz" wrap="square" anchor="ctr" anchorCtr="1"/>
              <a:lstStyle/>
              <a:p>
                <a:pPr>
                  <a:defRPr lang="en-US" sz="1200" b="0" i="0" u="none" strike="noStrike" kern="1200" baseline="0" smtClean="0">
                    <a:solidFill>
                      <a:sysClr val="windowText" lastClr="000000"/>
                    </a:solidFill>
                    <a:latin typeface="+mn-lt"/>
                    <a:ea typeface="+mn-ea"/>
                    <a:cs typeface="+mn-cs"/>
                  </a:defRPr>
                </a:pPr>
                <a:r>
                  <a:rPr lang="en-US" sz="1200" b="0" i="0" u="none" strike="noStrike" kern="1200" baseline="0">
                    <a:solidFill>
                      <a:sysClr val="windowText" lastClr="000000"/>
                    </a:solidFill>
                  </a:rPr>
                  <a:t>Date</a:t>
                </a:r>
              </a:p>
            </c:rich>
          </c:tx>
          <c:overlay val="0"/>
          <c:spPr>
            <a:noFill/>
            <a:ln>
              <a:noFill/>
            </a:ln>
            <a:effectLst/>
          </c:spPr>
          <c:txPr>
            <a:bodyPr rot="0" spcFirstLastPara="1" vertOverflow="ellipsis" vert="horz" wrap="square" anchor="ctr" anchorCtr="1"/>
            <a:lstStyle/>
            <a:p>
              <a:pPr>
                <a:defRPr lang="en-US" sz="1200" b="0" i="0" u="none" strike="noStrike" kern="1200" baseline="0" smtClean="0">
                  <a:solidFill>
                    <a:sysClr val="windowText" lastClr="000000"/>
                  </a:solidFill>
                  <a:latin typeface="+mn-lt"/>
                  <a:ea typeface="+mn-ea"/>
                  <a:cs typeface="+mn-cs"/>
                </a:defRPr>
              </a:pPr>
              <a:endParaRPr lang="ru-RU"/>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ru-RU"/>
          </a:p>
        </c:txPr>
        <c:crossAx val="1489041423"/>
        <c:crosses val="autoZero"/>
        <c:auto val="1"/>
        <c:lblAlgn val="ctr"/>
        <c:lblOffset val="100"/>
        <c:noMultiLvlLbl val="0"/>
      </c:catAx>
      <c:valAx>
        <c:axId val="1489041423"/>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marL="0" marR="0" lvl="0" indent="0" algn="ctr" defTabSz="914400" rtl="0" eaLnBrk="1" fontAlgn="auto" latinLnBrk="0" hangingPunct="1">
                  <a:lnSpc>
                    <a:spcPct val="100000"/>
                  </a:lnSpc>
                  <a:spcBef>
                    <a:spcPts val="0"/>
                  </a:spcBef>
                  <a:spcAft>
                    <a:spcPts val="0"/>
                  </a:spcAft>
                  <a:buClrTx/>
                  <a:buSzTx/>
                  <a:buFontTx/>
                  <a:buNone/>
                  <a:tabLst/>
                  <a:defRPr lang="en-US" sz="1200" b="0" i="0" u="none" strike="noStrike" kern="1200" baseline="0" smtClean="0">
                    <a:solidFill>
                      <a:schemeClr val="tx1"/>
                    </a:solidFill>
                    <a:latin typeface="+mn-lt"/>
                    <a:ea typeface="+mn-ea"/>
                    <a:cs typeface="+mn-cs"/>
                  </a:defRPr>
                </a:pPr>
                <a:r>
                  <a:rPr lang="en-US" sz="1200">
                    <a:solidFill>
                      <a:schemeClr val="tx1"/>
                    </a:solidFill>
                  </a:rPr>
                  <a:t>% transactions by point</a:t>
                </a:r>
                <a:endParaRPr lang="en-US" sz="1200" b="0" i="0" u="none" strike="noStrike" kern="1200" baseline="0">
                  <a:solidFill>
                    <a:schemeClr val="tx1"/>
                  </a:solidFill>
                </a:endParaRPr>
              </a:p>
            </c:rich>
          </c:tx>
          <c:layout>
            <c:manualLayout>
              <c:xMode val="edge"/>
              <c:yMode val="edge"/>
              <c:x val="3.6231884057971015E-3"/>
              <c:y val="0.32505479891425315"/>
            </c:manualLayout>
          </c:layout>
          <c:overlay val="0"/>
          <c:spPr>
            <a:noFill/>
            <a:ln>
              <a:noFill/>
            </a:ln>
            <a:effectLst/>
          </c:spPr>
          <c:txPr>
            <a:bodyPr rot="-5400000" spcFirstLastPara="1" vertOverflow="ellipsis" vert="horz" wrap="square" anchor="ctr" anchorCtr="1"/>
            <a:lstStyle/>
            <a:p>
              <a:pPr marL="0" marR="0" lvl="0" indent="0" algn="ctr" defTabSz="914400" rtl="0" eaLnBrk="1" fontAlgn="auto" latinLnBrk="0" hangingPunct="1">
                <a:lnSpc>
                  <a:spcPct val="100000"/>
                </a:lnSpc>
                <a:spcBef>
                  <a:spcPts val="0"/>
                </a:spcBef>
                <a:spcAft>
                  <a:spcPts val="0"/>
                </a:spcAft>
                <a:buClrTx/>
                <a:buSzTx/>
                <a:buFontTx/>
                <a:buNone/>
                <a:tabLst/>
                <a:defRPr lang="en-US" sz="1200" b="0" i="0" u="none" strike="noStrike" kern="1200" baseline="0" smtClean="0">
                  <a:solidFill>
                    <a:schemeClr val="tx1"/>
                  </a:solidFill>
                  <a:latin typeface="+mn-lt"/>
                  <a:ea typeface="+mn-ea"/>
                  <a:cs typeface="+mn-cs"/>
                </a:defRPr>
              </a:pPr>
              <a:endParaRPr lang="ru-RU"/>
            </a:p>
          </c:txPr>
        </c:title>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ru-RU"/>
          </a:p>
        </c:txPr>
        <c:crossAx val="1489034223"/>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ru-RU"/>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ru-RU"/>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pivotOptions>
    </c:ext>
    <c:ext xmlns:c16="http://schemas.microsoft.com/office/drawing/2014/chart" uri="{E28EC0CA-F0BB-4C9C-879D-F8772B89E7AC}">
      <c16:pivotOptions16>
        <c16:showExpandCollapseFieldButtons val="1"/>
      </c16:pivotOptions16>
    </c:ext>
  </c:extLst>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ndard"/>
        <c:varyColors val="0"/>
        <c:ser>
          <c:idx val="0"/>
          <c:order val="0"/>
          <c:tx>
            <c:strRef>
              <c:f>'Задание 2'!$F$2</c:f>
              <c:strCache>
                <c:ptCount val="1"/>
                <c:pt idx="0">
                  <c:v>1</c:v>
                </c:pt>
              </c:strCache>
            </c:strRef>
          </c:tx>
          <c:spPr>
            <a:ln w="28575" cap="rnd">
              <a:solidFill>
                <a:schemeClr val="accent1"/>
              </a:solidFill>
              <a:round/>
            </a:ln>
            <a:effectLst/>
          </c:spPr>
          <c:marker>
            <c:symbol val="none"/>
          </c:marker>
          <c:val>
            <c:numRef>
              <c:f>'Задание 2'!$F$4:$F$6</c:f>
              <c:numCache>
                <c:formatCode>0%</c:formatCode>
                <c:ptCount val="3"/>
                <c:pt idx="0">
                  <c:v>1.0030395136778116</c:v>
                </c:pt>
                <c:pt idx="1">
                  <c:v>0.65959595959595962</c:v>
                </c:pt>
                <c:pt idx="2">
                  <c:v>1.0176110260336906</c:v>
                </c:pt>
              </c:numCache>
            </c:numRef>
          </c:val>
          <c:smooth val="0"/>
          <c:extLst>
            <c:ext xmlns:c16="http://schemas.microsoft.com/office/drawing/2014/chart" uri="{C3380CC4-5D6E-409C-BE32-E72D297353CC}">
              <c16:uniqueId val="{00000000-0117-4B39-B8A6-E13EC15FCDF7}"/>
            </c:ext>
          </c:extLst>
        </c:ser>
        <c:ser>
          <c:idx val="1"/>
          <c:order val="1"/>
          <c:tx>
            <c:strRef>
              <c:f>'Задание 2'!$G$2</c:f>
              <c:strCache>
                <c:ptCount val="1"/>
                <c:pt idx="0">
                  <c:v>2</c:v>
                </c:pt>
              </c:strCache>
            </c:strRef>
          </c:tx>
          <c:spPr>
            <a:ln w="28575" cap="rnd">
              <a:solidFill>
                <a:schemeClr val="accent2"/>
              </a:solidFill>
              <a:round/>
            </a:ln>
            <a:effectLst/>
          </c:spPr>
          <c:marker>
            <c:symbol val="none"/>
          </c:marker>
          <c:val>
            <c:numRef>
              <c:f>'Задание 2'!$G$4:$G$6</c:f>
              <c:numCache>
                <c:formatCode>0%</c:formatCode>
                <c:ptCount val="3"/>
                <c:pt idx="0">
                  <c:v>1.0040295500335796</c:v>
                </c:pt>
                <c:pt idx="1">
                  <c:v>0.95250836120401339</c:v>
                </c:pt>
                <c:pt idx="2">
                  <c:v>0.9943820224719101</c:v>
                </c:pt>
              </c:numCache>
            </c:numRef>
          </c:val>
          <c:smooth val="0"/>
          <c:extLst>
            <c:ext xmlns:c16="http://schemas.microsoft.com/office/drawing/2014/chart" uri="{C3380CC4-5D6E-409C-BE32-E72D297353CC}">
              <c16:uniqueId val="{00000001-0117-4B39-B8A6-E13EC15FCDF7}"/>
            </c:ext>
          </c:extLst>
        </c:ser>
        <c:ser>
          <c:idx val="2"/>
          <c:order val="2"/>
          <c:tx>
            <c:strRef>
              <c:f>'Задание 2'!$H$2</c:f>
              <c:strCache>
                <c:ptCount val="1"/>
                <c:pt idx="0">
                  <c:v>3</c:v>
                </c:pt>
              </c:strCache>
            </c:strRef>
          </c:tx>
          <c:spPr>
            <a:ln w="28575" cap="rnd">
              <a:solidFill>
                <a:schemeClr val="accent3"/>
              </a:solidFill>
              <a:round/>
            </a:ln>
            <a:effectLst/>
          </c:spPr>
          <c:marker>
            <c:symbol val="none"/>
          </c:marker>
          <c:val>
            <c:numRef>
              <c:f>'Задание 2'!$H$4:$H$6</c:f>
              <c:numCache>
                <c:formatCode>0%</c:formatCode>
                <c:ptCount val="3"/>
                <c:pt idx="0">
                  <c:v>1.0525568181818181</c:v>
                </c:pt>
                <c:pt idx="1">
                  <c:v>2.1666666666666665</c:v>
                </c:pt>
                <c:pt idx="2">
                  <c:v>1.4008097165991902</c:v>
                </c:pt>
              </c:numCache>
            </c:numRef>
          </c:val>
          <c:smooth val="0"/>
          <c:extLst>
            <c:ext xmlns:c16="http://schemas.microsoft.com/office/drawing/2014/chart" uri="{C3380CC4-5D6E-409C-BE32-E72D297353CC}">
              <c16:uniqueId val="{00000002-0117-4B39-B8A6-E13EC15FCDF7}"/>
            </c:ext>
          </c:extLst>
        </c:ser>
        <c:dLbls>
          <c:showLegendKey val="0"/>
          <c:showVal val="0"/>
          <c:showCatName val="0"/>
          <c:showSerName val="0"/>
          <c:showPercent val="0"/>
          <c:showBubbleSize val="0"/>
        </c:dLbls>
        <c:smooth val="0"/>
        <c:axId val="1065743775"/>
        <c:axId val="1065747615"/>
      </c:lineChart>
      <c:catAx>
        <c:axId val="1065743775"/>
        <c:scaling>
          <c:orientation val="minMax"/>
        </c:scaling>
        <c:delete val="1"/>
        <c:axPos val="b"/>
        <c:majorTickMark val="none"/>
        <c:minorTickMark val="none"/>
        <c:tickLblPos val="nextTo"/>
        <c:crossAx val="1065747615"/>
        <c:crosses val="autoZero"/>
        <c:auto val="1"/>
        <c:lblAlgn val="ctr"/>
        <c:lblOffset val="100"/>
        <c:noMultiLvlLbl val="0"/>
      </c:catAx>
      <c:valAx>
        <c:axId val="1065747615"/>
        <c:scaling>
          <c:orientation val="minMax"/>
          <c:max val="2.2999999999999998"/>
          <c:min val="0.60000000000000009"/>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200" b="0" i="0" u="none" strike="noStrike" kern="1200" baseline="0">
                    <a:solidFill>
                      <a:sysClr val="windowText" lastClr="000000"/>
                    </a:solidFill>
                    <a:latin typeface="+mn-lt"/>
                    <a:ea typeface="+mn-ea"/>
                    <a:cs typeface="+mn-cs"/>
                  </a:defRPr>
                </a:pPr>
                <a:r>
                  <a:rPr lang="ru-RU" sz="1200">
                    <a:solidFill>
                      <a:sysClr val="windowText" lastClr="000000"/>
                    </a:solidFill>
                  </a:rPr>
                  <a:t>Процент</a:t>
                </a:r>
                <a:r>
                  <a:rPr lang="ru-RU" sz="1200" baseline="0">
                    <a:solidFill>
                      <a:sysClr val="windowText" lastClr="000000"/>
                    </a:solidFill>
                  </a:rPr>
                  <a:t> роста</a:t>
                </a:r>
                <a:endParaRPr lang="ru-RU" sz="1200">
                  <a:solidFill>
                    <a:sysClr val="windowText" lastClr="000000"/>
                  </a:solidFill>
                </a:endParaRPr>
              </a:p>
            </c:rich>
          </c:tx>
          <c:layout>
            <c:manualLayout>
              <c:xMode val="edge"/>
              <c:yMode val="edge"/>
              <c:x val="2.2950174448432312E-3"/>
              <c:y val="0.27245893984270186"/>
            </c:manualLayout>
          </c:layout>
          <c:overlay val="0"/>
          <c:spPr>
            <a:noFill/>
            <a:ln>
              <a:noFill/>
            </a:ln>
            <a:effectLst/>
          </c:spPr>
          <c:txPr>
            <a:bodyPr rot="-5400000" spcFirstLastPara="1" vertOverflow="ellipsis" vert="horz" wrap="square" anchor="ctr" anchorCtr="1"/>
            <a:lstStyle/>
            <a:p>
              <a:pPr>
                <a:defRPr sz="1200" b="0" i="0" u="none" strike="noStrike" kern="1200" baseline="0">
                  <a:solidFill>
                    <a:sysClr val="windowText" lastClr="000000"/>
                  </a:solidFill>
                  <a:latin typeface="+mn-lt"/>
                  <a:ea typeface="+mn-ea"/>
                  <a:cs typeface="+mn-cs"/>
                </a:defRPr>
              </a:pPr>
              <a:endParaRPr lang="ru-RU"/>
            </a:p>
          </c:txPr>
        </c:title>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ru-RU"/>
          </a:p>
        </c:txPr>
        <c:crossAx val="1065743775"/>
        <c:crosses val="autoZero"/>
        <c:crossBetween val="between"/>
        <c:majorUnit val="0.30000000000000004"/>
      </c:valAx>
      <c:spPr>
        <a:noFill/>
        <a:ln>
          <a:noFill/>
        </a:ln>
        <a:effectLst/>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ru-RU"/>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ru-RU"/>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pivotSource>
    <c:name>[07 19_45_4866b3ceec4682e5.52044134Задание1_Асмандияров_Раиль.xlsx]Задание 2!Сводная таблица2</c:name>
    <c:fmtId val="16"/>
  </c:pivotSource>
  <c:chart>
    <c:autoTitleDeleted val="1"/>
    <c:pivotFmts>
      <c:pivotFmt>
        <c:idx val="0"/>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ru-RU"/>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ru-RU"/>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ru-RU"/>
            </a:p>
          </c:txPr>
          <c:showLegendKey val="0"/>
          <c:showVal val="0"/>
          <c:showCatName val="0"/>
          <c:showSerName val="0"/>
          <c:showPercent val="0"/>
          <c:showBubbleSize val="0"/>
          <c:extLst>
            <c:ext xmlns:c15="http://schemas.microsoft.com/office/drawing/2012/chart" uri="{CE6537A1-D6FC-4f65-9D91-7224C49458BB}"/>
          </c:extLst>
        </c:dLbl>
      </c:pivotFmt>
      <c:pivotFmt>
        <c:idx val="3"/>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ru-RU"/>
            </a:p>
          </c:txPr>
          <c:showLegendKey val="0"/>
          <c:showVal val="0"/>
          <c:showCatName val="0"/>
          <c:showSerName val="0"/>
          <c:showPercent val="0"/>
          <c:showBubbleSize val="0"/>
          <c:extLst>
            <c:ext xmlns:c15="http://schemas.microsoft.com/office/drawing/2012/chart" uri="{CE6537A1-D6FC-4f65-9D91-7224C49458BB}"/>
          </c:extLst>
        </c:dLbl>
      </c:pivotFmt>
      <c:pivotFmt>
        <c:idx val="4"/>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ru-RU"/>
            </a:p>
          </c:txPr>
          <c:showLegendKey val="0"/>
          <c:showVal val="0"/>
          <c:showCatName val="0"/>
          <c:showSerName val="0"/>
          <c:showPercent val="0"/>
          <c:showBubbleSize val="0"/>
          <c:extLst>
            <c:ext xmlns:c15="http://schemas.microsoft.com/office/drawing/2012/chart" uri="{CE6537A1-D6FC-4f65-9D91-7224C49458BB}"/>
          </c:extLst>
        </c:dLbl>
      </c:pivotFmt>
      <c:pivotFmt>
        <c:idx val="5"/>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ru-RU"/>
            </a:p>
          </c:txPr>
          <c:showLegendKey val="0"/>
          <c:showVal val="0"/>
          <c:showCatName val="0"/>
          <c:showSerName val="0"/>
          <c:showPercent val="0"/>
          <c:showBubbleSize val="0"/>
          <c:extLst>
            <c:ext xmlns:c15="http://schemas.microsoft.com/office/drawing/2012/chart" uri="{CE6537A1-D6FC-4f65-9D91-7224C49458BB}"/>
          </c:extLst>
        </c:dLbl>
      </c:pivotFmt>
      <c:pivotFmt>
        <c:idx val="6"/>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ru-RU"/>
            </a:p>
          </c:txPr>
          <c:showLegendKey val="0"/>
          <c:showVal val="0"/>
          <c:showCatName val="0"/>
          <c:showSerName val="0"/>
          <c:showPercent val="0"/>
          <c:showBubbleSize val="0"/>
          <c:extLst>
            <c:ext xmlns:c15="http://schemas.microsoft.com/office/drawing/2012/chart" uri="{CE6537A1-D6FC-4f65-9D91-7224C49458BB}"/>
          </c:extLst>
        </c:dLbl>
      </c:pivotFmt>
      <c:pivotFmt>
        <c:idx val="7"/>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ru-RU"/>
            </a:p>
          </c:txPr>
          <c:showLegendKey val="0"/>
          <c:showVal val="0"/>
          <c:showCatName val="0"/>
          <c:showSerName val="0"/>
          <c:showPercent val="0"/>
          <c:showBubbleSize val="0"/>
          <c:extLst>
            <c:ext xmlns:c15="http://schemas.microsoft.com/office/drawing/2012/chart" uri="{CE6537A1-D6FC-4f65-9D91-7224C49458BB}"/>
          </c:extLst>
        </c:dLbl>
      </c:pivotFmt>
      <c:pivotFmt>
        <c:idx val="8"/>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ru-RU"/>
            </a:p>
          </c:txPr>
          <c:showLegendKey val="0"/>
          <c:showVal val="0"/>
          <c:showCatName val="0"/>
          <c:showSerName val="0"/>
          <c:showPercent val="0"/>
          <c:showBubbleSize val="0"/>
          <c:extLst>
            <c:ext xmlns:c15="http://schemas.microsoft.com/office/drawing/2012/chart" uri="{CE6537A1-D6FC-4f65-9D91-7224C49458BB}"/>
          </c:extLst>
        </c:dLbl>
      </c:pivotFmt>
    </c:pivotFmts>
    <c:plotArea>
      <c:layout/>
      <c:lineChart>
        <c:grouping val="standard"/>
        <c:varyColors val="0"/>
        <c:ser>
          <c:idx val="0"/>
          <c:order val="0"/>
          <c:tx>
            <c:strRef>
              <c:f>'Задание 2'!$B$1:$B$2</c:f>
              <c:strCache>
                <c:ptCount val="1"/>
                <c:pt idx="0">
                  <c:v>1</c:v>
                </c:pt>
              </c:strCache>
            </c:strRef>
          </c:tx>
          <c:spPr>
            <a:ln w="28575" cap="rnd">
              <a:solidFill>
                <a:schemeClr val="accent1"/>
              </a:solidFill>
              <a:round/>
            </a:ln>
            <a:effectLst/>
          </c:spPr>
          <c:marker>
            <c:symbol val="none"/>
          </c:marker>
          <c:cat>
            <c:strRef>
              <c:f>'Задание 2'!$A$3:$A$7</c:f>
              <c:strCache>
                <c:ptCount val="4"/>
                <c:pt idx="0">
                  <c:v>01.сен</c:v>
                </c:pt>
                <c:pt idx="1">
                  <c:v>02.сен</c:v>
                </c:pt>
                <c:pt idx="2">
                  <c:v>03.сен</c:v>
                </c:pt>
                <c:pt idx="3">
                  <c:v>04.сен</c:v>
                </c:pt>
              </c:strCache>
            </c:strRef>
          </c:cat>
          <c:val>
            <c:numRef>
              <c:f>'Задание 2'!$B$3:$B$7</c:f>
              <c:numCache>
                <c:formatCode>General</c:formatCode>
                <c:ptCount val="4"/>
                <c:pt idx="0">
                  <c:v>1974</c:v>
                </c:pt>
                <c:pt idx="1">
                  <c:v>1980</c:v>
                </c:pt>
                <c:pt idx="2">
                  <c:v>1306</c:v>
                </c:pt>
                <c:pt idx="3">
                  <c:v>1329</c:v>
                </c:pt>
              </c:numCache>
            </c:numRef>
          </c:val>
          <c:smooth val="0"/>
          <c:extLst>
            <c:ext xmlns:c16="http://schemas.microsoft.com/office/drawing/2014/chart" uri="{C3380CC4-5D6E-409C-BE32-E72D297353CC}">
              <c16:uniqueId val="{00000000-DA6C-4409-B717-2272D0F0A0EE}"/>
            </c:ext>
          </c:extLst>
        </c:ser>
        <c:ser>
          <c:idx val="1"/>
          <c:order val="1"/>
          <c:tx>
            <c:strRef>
              <c:f>'Задание 2'!$C$1:$C$2</c:f>
              <c:strCache>
                <c:ptCount val="1"/>
                <c:pt idx="0">
                  <c:v>2</c:v>
                </c:pt>
              </c:strCache>
            </c:strRef>
          </c:tx>
          <c:spPr>
            <a:ln w="28575" cap="rnd">
              <a:solidFill>
                <a:schemeClr val="accent2"/>
              </a:solidFill>
              <a:round/>
            </a:ln>
            <a:effectLst/>
          </c:spPr>
          <c:marker>
            <c:symbol val="none"/>
          </c:marker>
          <c:cat>
            <c:strRef>
              <c:f>'Задание 2'!$A$3:$A$7</c:f>
              <c:strCache>
                <c:ptCount val="4"/>
                <c:pt idx="0">
                  <c:v>01.сен</c:v>
                </c:pt>
                <c:pt idx="1">
                  <c:v>02.сен</c:v>
                </c:pt>
                <c:pt idx="2">
                  <c:v>03.сен</c:v>
                </c:pt>
                <c:pt idx="3">
                  <c:v>04.сен</c:v>
                </c:pt>
              </c:strCache>
            </c:strRef>
          </c:cat>
          <c:val>
            <c:numRef>
              <c:f>'Задание 2'!$C$3:$C$7</c:f>
              <c:numCache>
                <c:formatCode>General</c:formatCode>
                <c:ptCount val="4"/>
                <c:pt idx="0">
                  <c:v>4467</c:v>
                </c:pt>
                <c:pt idx="1">
                  <c:v>4485</c:v>
                </c:pt>
                <c:pt idx="2">
                  <c:v>4272</c:v>
                </c:pt>
                <c:pt idx="3">
                  <c:v>4248</c:v>
                </c:pt>
              </c:numCache>
            </c:numRef>
          </c:val>
          <c:smooth val="0"/>
          <c:extLst>
            <c:ext xmlns:c16="http://schemas.microsoft.com/office/drawing/2014/chart" uri="{C3380CC4-5D6E-409C-BE32-E72D297353CC}">
              <c16:uniqueId val="{00000001-DA6C-4409-B717-2272D0F0A0EE}"/>
            </c:ext>
          </c:extLst>
        </c:ser>
        <c:ser>
          <c:idx val="2"/>
          <c:order val="2"/>
          <c:tx>
            <c:strRef>
              <c:f>'Задание 2'!$D$1:$D$2</c:f>
              <c:strCache>
                <c:ptCount val="1"/>
                <c:pt idx="0">
                  <c:v>3</c:v>
                </c:pt>
              </c:strCache>
            </c:strRef>
          </c:tx>
          <c:spPr>
            <a:ln w="28575" cap="rnd">
              <a:solidFill>
                <a:schemeClr val="accent3"/>
              </a:solidFill>
              <a:round/>
            </a:ln>
            <a:effectLst/>
          </c:spPr>
          <c:marker>
            <c:symbol val="none"/>
          </c:marker>
          <c:cat>
            <c:strRef>
              <c:f>'Задание 2'!$A$3:$A$7</c:f>
              <c:strCache>
                <c:ptCount val="4"/>
                <c:pt idx="0">
                  <c:v>01.сен</c:v>
                </c:pt>
                <c:pt idx="1">
                  <c:v>02.сен</c:v>
                </c:pt>
                <c:pt idx="2">
                  <c:v>03.сен</c:v>
                </c:pt>
                <c:pt idx="3">
                  <c:v>04.сен</c:v>
                </c:pt>
              </c:strCache>
            </c:strRef>
          </c:cat>
          <c:val>
            <c:numRef>
              <c:f>'Задание 2'!$D$3:$D$7</c:f>
              <c:numCache>
                <c:formatCode>General</c:formatCode>
                <c:ptCount val="4"/>
                <c:pt idx="0">
                  <c:v>1408</c:v>
                </c:pt>
                <c:pt idx="1">
                  <c:v>1482</c:v>
                </c:pt>
                <c:pt idx="2">
                  <c:v>3211</c:v>
                </c:pt>
                <c:pt idx="3">
                  <c:v>4498</c:v>
                </c:pt>
              </c:numCache>
            </c:numRef>
          </c:val>
          <c:smooth val="0"/>
          <c:extLst>
            <c:ext xmlns:c16="http://schemas.microsoft.com/office/drawing/2014/chart" uri="{C3380CC4-5D6E-409C-BE32-E72D297353CC}">
              <c16:uniqueId val="{00000002-DA6C-4409-B717-2272D0F0A0EE}"/>
            </c:ext>
          </c:extLst>
        </c:ser>
        <c:dLbls>
          <c:showLegendKey val="0"/>
          <c:showVal val="0"/>
          <c:showCatName val="0"/>
          <c:showSerName val="0"/>
          <c:showPercent val="0"/>
          <c:showBubbleSize val="0"/>
        </c:dLbls>
        <c:smooth val="0"/>
        <c:axId val="1489036143"/>
        <c:axId val="1489039983"/>
      </c:lineChart>
      <c:catAx>
        <c:axId val="1489036143"/>
        <c:scaling>
          <c:orientation val="minMax"/>
        </c:scaling>
        <c:delete val="0"/>
        <c:axPos val="b"/>
        <c:title>
          <c:tx>
            <c:rich>
              <a:bodyPr rot="0" spcFirstLastPara="1" vertOverflow="ellipsis" vert="horz" wrap="square" anchor="ctr" anchorCtr="1"/>
              <a:lstStyle/>
              <a:p>
                <a:pPr>
                  <a:defRPr sz="1000" b="0" i="0" u="none" strike="noStrike" kern="1200" baseline="0">
                    <a:solidFill>
                      <a:schemeClr val="tx1"/>
                    </a:solidFill>
                    <a:latin typeface="+mn-lt"/>
                    <a:ea typeface="+mn-ea"/>
                    <a:cs typeface="+mn-cs"/>
                  </a:defRPr>
                </a:pPr>
                <a:r>
                  <a:rPr lang="ru-RU" sz="1200">
                    <a:solidFill>
                      <a:schemeClr val="tx1"/>
                    </a:solidFill>
                  </a:rPr>
                  <a:t>Дата</a:t>
                </a:r>
              </a:p>
            </c:rich>
          </c:tx>
          <c:overlay val="0"/>
          <c:spPr>
            <a:noFill/>
            <a:ln>
              <a:noFill/>
            </a:ln>
            <a:effectLst/>
          </c:spPr>
          <c:txPr>
            <a:bodyPr rot="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ru-RU"/>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ru-RU"/>
          </a:p>
        </c:txPr>
        <c:crossAx val="1489039983"/>
        <c:crosses val="autoZero"/>
        <c:auto val="1"/>
        <c:lblAlgn val="ctr"/>
        <c:lblOffset val="100"/>
        <c:noMultiLvlLbl val="0"/>
      </c:catAx>
      <c:valAx>
        <c:axId val="1489039983"/>
        <c:scaling>
          <c:orientation val="minMax"/>
          <c:min val="1000"/>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lgn="ctr">
                  <a:defRPr sz="1200" b="0" i="0" u="none" strike="noStrike" kern="1200" baseline="0">
                    <a:solidFill>
                      <a:schemeClr val="tx1">
                        <a:lumMod val="65000"/>
                        <a:lumOff val="35000"/>
                      </a:schemeClr>
                    </a:solidFill>
                    <a:latin typeface="+mn-lt"/>
                    <a:ea typeface="+mn-ea"/>
                    <a:cs typeface="+mn-cs"/>
                  </a:defRPr>
                </a:pPr>
                <a:r>
                  <a:rPr lang="ru-RU" sz="1200" b="0" i="0" u="none" strike="noStrike" kern="1200" baseline="0" dirty="0">
                    <a:solidFill>
                      <a:schemeClr val="tx1"/>
                    </a:solidFill>
                  </a:rPr>
                  <a:t>Количество транзакций</a:t>
                </a:r>
              </a:p>
            </c:rich>
          </c:tx>
          <c:layout>
            <c:manualLayout>
              <c:xMode val="edge"/>
              <c:yMode val="edge"/>
              <c:x val="9.3802529106164505E-4"/>
              <c:y val="9.9637254868526204E-2"/>
            </c:manualLayout>
          </c:layout>
          <c:overlay val="0"/>
          <c:spPr>
            <a:noFill/>
            <a:ln>
              <a:noFill/>
            </a:ln>
            <a:effectLst/>
          </c:spPr>
          <c:txPr>
            <a:bodyPr rot="-5400000" spcFirstLastPara="1" vertOverflow="ellipsis" vert="horz" wrap="square" anchor="ctr" anchorCtr="1"/>
            <a:lstStyle/>
            <a:p>
              <a:pPr algn="ctr">
                <a:defRPr sz="1200" b="0" i="0" u="none" strike="noStrike" kern="1200" baseline="0">
                  <a:solidFill>
                    <a:schemeClr val="tx1">
                      <a:lumMod val="65000"/>
                      <a:lumOff val="35000"/>
                    </a:schemeClr>
                  </a:solidFill>
                  <a:latin typeface="+mn-lt"/>
                  <a:ea typeface="+mn-ea"/>
                  <a:cs typeface="+mn-cs"/>
                </a:defRPr>
              </a:pPr>
              <a:endParaRPr lang="ru-RU"/>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ru-RU"/>
          </a:p>
        </c:txPr>
        <c:crossAx val="1489036143"/>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ru-RU"/>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ru-RU"/>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pivotOptions>
    </c:ext>
    <c:ext xmlns:c16="http://schemas.microsoft.com/office/drawing/2014/chart" uri="{E28EC0CA-F0BB-4C9C-879D-F8772B89E7AC}">
      <c16:pivotOptions16>
        <c16:showExpandCollapseFieldButtons val="1"/>
      </c16:pivotOptions16>
    </c:ext>
  </c:extLst>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pivotSource>
    <c:name>[07 19_45_4866b3ceec4682e5.52044134Задание1_Асмандияров_Раиль.xlsx]Задание 2!Сводная таблица3</c:name>
    <c:fmtId val="18"/>
  </c:pivotSource>
  <c:chart>
    <c:autoTitleDeleted val="1"/>
    <c:pivotFmts>
      <c:pivotFmt>
        <c:idx val="0"/>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ru-RU"/>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ru-RU"/>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ru-RU"/>
            </a:p>
          </c:txPr>
          <c:showLegendKey val="0"/>
          <c:showVal val="0"/>
          <c:showCatName val="0"/>
          <c:showSerName val="0"/>
          <c:showPercent val="0"/>
          <c:showBubbleSize val="0"/>
          <c:extLst>
            <c:ext xmlns:c15="http://schemas.microsoft.com/office/drawing/2012/chart" uri="{CE6537A1-D6FC-4f65-9D91-7224C49458BB}"/>
          </c:extLst>
        </c:dLbl>
      </c:pivotFmt>
      <c:pivotFmt>
        <c:idx val="3"/>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ru-RU"/>
            </a:p>
          </c:txPr>
          <c:showLegendKey val="0"/>
          <c:showVal val="0"/>
          <c:showCatName val="0"/>
          <c:showSerName val="0"/>
          <c:showPercent val="0"/>
          <c:showBubbleSize val="0"/>
          <c:extLst>
            <c:ext xmlns:c15="http://schemas.microsoft.com/office/drawing/2012/chart" uri="{CE6537A1-D6FC-4f65-9D91-7224C49458BB}"/>
          </c:extLst>
        </c:dLbl>
      </c:pivotFmt>
      <c:pivotFmt>
        <c:idx val="4"/>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ru-RU"/>
            </a:p>
          </c:txPr>
          <c:showLegendKey val="0"/>
          <c:showVal val="0"/>
          <c:showCatName val="0"/>
          <c:showSerName val="0"/>
          <c:showPercent val="0"/>
          <c:showBubbleSize val="0"/>
          <c:extLst>
            <c:ext xmlns:c15="http://schemas.microsoft.com/office/drawing/2012/chart" uri="{CE6537A1-D6FC-4f65-9D91-7224C49458BB}"/>
          </c:extLst>
        </c:dLbl>
      </c:pivotFmt>
      <c:pivotFmt>
        <c:idx val="5"/>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ru-RU"/>
            </a:p>
          </c:txPr>
          <c:showLegendKey val="0"/>
          <c:showVal val="0"/>
          <c:showCatName val="0"/>
          <c:showSerName val="0"/>
          <c:showPercent val="0"/>
          <c:showBubbleSize val="0"/>
          <c:extLst>
            <c:ext xmlns:c15="http://schemas.microsoft.com/office/drawing/2012/chart" uri="{CE6537A1-D6FC-4f65-9D91-7224C49458BB}"/>
          </c:extLst>
        </c:dLbl>
      </c:pivotFmt>
      <c:pivotFmt>
        <c:idx val="6"/>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ru-RU"/>
            </a:p>
          </c:txPr>
          <c:showLegendKey val="0"/>
          <c:showVal val="0"/>
          <c:showCatName val="0"/>
          <c:showSerName val="0"/>
          <c:showPercent val="0"/>
          <c:showBubbleSize val="0"/>
          <c:extLst>
            <c:ext xmlns:c15="http://schemas.microsoft.com/office/drawing/2012/chart" uri="{CE6537A1-D6FC-4f65-9D91-7224C49458BB}"/>
          </c:extLst>
        </c:dLbl>
      </c:pivotFmt>
      <c:pivotFmt>
        <c:idx val="7"/>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ru-RU"/>
            </a:p>
          </c:txPr>
          <c:showLegendKey val="0"/>
          <c:showVal val="0"/>
          <c:showCatName val="0"/>
          <c:showSerName val="0"/>
          <c:showPercent val="0"/>
          <c:showBubbleSize val="0"/>
          <c:extLst>
            <c:ext xmlns:c15="http://schemas.microsoft.com/office/drawing/2012/chart" uri="{CE6537A1-D6FC-4f65-9D91-7224C49458BB}"/>
          </c:extLst>
        </c:dLbl>
      </c:pivotFmt>
      <c:pivotFmt>
        <c:idx val="8"/>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ru-RU"/>
            </a:p>
          </c:txPr>
          <c:showLegendKey val="0"/>
          <c:showVal val="0"/>
          <c:showCatName val="0"/>
          <c:showSerName val="0"/>
          <c:showPercent val="0"/>
          <c:showBubbleSize val="0"/>
          <c:extLst>
            <c:ext xmlns:c15="http://schemas.microsoft.com/office/drawing/2012/chart" uri="{CE6537A1-D6FC-4f65-9D91-7224C49458BB}"/>
          </c:extLst>
        </c:dLbl>
      </c:pivotFmt>
    </c:pivotFmts>
    <c:plotArea>
      <c:layout/>
      <c:lineChart>
        <c:grouping val="standard"/>
        <c:varyColors val="0"/>
        <c:ser>
          <c:idx val="0"/>
          <c:order val="0"/>
          <c:tx>
            <c:strRef>
              <c:f>'Задание 2'!$K$1:$K$2</c:f>
              <c:strCache>
                <c:ptCount val="1"/>
                <c:pt idx="0">
                  <c:v>1</c:v>
                </c:pt>
              </c:strCache>
            </c:strRef>
          </c:tx>
          <c:spPr>
            <a:ln w="28575" cap="rnd">
              <a:solidFill>
                <a:schemeClr val="accent1"/>
              </a:solidFill>
              <a:round/>
            </a:ln>
            <a:effectLst/>
          </c:spPr>
          <c:marker>
            <c:symbol val="none"/>
          </c:marker>
          <c:cat>
            <c:strRef>
              <c:f>'Задание 2'!$J$3:$J$7</c:f>
              <c:strCache>
                <c:ptCount val="4"/>
                <c:pt idx="0">
                  <c:v>01.сен</c:v>
                </c:pt>
                <c:pt idx="1">
                  <c:v>02.сен</c:v>
                </c:pt>
                <c:pt idx="2">
                  <c:v>03.сен</c:v>
                </c:pt>
                <c:pt idx="3">
                  <c:v>04.сен</c:v>
                </c:pt>
              </c:strCache>
            </c:strRef>
          </c:cat>
          <c:val>
            <c:numRef>
              <c:f>'Задание 2'!$K$3:$K$7</c:f>
              <c:numCache>
                <c:formatCode>General</c:formatCode>
                <c:ptCount val="4"/>
                <c:pt idx="0">
                  <c:v>1974</c:v>
                </c:pt>
                <c:pt idx="1">
                  <c:v>1980</c:v>
                </c:pt>
                <c:pt idx="2">
                  <c:v>2694</c:v>
                </c:pt>
                <c:pt idx="3">
                  <c:v>2655</c:v>
                </c:pt>
              </c:numCache>
            </c:numRef>
          </c:val>
          <c:smooth val="0"/>
          <c:extLst>
            <c:ext xmlns:c16="http://schemas.microsoft.com/office/drawing/2014/chart" uri="{C3380CC4-5D6E-409C-BE32-E72D297353CC}">
              <c16:uniqueId val="{00000000-A3C3-467F-8861-6600F6C5BB9F}"/>
            </c:ext>
          </c:extLst>
        </c:ser>
        <c:ser>
          <c:idx val="1"/>
          <c:order val="1"/>
          <c:tx>
            <c:strRef>
              <c:f>'Задание 2'!$L$1:$L$2</c:f>
              <c:strCache>
                <c:ptCount val="1"/>
                <c:pt idx="0">
                  <c:v>2</c:v>
                </c:pt>
              </c:strCache>
            </c:strRef>
          </c:tx>
          <c:spPr>
            <a:ln w="28575" cap="rnd">
              <a:solidFill>
                <a:schemeClr val="accent2"/>
              </a:solidFill>
              <a:round/>
            </a:ln>
            <a:effectLst/>
          </c:spPr>
          <c:marker>
            <c:symbol val="none"/>
          </c:marker>
          <c:cat>
            <c:strRef>
              <c:f>'Задание 2'!$J$3:$J$7</c:f>
              <c:strCache>
                <c:ptCount val="4"/>
                <c:pt idx="0">
                  <c:v>01.сен</c:v>
                </c:pt>
                <c:pt idx="1">
                  <c:v>02.сен</c:v>
                </c:pt>
                <c:pt idx="2">
                  <c:v>03.сен</c:v>
                </c:pt>
                <c:pt idx="3">
                  <c:v>04.сен</c:v>
                </c:pt>
              </c:strCache>
            </c:strRef>
          </c:cat>
          <c:val>
            <c:numRef>
              <c:f>'Задание 2'!$L$3:$L$7</c:f>
              <c:numCache>
                <c:formatCode>General</c:formatCode>
                <c:ptCount val="4"/>
                <c:pt idx="0">
                  <c:v>4467</c:v>
                </c:pt>
                <c:pt idx="1">
                  <c:v>4485</c:v>
                </c:pt>
                <c:pt idx="2">
                  <c:v>4272</c:v>
                </c:pt>
                <c:pt idx="3">
                  <c:v>4248</c:v>
                </c:pt>
              </c:numCache>
            </c:numRef>
          </c:val>
          <c:smooth val="0"/>
          <c:extLst>
            <c:ext xmlns:c16="http://schemas.microsoft.com/office/drawing/2014/chart" uri="{C3380CC4-5D6E-409C-BE32-E72D297353CC}">
              <c16:uniqueId val="{00000001-A3C3-467F-8861-6600F6C5BB9F}"/>
            </c:ext>
          </c:extLst>
        </c:ser>
        <c:ser>
          <c:idx val="2"/>
          <c:order val="2"/>
          <c:tx>
            <c:strRef>
              <c:f>'Задание 2'!$M$1:$M$2</c:f>
              <c:strCache>
                <c:ptCount val="1"/>
                <c:pt idx="0">
                  <c:v>3</c:v>
                </c:pt>
              </c:strCache>
            </c:strRef>
          </c:tx>
          <c:spPr>
            <a:ln w="28575" cap="rnd">
              <a:solidFill>
                <a:schemeClr val="accent3"/>
              </a:solidFill>
              <a:round/>
            </a:ln>
            <a:effectLst/>
          </c:spPr>
          <c:marker>
            <c:symbol val="none"/>
          </c:marker>
          <c:cat>
            <c:strRef>
              <c:f>'Задание 2'!$J$3:$J$7</c:f>
              <c:strCache>
                <c:ptCount val="4"/>
                <c:pt idx="0">
                  <c:v>01.сен</c:v>
                </c:pt>
                <c:pt idx="1">
                  <c:v>02.сен</c:v>
                </c:pt>
                <c:pt idx="2">
                  <c:v>03.сен</c:v>
                </c:pt>
                <c:pt idx="3">
                  <c:v>04.сен</c:v>
                </c:pt>
              </c:strCache>
            </c:strRef>
          </c:cat>
          <c:val>
            <c:numRef>
              <c:f>'Задание 2'!$M$3:$M$7</c:f>
              <c:numCache>
                <c:formatCode>General</c:formatCode>
                <c:ptCount val="4"/>
                <c:pt idx="0">
                  <c:v>1408</c:v>
                </c:pt>
                <c:pt idx="1">
                  <c:v>1482</c:v>
                </c:pt>
                <c:pt idx="2">
                  <c:v>1823</c:v>
                </c:pt>
                <c:pt idx="3">
                  <c:v>3172</c:v>
                </c:pt>
              </c:numCache>
            </c:numRef>
          </c:val>
          <c:smooth val="0"/>
          <c:extLst>
            <c:ext xmlns:c16="http://schemas.microsoft.com/office/drawing/2014/chart" uri="{C3380CC4-5D6E-409C-BE32-E72D297353CC}">
              <c16:uniqueId val="{00000002-A3C3-467F-8861-6600F6C5BB9F}"/>
            </c:ext>
          </c:extLst>
        </c:ser>
        <c:dLbls>
          <c:showLegendKey val="0"/>
          <c:showVal val="0"/>
          <c:showCatName val="0"/>
          <c:showSerName val="0"/>
          <c:showPercent val="0"/>
          <c:showBubbleSize val="0"/>
        </c:dLbls>
        <c:smooth val="0"/>
        <c:axId val="1489043823"/>
        <c:axId val="1489040463"/>
      </c:lineChart>
      <c:catAx>
        <c:axId val="1489043823"/>
        <c:scaling>
          <c:orientation val="minMax"/>
        </c:scaling>
        <c:delete val="0"/>
        <c:axPos val="b"/>
        <c:title>
          <c:tx>
            <c:rich>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ru-RU" sz="1200" b="0" i="0" u="none" strike="noStrike" kern="1200" baseline="0">
                    <a:solidFill>
                      <a:sysClr val="windowText" lastClr="000000">
                        <a:lumMod val="65000"/>
                        <a:lumOff val="35000"/>
                      </a:sysClr>
                    </a:solidFill>
                  </a:rPr>
                  <a:t>Дата</a:t>
                </a:r>
              </a:p>
            </c:rich>
          </c:tx>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ru-RU"/>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ru-RU"/>
          </a:p>
        </c:txPr>
        <c:crossAx val="1489040463"/>
        <c:crosses val="autoZero"/>
        <c:auto val="1"/>
        <c:lblAlgn val="ctr"/>
        <c:lblOffset val="100"/>
        <c:noMultiLvlLbl val="0"/>
      </c:catAx>
      <c:valAx>
        <c:axId val="1489040463"/>
        <c:scaling>
          <c:orientation val="minMax"/>
          <c:min val="1000"/>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200" b="0" i="0" u="none" strike="noStrike" kern="1200" baseline="0">
                    <a:solidFill>
                      <a:schemeClr val="tx1">
                        <a:lumMod val="65000"/>
                        <a:lumOff val="35000"/>
                      </a:schemeClr>
                    </a:solidFill>
                    <a:latin typeface="+mn-lt"/>
                    <a:ea typeface="+mn-ea"/>
                    <a:cs typeface="+mn-cs"/>
                  </a:defRPr>
                </a:pPr>
                <a:r>
                  <a:rPr lang="ru-RU" sz="1200" b="0" i="0" u="none" strike="noStrike" kern="1200" baseline="0">
                    <a:solidFill>
                      <a:schemeClr val="tx1"/>
                    </a:solidFill>
                  </a:rPr>
                  <a:t>Количество транзакций</a:t>
                </a:r>
              </a:p>
            </c:rich>
          </c:tx>
          <c:layout>
            <c:manualLayout>
              <c:xMode val="edge"/>
              <c:yMode val="edge"/>
              <c:x val="2.3428246409937912E-4"/>
              <c:y val="0.10587908546501824"/>
            </c:manualLayout>
          </c:layout>
          <c:overlay val="0"/>
          <c:spPr>
            <a:noFill/>
            <a:ln>
              <a:noFill/>
            </a:ln>
            <a:effectLst/>
          </c:spPr>
          <c:txPr>
            <a:bodyPr rot="-5400000" spcFirstLastPara="1" vertOverflow="ellipsis" vert="horz" wrap="square" anchor="ctr" anchorCtr="1"/>
            <a:lstStyle/>
            <a:p>
              <a:pPr>
                <a:defRPr sz="1200" b="0" i="0" u="none" strike="noStrike" kern="1200" baseline="0">
                  <a:solidFill>
                    <a:schemeClr val="tx1">
                      <a:lumMod val="65000"/>
                      <a:lumOff val="35000"/>
                    </a:schemeClr>
                  </a:solidFill>
                  <a:latin typeface="+mn-lt"/>
                  <a:ea typeface="+mn-ea"/>
                  <a:cs typeface="+mn-cs"/>
                </a:defRPr>
              </a:pPr>
              <a:endParaRPr lang="ru-RU"/>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ru-RU"/>
          </a:p>
        </c:txPr>
        <c:crossAx val="1489043823"/>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ru-RU"/>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ru-RU"/>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ndard"/>
        <c:varyColors val="0"/>
        <c:ser>
          <c:idx val="0"/>
          <c:order val="0"/>
          <c:tx>
            <c:strRef>
              <c:f>'Задание 2'!$O$2</c:f>
              <c:strCache>
                <c:ptCount val="1"/>
                <c:pt idx="0">
                  <c:v>1</c:v>
                </c:pt>
              </c:strCache>
            </c:strRef>
          </c:tx>
          <c:spPr>
            <a:ln w="28575" cap="rnd">
              <a:solidFill>
                <a:schemeClr val="accent1"/>
              </a:solidFill>
              <a:round/>
            </a:ln>
            <a:effectLst/>
          </c:spPr>
          <c:marker>
            <c:symbol val="none"/>
          </c:marker>
          <c:val>
            <c:numRef>
              <c:f>'Задание 2'!$O$4:$O$6</c:f>
              <c:numCache>
                <c:formatCode>0%</c:formatCode>
                <c:ptCount val="3"/>
                <c:pt idx="0">
                  <c:v>1.0030395136778116</c:v>
                </c:pt>
                <c:pt idx="1">
                  <c:v>1.3606060606060606</c:v>
                </c:pt>
                <c:pt idx="2">
                  <c:v>0.98552338530066819</c:v>
                </c:pt>
              </c:numCache>
            </c:numRef>
          </c:val>
          <c:smooth val="0"/>
          <c:extLst>
            <c:ext xmlns:c16="http://schemas.microsoft.com/office/drawing/2014/chart" uri="{C3380CC4-5D6E-409C-BE32-E72D297353CC}">
              <c16:uniqueId val="{00000000-BC21-4088-9540-BF4234D28E66}"/>
            </c:ext>
          </c:extLst>
        </c:ser>
        <c:ser>
          <c:idx val="1"/>
          <c:order val="1"/>
          <c:tx>
            <c:strRef>
              <c:f>'Задание 2'!$P$2</c:f>
              <c:strCache>
                <c:ptCount val="1"/>
                <c:pt idx="0">
                  <c:v>2</c:v>
                </c:pt>
              </c:strCache>
            </c:strRef>
          </c:tx>
          <c:spPr>
            <a:ln w="28575" cap="rnd">
              <a:solidFill>
                <a:schemeClr val="accent2"/>
              </a:solidFill>
              <a:round/>
            </a:ln>
            <a:effectLst/>
          </c:spPr>
          <c:marker>
            <c:symbol val="none"/>
          </c:marker>
          <c:val>
            <c:numRef>
              <c:f>'Задание 2'!$P$4:$P$6</c:f>
              <c:numCache>
                <c:formatCode>0%</c:formatCode>
                <c:ptCount val="3"/>
                <c:pt idx="0">
                  <c:v>1.0040295500335796</c:v>
                </c:pt>
                <c:pt idx="1">
                  <c:v>0.95250836120401339</c:v>
                </c:pt>
                <c:pt idx="2">
                  <c:v>0.9943820224719101</c:v>
                </c:pt>
              </c:numCache>
            </c:numRef>
          </c:val>
          <c:smooth val="0"/>
          <c:extLst>
            <c:ext xmlns:c16="http://schemas.microsoft.com/office/drawing/2014/chart" uri="{C3380CC4-5D6E-409C-BE32-E72D297353CC}">
              <c16:uniqueId val="{00000001-BC21-4088-9540-BF4234D28E66}"/>
            </c:ext>
          </c:extLst>
        </c:ser>
        <c:ser>
          <c:idx val="2"/>
          <c:order val="2"/>
          <c:tx>
            <c:strRef>
              <c:f>'Задание 2'!$Q$2</c:f>
              <c:strCache>
                <c:ptCount val="1"/>
                <c:pt idx="0">
                  <c:v>3</c:v>
                </c:pt>
              </c:strCache>
            </c:strRef>
          </c:tx>
          <c:spPr>
            <a:ln w="28575" cap="rnd">
              <a:solidFill>
                <a:schemeClr val="accent3"/>
              </a:solidFill>
              <a:round/>
            </a:ln>
            <a:effectLst/>
          </c:spPr>
          <c:marker>
            <c:symbol val="none"/>
          </c:marker>
          <c:val>
            <c:numRef>
              <c:f>'Задание 2'!$Q$4:$Q$6</c:f>
              <c:numCache>
                <c:formatCode>0%</c:formatCode>
                <c:ptCount val="3"/>
                <c:pt idx="0">
                  <c:v>1.0525568181818181</c:v>
                </c:pt>
                <c:pt idx="1">
                  <c:v>1.2300944669365721</c:v>
                </c:pt>
                <c:pt idx="2">
                  <c:v>1.7399890290729567</c:v>
                </c:pt>
              </c:numCache>
            </c:numRef>
          </c:val>
          <c:smooth val="0"/>
          <c:extLst>
            <c:ext xmlns:c16="http://schemas.microsoft.com/office/drawing/2014/chart" uri="{C3380CC4-5D6E-409C-BE32-E72D297353CC}">
              <c16:uniqueId val="{00000002-BC21-4088-9540-BF4234D28E66}"/>
            </c:ext>
          </c:extLst>
        </c:ser>
        <c:dLbls>
          <c:showLegendKey val="0"/>
          <c:showVal val="0"/>
          <c:showCatName val="0"/>
          <c:showSerName val="0"/>
          <c:showPercent val="0"/>
          <c:showBubbleSize val="0"/>
        </c:dLbls>
        <c:smooth val="0"/>
        <c:axId val="1062012543"/>
        <c:axId val="1065746175"/>
      </c:lineChart>
      <c:catAx>
        <c:axId val="1062012543"/>
        <c:scaling>
          <c:orientation val="minMax"/>
        </c:scaling>
        <c:delete val="1"/>
        <c:axPos val="b"/>
        <c:majorTickMark val="none"/>
        <c:minorTickMark val="none"/>
        <c:tickLblPos val="nextTo"/>
        <c:crossAx val="1065746175"/>
        <c:crosses val="autoZero"/>
        <c:auto val="1"/>
        <c:lblAlgn val="ctr"/>
        <c:lblOffset val="100"/>
        <c:noMultiLvlLbl val="0"/>
      </c:catAx>
      <c:valAx>
        <c:axId val="1065746175"/>
        <c:scaling>
          <c:orientation val="minMax"/>
          <c:max val="2.2999999999999998"/>
          <c:min val="0.60000000000000009"/>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ru-RU" sz="1200" b="0" i="0" u="none" strike="noStrike" kern="1200" baseline="0">
                    <a:solidFill>
                      <a:sysClr val="windowText" lastClr="000000"/>
                    </a:solidFill>
                  </a:rPr>
                  <a:t>Процент роста</a:t>
                </a:r>
              </a:p>
            </c:rich>
          </c:tx>
          <c:layout>
            <c:manualLayout>
              <c:xMode val="edge"/>
              <c:yMode val="edge"/>
              <c:x val="2.2944614230574947E-3"/>
              <c:y val="0.22949635165927532"/>
            </c:manualLayout>
          </c:layout>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ru-RU"/>
            </a:p>
          </c:txPr>
        </c:title>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ru-RU"/>
          </a:p>
        </c:txPr>
        <c:crossAx val="1062012543"/>
        <c:crosses val="autoZero"/>
        <c:crossBetween val="between"/>
        <c:majorUnit val="0.30000000000000004"/>
      </c:valAx>
      <c:spPr>
        <a:noFill/>
        <a:ln>
          <a:noFill/>
        </a:ln>
        <a:effectLst/>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ru-RU"/>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ru-RU"/>
    </a:p>
  </c:txPr>
  <c:externalData r:id="rId3">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pivotSource>
    <c:name>[09 08_24_0966b5d229800076.83554415Задание2_Асмандияров_Раиль (1).xlsx]Задание 3!Сводная таблица4</c:name>
    <c:fmtId val="8"/>
  </c:pivotSource>
  <c:chart>
    <c:autoTitleDeleted val="1"/>
    <c:pivotFmts>
      <c:pivotFmt>
        <c:idx val="0"/>
        <c:spPr>
          <a:solidFill>
            <a:schemeClr val="accent1"/>
          </a:solidFill>
          <a:ln>
            <a:noFill/>
          </a:ln>
          <a:effectLst/>
        </c:spPr>
        <c:marker>
          <c:symbol val="none"/>
        </c:marker>
        <c:dLbl>
          <c:idx val="0"/>
          <c:spPr>
            <a:solidFill>
              <a:schemeClr val="bg1">
                <a:alpha val="62000"/>
              </a:schemeClr>
            </a:solid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ru-RU"/>
            </a:p>
          </c:txPr>
          <c:showLegendKey val="0"/>
          <c:showVal val="1"/>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numFmt formatCode="General" sourceLinked="0"/>
          <c:spPr>
            <a:solidFill>
              <a:schemeClr val="bg1">
                <a:alpha val="61000"/>
              </a:schemeClr>
            </a:solid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ru-RU"/>
            </a:p>
          </c:txPr>
          <c:showLegendKey val="0"/>
          <c:showVal val="1"/>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ru-RU"/>
            </a:p>
          </c:txPr>
          <c:showLegendKey val="0"/>
          <c:showVal val="0"/>
          <c:showCatName val="0"/>
          <c:showSerName val="0"/>
          <c:showPercent val="0"/>
          <c:showBubbleSize val="0"/>
          <c:extLst>
            <c:ext xmlns:c15="http://schemas.microsoft.com/office/drawing/2012/chart" uri="{CE6537A1-D6FC-4f65-9D91-7224C49458BB}"/>
          </c:extLst>
        </c:dLbl>
      </c:pivotFmt>
      <c:pivotFmt>
        <c:idx val="3"/>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ru-RU"/>
            </a:p>
          </c:txPr>
          <c:showLegendKey val="0"/>
          <c:showVal val="0"/>
          <c:showCatName val="0"/>
          <c:showSerName val="0"/>
          <c:showPercent val="0"/>
          <c:showBubbleSize val="0"/>
          <c:extLst>
            <c:ext xmlns:c15="http://schemas.microsoft.com/office/drawing/2012/chart" uri="{CE6537A1-D6FC-4f65-9D91-7224C49458BB}"/>
          </c:extLst>
        </c:dLbl>
      </c:pivotFmt>
      <c:pivotFmt>
        <c:idx val="4"/>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ru-RU"/>
            </a:p>
          </c:txPr>
          <c:showLegendKey val="0"/>
          <c:showVal val="0"/>
          <c:showCatName val="0"/>
          <c:showSerName val="0"/>
          <c:showPercent val="0"/>
          <c:showBubbleSize val="0"/>
          <c:extLst>
            <c:ext xmlns:c15="http://schemas.microsoft.com/office/drawing/2012/chart" uri="{CE6537A1-D6FC-4f65-9D91-7224C49458BB}"/>
          </c:extLst>
        </c:dLbl>
      </c:pivotFmt>
      <c:pivotFmt>
        <c:idx val="5"/>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ru-RU"/>
            </a:p>
          </c:txPr>
          <c:showLegendKey val="0"/>
          <c:showVal val="0"/>
          <c:showCatName val="0"/>
          <c:showSerName val="0"/>
          <c:showPercent val="0"/>
          <c:showBubbleSize val="0"/>
          <c:extLst>
            <c:ext xmlns:c15="http://schemas.microsoft.com/office/drawing/2012/chart" uri="{CE6537A1-D6FC-4f65-9D91-7224C49458BB}"/>
          </c:extLst>
        </c:dLbl>
      </c:pivotFmt>
      <c:pivotFmt>
        <c:idx val="6"/>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ru-RU"/>
            </a:p>
          </c:txPr>
          <c:showLegendKey val="0"/>
          <c:showVal val="0"/>
          <c:showCatName val="0"/>
          <c:showSerName val="0"/>
          <c:showPercent val="0"/>
          <c:showBubbleSize val="0"/>
          <c:extLst>
            <c:ext xmlns:c15="http://schemas.microsoft.com/office/drawing/2012/chart" uri="{CE6537A1-D6FC-4f65-9D91-7224C49458BB}"/>
          </c:extLst>
        </c:dLbl>
      </c:pivotFmt>
      <c:pivotFmt>
        <c:idx val="7"/>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ru-RU"/>
            </a:p>
          </c:txPr>
          <c:showLegendKey val="0"/>
          <c:showVal val="0"/>
          <c:showCatName val="0"/>
          <c:showSerName val="0"/>
          <c:showPercent val="0"/>
          <c:showBubbleSize val="0"/>
          <c:extLst>
            <c:ext xmlns:c15="http://schemas.microsoft.com/office/drawing/2012/chart" uri="{CE6537A1-D6FC-4f65-9D91-7224C49458BB}"/>
          </c:extLst>
        </c:dLbl>
      </c:pivotFmt>
    </c:pivotFmts>
    <c:plotArea>
      <c:layout>
        <c:manualLayout>
          <c:layoutTarget val="inner"/>
          <c:xMode val="edge"/>
          <c:yMode val="edge"/>
          <c:x val="0.10172405624693388"/>
          <c:y val="5.8084310361474684E-2"/>
          <c:w val="0.7630591672852125"/>
          <c:h val="0.7784283465797962"/>
        </c:manualLayout>
      </c:layout>
      <c:barChart>
        <c:barDir val="col"/>
        <c:grouping val="percentStacked"/>
        <c:varyColors val="0"/>
        <c:ser>
          <c:idx val="0"/>
          <c:order val="0"/>
          <c:tx>
            <c:strRef>
              <c:f>'Задание 3'!$B$1:$B$2</c:f>
              <c:strCache>
                <c:ptCount val="1"/>
                <c:pt idx="0">
                  <c:v>С кассиром</c:v>
                </c:pt>
              </c:strCache>
            </c:strRef>
          </c:tx>
          <c:spPr>
            <a:solidFill>
              <a:schemeClr val="accent1"/>
            </a:solidFill>
            <a:ln>
              <a:noFill/>
            </a:ln>
            <a:effectLst/>
          </c:spPr>
          <c:invertIfNegative val="0"/>
          <c:cat>
            <c:strRef>
              <c:f>'Задание 3'!$A$3:$A$9</c:f>
              <c:strCache>
                <c:ptCount val="6"/>
                <c:pt idx="0">
                  <c:v>Ленинский пр-т, 162/1</c:v>
                </c:pt>
                <c:pt idx="1">
                  <c:v>пр-т Вернадского, 88к3</c:v>
                </c:pt>
                <c:pt idx="2">
                  <c:v>Ракетный б-р, 14к1</c:v>
                </c:pt>
                <c:pt idx="3">
                  <c:v>Симферопольский б-р, 22</c:v>
                </c:pt>
                <c:pt idx="4">
                  <c:v>ул. Чертановская,  20к2</c:v>
                </c:pt>
                <c:pt idx="5">
                  <c:v>ул. Щорса, 26/3</c:v>
                </c:pt>
              </c:strCache>
            </c:strRef>
          </c:cat>
          <c:val>
            <c:numRef>
              <c:f>'Задание 3'!$B$3:$B$9</c:f>
              <c:numCache>
                <c:formatCode>General</c:formatCode>
                <c:ptCount val="6"/>
                <c:pt idx="0">
                  <c:v>9456</c:v>
                </c:pt>
                <c:pt idx="1">
                  <c:v>4868</c:v>
                </c:pt>
                <c:pt idx="2">
                  <c:v>5604</c:v>
                </c:pt>
                <c:pt idx="3">
                  <c:v>455</c:v>
                </c:pt>
                <c:pt idx="4">
                  <c:v>1255</c:v>
                </c:pt>
                <c:pt idx="5">
                  <c:v>3112</c:v>
                </c:pt>
              </c:numCache>
            </c:numRef>
          </c:val>
          <c:extLst>
            <c:ext xmlns:c16="http://schemas.microsoft.com/office/drawing/2014/chart" uri="{C3380CC4-5D6E-409C-BE32-E72D297353CC}">
              <c16:uniqueId val="{00000000-1CC8-4F66-BB85-894B0390CA81}"/>
            </c:ext>
          </c:extLst>
        </c:ser>
        <c:ser>
          <c:idx val="1"/>
          <c:order val="1"/>
          <c:tx>
            <c:strRef>
              <c:f>'Задание 3'!$C$1:$C$2</c:f>
              <c:strCache>
                <c:ptCount val="1"/>
                <c:pt idx="0">
                  <c:v>Самообслуживание</c:v>
                </c:pt>
              </c:strCache>
            </c:strRef>
          </c:tx>
          <c:spPr>
            <a:solidFill>
              <a:schemeClr val="accent2"/>
            </a:solidFill>
            <a:ln>
              <a:noFill/>
            </a:ln>
            <a:effectLst/>
          </c:spPr>
          <c:invertIfNegative val="0"/>
          <c:cat>
            <c:strRef>
              <c:f>'Задание 3'!$A$3:$A$9</c:f>
              <c:strCache>
                <c:ptCount val="6"/>
                <c:pt idx="0">
                  <c:v>Ленинский пр-т, 162/1</c:v>
                </c:pt>
                <c:pt idx="1">
                  <c:v>пр-т Вернадского, 88к3</c:v>
                </c:pt>
                <c:pt idx="2">
                  <c:v>Ракетный б-р, 14к1</c:v>
                </c:pt>
                <c:pt idx="3">
                  <c:v>Симферопольский б-р, 22</c:v>
                </c:pt>
                <c:pt idx="4">
                  <c:v>ул. Чертановская,  20к2</c:v>
                </c:pt>
                <c:pt idx="5">
                  <c:v>ул. Щорса, 26/3</c:v>
                </c:pt>
              </c:strCache>
            </c:strRef>
          </c:cat>
          <c:val>
            <c:numRef>
              <c:f>'Задание 3'!$C$3:$C$9</c:f>
              <c:numCache>
                <c:formatCode>General</c:formatCode>
                <c:ptCount val="6"/>
                <c:pt idx="0">
                  <c:v>1387</c:v>
                </c:pt>
                <c:pt idx="1">
                  <c:v>1761</c:v>
                </c:pt>
                <c:pt idx="3">
                  <c:v>1830</c:v>
                </c:pt>
                <c:pt idx="4">
                  <c:v>3740</c:v>
                </c:pt>
                <c:pt idx="5">
                  <c:v>1192</c:v>
                </c:pt>
              </c:numCache>
            </c:numRef>
          </c:val>
          <c:extLst>
            <c:ext xmlns:c16="http://schemas.microsoft.com/office/drawing/2014/chart" uri="{C3380CC4-5D6E-409C-BE32-E72D297353CC}">
              <c16:uniqueId val="{00000001-1CC8-4F66-BB85-894B0390CA81}"/>
            </c:ext>
          </c:extLst>
        </c:ser>
        <c:dLbls>
          <c:showLegendKey val="0"/>
          <c:showVal val="0"/>
          <c:showCatName val="0"/>
          <c:showSerName val="0"/>
          <c:showPercent val="0"/>
          <c:showBubbleSize val="0"/>
        </c:dLbls>
        <c:gapWidth val="150"/>
        <c:overlap val="100"/>
        <c:axId val="1071437151"/>
        <c:axId val="1071438591"/>
      </c:barChart>
      <c:catAx>
        <c:axId val="1071437151"/>
        <c:scaling>
          <c:orientation val="minMax"/>
        </c:scaling>
        <c:delete val="0"/>
        <c:axPos val="b"/>
        <c:title>
          <c:tx>
            <c:rich>
              <a:bodyPr rot="0" spcFirstLastPara="1" vertOverflow="ellipsis" vert="horz" wrap="square" anchor="ctr" anchorCtr="1"/>
              <a:lstStyle/>
              <a:p>
                <a:pPr>
                  <a:defRPr lang="en-US" sz="1200" b="0" i="0" u="none" strike="noStrike" kern="1200" baseline="0" smtClean="0">
                    <a:solidFill>
                      <a:sysClr val="windowText" lastClr="000000"/>
                    </a:solidFill>
                    <a:latin typeface="+mn-lt"/>
                    <a:ea typeface="+mn-ea"/>
                    <a:cs typeface="+mn-cs"/>
                  </a:defRPr>
                </a:pPr>
                <a:r>
                  <a:rPr lang="en-US" sz="1200">
                    <a:solidFill>
                      <a:sysClr val="windowText" lastClr="000000"/>
                    </a:solidFill>
                  </a:rPr>
                  <a:t>Retail outlets</a:t>
                </a:r>
              </a:p>
            </c:rich>
          </c:tx>
          <c:layout>
            <c:manualLayout>
              <c:xMode val="edge"/>
              <c:yMode val="edge"/>
              <c:x val="0.4300513522766175"/>
              <c:y val="0.92989223346732386"/>
            </c:manualLayout>
          </c:layout>
          <c:overlay val="0"/>
          <c:spPr>
            <a:noFill/>
            <a:ln>
              <a:noFill/>
            </a:ln>
            <a:effectLst/>
          </c:spPr>
          <c:txPr>
            <a:bodyPr rot="0" spcFirstLastPara="1" vertOverflow="ellipsis" vert="horz" wrap="square" anchor="ctr" anchorCtr="1"/>
            <a:lstStyle/>
            <a:p>
              <a:pPr>
                <a:defRPr lang="en-US" sz="1200" b="0" i="0" u="none" strike="noStrike" kern="1200" baseline="0" smtClean="0">
                  <a:solidFill>
                    <a:sysClr val="windowText" lastClr="000000"/>
                  </a:solidFill>
                  <a:latin typeface="+mn-lt"/>
                  <a:ea typeface="+mn-ea"/>
                  <a:cs typeface="+mn-cs"/>
                </a:defRPr>
              </a:pPr>
              <a:endParaRPr lang="ru-RU"/>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ru-RU"/>
          </a:p>
        </c:txPr>
        <c:crossAx val="1071438591"/>
        <c:crosses val="autoZero"/>
        <c:auto val="1"/>
        <c:lblAlgn val="ctr"/>
        <c:lblOffset val="100"/>
        <c:noMultiLvlLbl val="0"/>
      </c:catAx>
      <c:valAx>
        <c:axId val="1071438591"/>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lang="en-US" sz="1200" b="0" i="0" u="none" strike="noStrike" kern="1200" baseline="0" smtClean="0">
                    <a:solidFill>
                      <a:sysClr val="windowText" lastClr="000000"/>
                    </a:solidFill>
                    <a:latin typeface="+mn-lt"/>
                    <a:ea typeface="+mn-ea"/>
                    <a:cs typeface="+mn-cs"/>
                  </a:defRPr>
                </a:pPr>
                <a:r>
                  <a:rPr lang="en-US" sz="1200">
                    <a:solidFill>
                      <a:sysClr val="windowText" lastClr="000000"/>
                    </a:solidFill>
                  </a:rPr>
                  <a:t>% of self-service transactions</a:t>
                </a:r>
              </a:p>
            </c:rich>
          </c:tx>
          <c:layout>
            <c:manualLayout>
              <c:xMode val="edge"/>
              <c:yMode val="edge"/>
              <c:x val="1.7778700347223394E-2"/>
              <c:y val="0.20225138409221563"/>
            </c:manualLayout>
          </c:layout>
          <c:overlay val="0"/>
          <c:spPr>
            <a:noFill/>
            <a:ln>
              <a:noFill/>
            </a:ln>
            <a:effectLst/>
          </c:spPr>
          <c:txPr>
            <a:bodyPr rot="-5400000" spcFirstLastPara="1" vertOverflow="ellipsis" vert="horz" wrap="square" anchor="ctr" anchorCtr="1"/>
            <a:lstStyle/>
            <a:p>
              <a:pPr>
                <a:defRPr lang="en-US" sz="1200" b="0" i="0" u="none" strike="noStrike" kern="1200" baseline="0" smtClean="0">
                  <a:solidFill>
                    <a:sysClr val="windowText" lastClr="000000"/>
                  </a:solidFill>
                  <a:latin typeface="+mn-lt"/>
                  <a:ea typeface="+mn-ea"/>
                  <a:cs typeface="+mn-cs"/>
                </a:defRPr>
              </a:pPr>
              <a:endParaRPr lang="ru-RU"/>
            </a:p>
          </c:txPr>
        </c:title>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ru-RU"/>
          </a:p>
        </c:txPr>
        <c:crossAx val="1071437151"/>
        <c:crosses val="autoZero"/>
        <c:crossBetween val="between"/>
      </c:valAx>
      <c:spPr>
        <a:noFill/>
        <a:ln>
          <a:noFill/>
        </a:ln>
        <a:effectLst/>
      </c:spPr>
    </c:plotArea>
    <c:legend>
      <c:legendPos val="r"/>
      <c:layout>
        <c:manualLayout>
          <c:xMode val="edge"/>
          <c:yMode val="edge"/>
          <c:x val="0.86972523502929344"/>
          <c:y val="0.48678551331389541"/>
          <c:w val="0.11519616330719247"/>
          <c:h val="7.6497943738955951E-2"/>
        </c:manualLayout>
      </c:layout>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ru-RU"/>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ru-RU"/>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pivotSource>
    <c:name>[07 19_45_4866b3ceec4682e5.52044134Задание1_Асмандияров_Раиль.xlsx]Задание 3!Сводная таблица5</c:name>
    <c:fmtId val="6"/>
  </c:pivotSource>
  <c:chart>
    <c:autoTitleDeleted val="1"/>
    <c:pivotFmts>
      <c:pivotFmt>
        <c:idx val="0"/>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ru-RU"/>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ru-RU"/>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ru-RU"/>
            </a:p>
          </c:txPr>
          <c:showLegendKey val="0"/>
          <c:showVal val="0"/>
          <c:showCatName val="0"/>
          <c:showSerName val="0"/>
          <c:showPercent val="0"/>
          <c:showBubbleSize val="0"/>
          <c:extLst>
            <c:ext xmlns:c15="http://schemas.microsoft.com/office/drawing/2012/chart" uri="{CE6537A1-D6FC-4f65-9D91-7224C49458BB}"/>
          </c:extLst>
        </c:dLbl>
      </c:pivotFmt>
    </c:pivotFmts>
    <c:plotArea>
      <c:layout/>
      <c:lineChart>
        <c:grouping val="standard"/>
        <c:varyColors val="0"/>
        <c:ser>
          <c:idx val="0"/>
          <c:order val="0"/>
          <c:tx>
            <c:strRef>
              <c:f>'Задание 3'!$B$26</c:f>
              <c:strCache>
                <c:ptCount val="1"/>
                <c:pt idx="0">
                  <c:v>Итог</c:v>
                </c:pt>
              </c:strCache>
            </c:strRef>
          </c:tx>
          <c:spPr>
            <a:ln w="28575" cap="rnd">
              <a:solidFill>
                <a:schemeClr val="accent1"/>
              </a:solidFill>
              <a:round/>
            </a:ln>
            <a:effectLst/>
          </c:spPr>
          <c:marker>
            <c:symbol val="none"/>
          </c:marker>
          <c:cat>
            <c:strRef>
              <c:f>'Задание 3'!$A$27:$A$31</c:f>
              <c:strCache>
                <c:ptCount val="4"/>
                <c:pt idx="0">
                  <c:v>1-сен</c:v>
                </c:pt>
                <c:pt idx="1">
                  <c:v>2-сен</c:v>
                </c:pt>
                <c:pt idx="2">
                  <c:v>3-сен</c:v>
                </c:pt>
                <c:pt idx="3">
                  <c:v>4-сен</c:v>
                </c:pt>
              </c:strCache>
            </c:strRef>
          </c:cat>
          <c:val>
            <c:numRef>
              <c:f>'Задание 3'!$B$27:$B$31</c:f>
              <c:numCache>
                <c:formatCode>0.00</c:formatCode>
                <c:ptCount val="4"/>
                <c:pt idx="0">
                  <c:v>0.23085743406803413</c:v>
                </c:pt>
                <c:pt idx="1">
                  <c:v>0.22876557191392979</c:v>
                </c:pt>
                <c:pt idx="2">
                  <c:v>0.30071680509728071</c:v>
                </c:pt>
                <c:pt idx="3">
                  <c:v>0.36099255583126549</c:v>
                </c:pt>
              </c:numCache>
            </c:numRef>
          </c:val>
          <c:smooth val="0"/>
          <c:extLst>
            <c:ext xmlns:c16="http://schemas.microsoft.com/office/drawing/2014/chart" uri="{C3380CC4-5D6E-409C-BE32-E72D297353CC}">
              <c16:uniqueId val="{00000000-4BA2-426E-86F3-43FBF2D6EC25}"/>
            </c:ext>
          </c:extLst>
        </c:ser>
        <c:dLbls>
          <c:showLegendKey val="0"/>
          <c:showVal val="0"/>
          <c:showCatName val="0"/>
          <c:showSerName val="0"/>
          <c:showPercent val="0"/>
          <c:showBubbleSize val="0"/>
        </c:dLbls>
        <c:smooth val="0"/>
        <c:axId val="1682889247"/>
        <c:axId val="1682887807"/>
      </c:lineChart>
      <c:catAx>
        <c:axId val="1682889247"/>
        <c:scaling>
          <c:orientation val="minMax"/>
        </c:scaling>
        <c:delete val="0"/>
        <c:axPos val="b"/>
        <c:title>
          <c:tx>
            <c:rich>
              <a:bodyPr rot="0" spcFirstLastPara="1" vertOverflow="ellipsis" vert="horz" wrap="square" anchor="ctr" anchorCtr="1"/>
              <a:lstStyle/>
              <a:p>
                <a:pPr>
                  <a:defRPr lang="en-US" sz="1100" b="0" i="0" u="none" strike="noStrike" kern="1200" baseline="0" smtClean="0">
                    <a:solidFill>
                      <a:sysClr val="windowText" lastClr="000000"/>
                    </a:solidFill>
                    <a:latin typeface="+mn-lt"/>
                    <a:ea typeface="+mn-ea"/>
                    <a:cs typeface="+mn-cs"/>
                  </a:defRPr>
                </a:pPr>
                <a:r>
                  <a:rPr lang="en-US" sz="1100" b="0" i="0" u="none" strike="noStrike" kern="1200" baseline="0">
                    <a:solidFill>
                      <a:sysClr val="windowText" lastClr="000000"/>
                    </a:solidFill>
                  </a:rPr>
                  <a:t>Date</a:t>
                </a:r>
              </a:p>
            </c:rich>
          </c:tx>
          <c:overlay val="0"/>
          <c:spPr>
            <a:noFill/>
            <a:ln>
              <a:noFill/>
            </a:ln>
            <a:effectLst/>
          </c:spPr>
          <c:txPr>
            <a:bodyPr rot="0" spcFirstLastPara="1" vertOverflow="ellipsis" vert="horz" wrap="square" anchor="ctr" anchorCtr="1"/>
            <a:lstStyle/>
            <a:p>
              <a:pPr>
                <a:defRPr lang="en-US" sz="1100" b="0" i="0" u="none" strike="noStrike" kern="1200" baseline="0" smtClean="0">
                  <a:solidFill>
                    <a:sysClr val="windowText" lastClr="000000"/>
                  </a:solidFill>
                  <a:latin typeface="+mn-lt"/>
                  <a:ea typeface="+mn-ea"/>
                  <a:cs typeface="+mn-cs"/>
                </a:defRPr>
              </a:pPr>
              <a:endParaRPr lang="ru-RU"/>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ru-RU"/>
          </a:p>
        </c:txPr>
        <c:crossAx val="1682887807"/>
        <c:crosses val="autoZero"/>
        <c:auto val="1"/>
        <c:lblAlgn val="ctr"/>
        <c:lblOffset val="100"/>
        <c:noMultiLvlLbl val="0"/>
      </c:catAx>
      <c:valAx>
        <c:axId val="1682887807"/>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lang="en-US" sz="1200" b="0" i="0" u="none" strike="noStrike" kern="1200" baseline="0" smtClean="0">
                    <a:solidFill>
                      <a:sysClr val="windowText" lastClr="000000"/>
                    </a:solidFill>
                    <a:latin typeface="+mn-lt"/>
                    <a:ea typeface="+mn-ea"/>
                    <a:cs typeface="+mn-cs"/>
                  </a:defRPr>
                </a:pPr>
                <a:r>
                  <a:rPr lang="en-US" sz="1200">
                    <a:solidFill>
                      <a:sysClr val="windowText" lastClr="000000"/>
                    </a:solidFill>
                  </a:rPr>
                  <a:t>Share of transactions</a:t>
                </a:r>
              </a:p>
            </c:rich>
          </c:tx>
          <c:layout>
            <c:manualLayout>
              <c:xMode val="edge"/>
              <c:yMode val="edge"/>
              <c:x val="2.2972820440094119E-3"/>
              <c:y val="0.3451301527580834"/>
            </c:manualLayout>
          </c:layout>
          <c:overlay val="0"/>
          <c:spPr>
            <a:noFill/>
            <a:ln>
              <a:noFill/>
            </a:ln>
            <a:effectLst/>
          </c:spPr>
          <c:txPr>
            <a:bodyPr rot="-5400000" spcFirstLastPara="1" vertOverflow="ellipsis" vert="horz" wrap="square" anchor="ctr" anchorCtr="1"/>
            <a:lstStyle/>
            <a:p>
              <a:pPr>
                <a:defRPr lang="en-US" sz="1200" b="0" i="0" u="none" strike="noStrike" kern="1200" baseline="0" smtClean="0">
                  <a:solidFill>
                    <a:sysClr val="windowText" lastClr="000000"/>
                  </a:solidFill>
                  <a:latin typeface="+mn-lt"/>
                  <a:ea typeface="+mn-ea"/>
                  <a:cs typeface="+mn-cs"/>
                </a:defRPr>
              </a:pPr>
              <a:endParaRPr lang="ru-RU"/>
            </a:p>
          </c:txPr>
        </c:title>
        <c:numFmt formatCode="0.0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ru-RU"/>
          </a:p>
        </c:txPr>
        <c:crossAx val="1682889247"/>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ru-RU"/>
    </a:p>
  </c:txPr>
  <c:externalData r:id="rId3">
    <c:autoUpdate val="0"/>
  </c:externalData>
  <c:extLst>
    <c:ext xmlns:c14="http://schemas.microsoft.com/office/drawing/2007/8/2/chart" uri="{781A3756-C4B2-4CAC-9D66-4F8BD8637D16}">
      <c14:pivotOptions>
        <c14:dropZoneFilter val="1"/>
        <c14:dropZoneCategories val="1"/>
        <c14:dropZoneData val="1"/>
        <c14:dropZonesVisible val="1"/>
      </c14:pivotOptions>
    </c:ext>
    <c:ext xmlns:c16="http://schemas.microsoft.com/office/drawing/2014/chart" uri="{E28EC0CA-F0BB-4C9C-879D-F8772B89E7AC}">
      <c16:pivotOptions16>
        <c16:showExpandCollapseFieldButtons val="1"/>
      </c16:pivotOptions16>
    </c:ext>
  </c:extLst>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pivotSource>
    <c:name>[07 19_45_4866b3ceec4682e5.52044134Задание1_Асмандияров_Раиль.xlsx]Задание 3!Сводная таблица7</c:name>
    <c:fmtId val="8"/>
  </c:pivotSource>
  <c:chart>
    <c:autoTitleDeleted val="1"/>
    <c:pivotFmts>
      <c:pivotFmt>
        <c:idx val="0"/>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ru-RU"/>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ru-RU"/>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ru-RU"/>
            </a:p>
          </c:txPr>
          <c:showLegendKey val="0"/>
          <c:showVal val="0"/>
          <c:showCatName val="0"/>
          <c:showSerName val="0"/>
          <c:showPercent val="0"/>
          <c:showBubbleSize val="0"/>
          <c:extLst>
            <c:ext xmlns:c15="http://schemas.microsoft.com/office/drawing/2012/chart" uri="{CE6537A1-D6FC-4f65-9D91-7224C49458BB}"/>
          </c:extLst>
        </c:dLbl>
      </c:pivotFmt>
    </c:pivotFmts>
    <c:plotArea>
      <c:layout/>
      <c:lineChart>
        <c:grouping val="standard"/>
        <c:varyColors val="0"/>
        <c:ser>
          <c:idx val="0"/>
          <c:order val="0"/>
          <c:tx>
            <c:strRef>
              <c:f>'Задание 3'!$B$15</c:f>
              <c:strCache>
                <c:ptCount val="1"/>
                <c:pt idx="0">
                  <c:v>Итог</c:v>
                </c:pt>
              </c:strCache>
            </c:strRef>
          </c:tx>
          <c:spPr>
            <a:ln w="28575" cap="rnd">
              <a:solidFill>
                <a:schemeClr val="accent1"/>
              </a:solidFill>
              <a:round/>
            </a:ln>
            <a:effectLst/>
          </c:spPr>
          <c:marker>
            <c:symbol val="none"/>
          </c:marker>
          <c:cat>
            <c:strRef>
              <c:f>'Задание 3'!$A$16:$A$20</c:f>
              <c:strCache>
                <c:ptCount val="4"/>
                <c:pt idx="0">
                  <c:v>1-сен</c:v>
                </c:pt>
                <c:pt idx="1">
                  <c:v>2-сен</c:v>
                </c:pt>
                <c:pt idx="2">
                  <c:v>3-сен</c:v>
                </c:pt>
                <c:pt idx="3">
                  <c:v>4-сен</c:v>
                </c:pt>
              </c:strCache>
            </c:strRef>
          </c:cat>
          <c:val>
            <c:numRef>
              <c:f>'Задание 3'!$B$16:$B$20</c:f>
              <c:numCache>
                <c:formatCode>General</c:formatCode>
                <c:ptCount val="4"/>
                <c:pt idx="0">
                  <c:v>124.70721337497949</c:v>
                </c:pt>
                <c:pt idx="1">
                  <c:v>80.103562879249552</c:v>
                </c:pt>
                <c:pt idx="2">
                  <c:v>85.846029801290712</c:v>
                </c:pt>
                <c:pt idx="3">
                  <c:v>90.399762174202408</c:v>
                </c:pt>
              </c:numCache>
            </c:numRef>
          </c:val>
          <c:smooth val="0"/>
          <c:extLst>
            <c:ext xmlns:c16="http://schemas.microsoft.com/office/drawing/2014/chart" uri="{C3380CC4-5D6E-409C-BE32-E72D297353CC}">
              <c16:uniqueId val="{00000000-0F70-40B5-872D-AD2CCC8C18EE}"/>
            </c:ext>
          </c:extLst>
        </c:ser>
        <c:dLbls>
          <c:showLegendKey val="0"/>
          <c:showVal val="0"/>
          <c:showCatName val="0"/>
          <c:showSerName val="0"/>
          <c:showPercent val="0"/>
          <c:showBubbleSize val="0"/>
        </c:dLbls>
        <c:smooth val="0"/>
        <c:axId val="338018399"/>
        <c:axId val="338020319"/>
      </c:lineChart>
      <c:catAx>
        <c:axId val="338018399"/>
        <c:scaling>
          <c:orientation val="minMax"/>
        </c:scaling>
        <c:delete val="0"/>
        <c:axPos val="b"/>
        <c:title>
          <c:tx>
            <c:rich>
              <a:bodyPr rot="0" spcFirstLastPara="1" vertOverflow="ellipsis" vert="horz" wrap="square" anchor="ctr" anchorCtr="1"/>
              <a:lstStyle/>
              <a:p>
                <a:pPr>
                  <a:defRPr lang="en-US" sz="1100" b="0" i="0" u="none" strike="noStrike" kern="1200" baseline="0" smtClean="0">
                    <a:solidFill>
                      <a:sysClr val="windowText" lastClr="000000"/>
                    </a:solidFill>
                    <a:latin typeface="+mn-lt"/>
                    <a:ea typeface="+mn-ea"/>
                    <a:cs typeface="+mn-cs"/>
                  </a:defRPr>
                </a:pPr>
                <a:r>
                  <a:rPr lang="en-US" sz="1100">
                    <a:solidFill>
                      <a:sysClr val="windowText" lastClr="000000"/>
                    </a:solidFill>
                  </a:rPr>
                  <a:t>Date</a:t>
                </a:r>
              </a:p>
            </c:rich>
          </c:tx>
          <c:overlay val="0"/>
          <c:spPr>
            <a:noFill/>
            <a:ln>
              <a:noFill/>
            </a:ln>
            <a:effectLst/>
          </c:spPr>
          <c:txPr>
            <a:bodyPr rot="0" spcFirstLastPara="1" vertOverflow="ellipsis" vert="horz" wrap="square" anchor="ctr" anchorCtr="1"/>
            <a:lstStyle/>
            <a:p>
              <a:pPr>
                <a:defRPr lang="en-US" sz="1100" b="0" i="0" u="none" strike="noStrike" kern="1200" baseline="0" smtClean="0">
                  <a:solidFill>
                    <a:sysClr val="windowText" lastClr="000000"/>
                  </a:solidFill>
                  <a:latin typeface="+mn-lt"/>
                  <a:ea typeface="+mn-ea"/>
                  <a:cs typeface="+mn-cs"/>
                </a:defRPr>
              </a:pPr>
              <a:endParaRPr lang="ru-RU"/>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ru-RU"/>
          </a:p>
        </c:txPr>
        <c:crossAx val="338020319"/>
        <c:crosses val="autoZero"/>
        <c:auto val="1"/>
        <c:lblAlgn val="ctr"/>
        <c:lblOffset val="100"/>
        <c:noMultiLvlLbl val="0"/>
      </c:catAx>
      <c:valAx>
        <c:axId val="338020319"/>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200" b="0" i="0" u="none" strike="noStrike" kern="1200" baseline="0">
                    <a:solidFill>
                      <a:schemeClr val="tx1">
                        <a:lumMod val="65000"/>
                        <a:lumOff val="35000"/>
                      </a:schemeClr>
                    </a:solidFill>
                    <a:latin typeface="+mn-lt"/>
                    <a:ea typeface="+mn-ea"/>
                    <a:cs typeface="+mn-cs"/>
                  </a:defRPr>
                </a:pPr>
                <a:r>
                  <a:rPr lang="ru-RU" sz="1200" dirty="0">
                    <a:solidFill>
                      <a:sysClr val="windowText" lastClr="000000"/>
                    </a:solidFill>
                  </a:rPr>
                  <a:t>Длительность</a:t>
                </a:r>
                <a:r>
                  <a:rPr lang="ru-RU" sz="1200" baseline="0" dirty="0">
                    <a:solidFill>
                      <a:sysClr val="windowText" lastClr="000000"/>
                    </a:solidFill>
                  </a:rPr>
                  <a:t> обслуживания</a:t>
                </a:r>
                <a:endParaRPr lang="ru-RU" sz="1200" dirty="0">
                  <a:solidFill>
                    <a:sysClr val="windowText" lastClr="000000"/>
                  </a:solidFill>
                </a:endParaRPr>
              </a:p>
            </c:rich>
          </c:tx>
          <c:layout>
            <c:manualLayout>
              <c:xMode val="edge"/>
              <c:yMode val="edge"/>
              <c:x val="4.0898855917364456E-4"/>
              <c:y val="0.31174114664566238"/>
            </c:manualLayout>
          </c:layout>
          <c:overlay val="0"/>
          <c:spPr>
            <a:noFill/>
            <a:ln>
              <a:noFill/>
            </a:ln>
            <a:effectLst/>
          </c:spPr>
          <c:txPr>
            <a:bodyPr rot="-5400000" spcFirstLastPara="1" vertOverflow="ellipsis" vert="horz" wrap="square" anchor="ctr" anchorCtr="1"/>
            <a:lstStyle/>
            <a:p>
              <a:pPr>
                <a:defRPr sz="1200" b="0" i="0" u="none" strike="noStrike" kern="1200" baseline="0">
                  <a:solidFill>
                    <a:schemeClr val="tx1">
                      <a:lumMod val="65000"/>
                      <a:lumOff val="35000"/>
                    </a:schemeClr>
                  </a:solidFill>
                  <a:latin typeface="+mn-lt"/>
                  <a:ea typeface="+mn-ea"/>
                  <a:cs typeface="+mn-cs"/>
                </a:defRPr>
              </a:pPr>
              <a:endParaRPr lang="ru-RU"/>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ru-RU"/>
          </a:p>
        </c:txPr>
        <c:crossAx val="338018399"/>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ru-RU"/>
    </a:p>
  </c:txPr>
  <c:externalData r:id="rId3">
    <c:autoUpdate val="0"/>
  </c:externalData>
  <c:extLst>
    <c:ext xmlns:c14="http://schemas.microsoft.com/office/drawing/2007/8/2/chart" uri="{781A3756-C4B2-4CAC-9D66-4F8BD8637D16}">
      <c14:pivotOptions>
        <c14:dropZoneFilter val="1"/>
        <c14:dropZoneCategories val="1"/>
        <c14:dropZoneData val="1"/>
        <c14:dropZonesVisible val="1"/>
      </c14:pivotOptions>
    </c:ext>
    <c:ext xmlns:c16="http://schemas.microsoft.com/office/drawing/2014/chart" uri="{E28EC0CA-F0BB-4C9C-879D-F8772B89E7AC}">
      <c16:pivotOptions16>
        <c16:showExpandCollapseFieldButtons val="1"/>
      </c16:pivotOptions16>
    </c:ext>
  </c:extLst>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pivotSource>
    <c:name>[09 08_24_0966b5d229800076.83554415Задание2_Асмандияров_Раиль (1).xlsx]Задание 1!Сводная таблица3</c:name>
    <c:fmtId val="12"/>
  </c:pivotSource>
  <c:chart>
    <c:autoTitleDeleted val="1"/>
    <c:pivotFmts>
      <c:pivotFmt>
        <c:idx val="0"/>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ru-RU"/>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ru-RU"/>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ru-RU"/>
            </a:p>
          </c:txPr>
          <c:showLegendKey val="0"/>
          <c:showVal val="0"/>
          <c:showCatName val="0"/>
          <c:showSerName val="0"/>
          <c:showPercent val="0"/>
          <c:showBubbleSize val="0"/>
          <c:extLst>
            <c:ext xmlns:c15="http://schemas.microsoft.com/office/drawing/2012/chart" uri="{CE6537A1-D6FC-4f65-9D91-7224C49458BB}"/>
          </c:extLst>
        </c:dLbl>
      </c:pivotFmt>
      <c:pivotFmt>
        <c:idx val="3"/>
        <c:spPr>
          <a:solidFill>
            <a:schemeClr val="accent1"/>
          </a:solidFill>
          <a:ln w="28575" cap="rnd">
            <a:solidFill>
              <a:schemeClr val="accent1"/>
            </a:solidFill>
            <a:round/>
          </a:ln>
          <a:effectLst/>
        </c:spPr>
        <c:marker>
          <c:symbol val="none"/>
        </c:marker>
      </c:pivotFmt>
      <c:pivotFmt>
        <c:idx val="4"/>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ru-RU"/>
            </a:p>
          </c:txPr>
          <c:showLegendKey val="0"/>
          <c:showVal val="0"/>
          <c:showCatName val="0"/>
          <c:showSerName val="0"/>
          <c:showPercent val="0"/>
          <c:showBubbleSize val="0"/>
          <c:extLst>
            <c:ext xmlns:c15="http://schemas.microsoft.com/office/drawing/2012/chart" uri="{CE6537A1-D6FC-4f65-9D91-7224C49458BB}"/>
          </c:extLst>
        </c:dLbl>
      </c:pivotFmt>
      <c:pivotFmt>
        <c:idx val="5"/>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ru-RU"/>
            </a:p>
          </c:txPr>
          <c:showLegendKey val="0"/>
          <c:showVal val="0"/>
          <c:showCatName val="0"/>
          <c:showSerName val="0"/>
          <c:showPercent val="0"/>
          <c:showBubbleSize val="0"/>
          <c:extLst>
            <c:ext xmlns:c15="http://schemas.microsoft.com/office/drawing/2012/chart" uri="{CE6537A1-D6FC-4f65-9D91-7224C49458BB}"/>
          </c:extLst>
        </c:dLbl>
      </c:pivotFmt>
      <c:pivotFmt>
        <c:idx val="6"/>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ru-RU"/>
            </a:p>
          </c:txPr>
          <c:showLegendKey val="0"/>
          <c:showVal val="0"/>
          <c:showCatName val="0"/>
          <c:showSerName val="0"/>
          <c:showPercent val="0"/>
          <c:showBubbleSize val="0"/>
          <c:extLst>
            <c:ext xmlns:c15="http://schemas.microsoft.com/office/drawing/2012/chart" uri="{CE6537A1-D6FC-4f65-9D91-7224C49458BB}"/>
          </c:extLst>
        </c:dLbl>
      </c:pivotFmt>
      <c:pivotFmt>
        <c:idx val="7"/>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ru-RU"/>
            </a:p>
          </c:txPr>
          <c:showLegendKey val="0"/>
          <c:showVal val="0"/>
          <c:showCatName val="0"/>
          <c:showSerName val="0"/>
          <c:showPercent val="0"/>
          <c:showBubbleSize val="0"/>
          <c:extLst>
            <c:ext xmlns:c15="http://schemas.microsoft.com/office/drawing/2012/chart" uri="{CE6537A1-D6FC-4f65-9D91-7224C49458BB}"/>
          </c:extLst>
        </c:dLbl>
      </c:pivotFmt>
      <c:pivotFmt>
        <c:idx val="8"/>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ru-RU"/>
            </a:p>
          </c:txPr>
          <c:showLegendKey val="0"/>
          <c:showVal val="0"/>
          <c:showCatName val="0"/>
          <c:showSerName val="0"/>
          <c:showPercent val="0"/>
          <c:showBubbleSize val="0"/>
          <c:extLst>
            <c:ext xmlns:c15="http://schemas.microsoft.com/office/drawing/2012/chart" uri="{CE6537A1-D6FC-4f65-9D91-7224C49458BB}"/>
          </c:extLst>
        </c:dLbl>
      </c:pivotFmt>
      <c:pivotFmt>
        <c:idx val="9"/>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ru-RU"/>
            </a:p>
          </c:txPr>
          <c:showLegendKey val="0"/>
          <c:showVal val="0"/>
          <c:showCatName val="0"/>
          <c:showSerName val="0"/>
          <c:showPercent val="0"/>
          <c:showBubbleSize val="0"/>
          <c:extLst>
            <c:ext xmlns:c15="http://schemas.microsoft.com/office/drawing/2012/chart" uri="{CE6537A1-D6FC-4f65-9D91-7224C49458BB}"/>
          </c:extLst>
        </c:dLbl>
      </c:pivotFmt>
      <c:pivotFmt>
        <c:idx val="10"/>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ru-RU"/>
            </a:p>
          </c:txPr>
          <c:showLegendKey val="0"/>
          <c:showVal val="0"/>
          <c:showCatName val="0"/>
          <c:showSerName val="0"/>
          <c:showPercent val="0"/>
          <c:showBubbleSize val="0"/>
          <c:extLst>
            <c:ext xmlns:c15="http://schemas.microsoft.com/office/drawing/2012/chart" uri="{CE6537A1-D6FC-4f65-9D91-7224C49458BB}"/>
          </c:extLst>
        </c:dLbl>
      </c:pivotFmt>
      <c:pivotFmt>
        <c:idx val="11"/>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ru-RU"/>
            </a:p>
          </c:txPr>
          <c:showLegendKey val="0"/>
          <c:showVal val="0"/>
          <c:showCatName val="0"/>
          <c:showSerName val="0"/>
          <c:showPercent val="0"/>
          <c:showBubbleSize val="0"/>
          <c:extLst>
            <c:ext xmlns:c15="http://schemas.microsoft.com/office/drawing/2012/chart" uri="{CE6537A1-D6FC-4f65-9D91-7224C49458BB}"/>
          </c:extLst>
        </c:dLbl>
      </c:pivotFmt>
      <c:pivotFmt>
        <c:idx val="12"/>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ru-RU"/>
            </a:p>
          </c:txPr>
          <c:showLegendKey val="0"/>
          <c:showVal val="0"/>
          <c:showCatName val="0"/>
          <c:showSerName val="0"/>
          <c:showPercent val="0"/>
          <c:showBubbleSize val="0"/>
          <c:extLst>
            <c:ext xmlns:c15="http://schemas.microsoft.com/office/drawing/2012/chart" uri="{CE6537A1-D6FC-4f65-9D91-7224C49458BB}"/>
          </c:extLst>
        </c:dLbl>
      </c:pivotFmt>
    </c:pivotFmts>
    <c:plotArea>
      <c:layout/>
      <c:lineChart>
        <c:grouping val="standard"/>
        <c:varyColors val="0"/>
        <c:ser>
          <c:idx val="0"/>
          <c:order val="0"/>
          <c:tx>
            <c:strRef>
              <c:f>'Задание 1'!$B$97:$B$98</c:f>
              <c:strCache>
                <c:ptCount val="1"/>
                <c:pt idx="0">
                  <c:v>1</c:v>
                </c:pt>
              </c:strCache>
            </c:strRef>
          </c:tx>
          <c:spPr>
            <a:ln w="28575" cap="rnd">
              <a:solidFill>
                <a:schemeClr val="accent1"/>
              </a:solidFill>
              <a:round/>
            </a:ln>
            <a:effectLst/>
          </c:spPr>
          <c:marker>
            <c:symbol val="none"/>
          </c:marker>
          <c:cat>
            <c:strRef>
              <c:f>'Задание 1'!$A$99:$A$122</c:f>
              <c:strCache>
                <c:ptCount val="24"/>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strCache>
            </c:strRef>
          </c:cat>
          <c:val>
            <c:numRef>
              <c:f>'Задание 1'!$B$99:$B$122</c:f>
              <c:numCache>
                <c:formatCode>General</c:formatCode>
                <c:ptCount val="24"/>
                <c:pt idx="0">
                  <c:v>104.41928386907698</c:v>
                </c:pt>
                <c:pt idx="1">
                  <c:v>97.733484233829714</c:v>
                </c:pt>
                <c:pt idx="2">
                  <c:v>101.53019029597492</c:v>
                </c:pt>
                <c:pt idx="3">
                  <c:v>111.66237303487759</c:v>
                </c:pt>
                <c:pt idx="4">
                  <c:v>106.48746229266723</c:v>
                </c:pt>
                <c:pt idx="5">
                  <c:v>119.98522965791258</c:v>
                </c:pt>
                <c:pt idx="6">
                  <c:v>114.89238305445606</c:v>
                </c:pt>
                <c:pt idx="7">
                  <c:v>98.251909601544995</c:v>
                </c:pt>
                <c:pt idx="8">
                  <c:v>106.22604730306193</c:v>
                </c:pt>
                <c:pt idx="9">
                  <c:v>106.8824802599424</c:v>
                </c:pt>
                <c:pt idx="10">
                  <c:v>102.15165054666961</c:v>
                </c:pt>
                <c:pt idx="11">
                  <c:v>101.84691676416486</c:v>
                </c:pt>
                <c:pt idx="12">
                  <c:v>102.65834644467472</c:v>
                </c:pt>
                <c:pt idx="13">
                  <c:v>111.59693732258491</c:v>
                </c:pt>
                <c:pt idx="14">
                  <c:v>101.72276725515678</c:v>
                </c:pt>
                <c:pt idx="15">
                  <c:v>103.83529720230676</c:v>
                </c:pt>
                <c:pt idx="16">
                  <c:v>105.71992502647426</c:v>
                </c:pt>
                <c:pt idx="17">
                  <c:v>105.54042363528382</c:v>
                </c:pt>
                <c:pt idx="18">
                  <c:v>103.84148513141992</c:v>
                </c:pt>
                <c:pt idx="19">
                  <c:v>96.675392605167175</c:v>
                </c:pt>
                <c:pt idx="20">
                  <c:v>105.86156868802604</c:v>
                </c:pt>
                <c:pt idx="21">
                  <c:v>106.91509342100245</c:v>
                </c:pt>
                <c:pt idx="22">
                  <c:v>105.5306700476912</c:v>
                </c:pt>
                <c:pt idx="23">
                  <c:v>104.5647823655745</c:v>
                </c:pt>
              </c:numCache>
            </c:numRef>
          </c:val>
          <c:smooth val="0"/>
          <c:extLst>
            <c:ext xmlns:c16="http://schemas.microsoft.com/office/drawing/2014/chart" uri="{C3380CC4-5D6E-409C-BE32-E72D297353CC}">
              <c16:uniqueId val="{00000000-2AB3-4A76-BF81-F8C2A8ED3EF3}"/>
            </c:ext>
          </c:extLst>
        </c:ser>
        <c:ser>
          <c:idx val="1"/>
          <c:order val="1"/>
          <c:tx>
            <c:strRef>
              <c:f>'Задание 1'!$C$97:$C$98</c:f>
              <c:strCache>
                <c:ptCount val="1"/>
                <c:pt idx="0">
                  <c:v>2</c:v>
                </c:pt>
              </c:strCache>
            </c:strRef>
          </c:tx>
          <c:spPr>
            <a:ln w="28575" cap="rnd">
              <a:solidFill>
                <a:schemeClr val="accent2"/>
              </a:solidFill>
              <a:round/>
            </a:ln>
            <a:effectLst/>
          </c:spPr>
          <c:marker>
            <c:symbol val="none"/>
          </c:marker>
          <c:cat>
            <c:strRef>
              <c:f>'Задание 1'!$A$99:$A$122</c:f>
              <c:strCache>
                <c:ptCount val="24"/>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strCache>
            </c:strRef>
          </c:cat>
          <c:val>
            <c:numRef>
              <c:f>'Задание 1'!$C$99:$C$122</c:f>
              <c:numCache>
                <c:formatCode>General</c:formatCode>
                <c:ptCount val="24"/>
                <c:pt idx="0">
                  <c:v>79.910947669525711</c:v>
                </c:pt>
                <c:pt idx="1">
                  <c:v>80.63842551687766</c:v>
                </c:pt>
                <c:pt idx="2">
                  <c:v>79.093473396166502</c:v>
                </c:pt>
                <c:pt idx="3">
                  <c:v>80.01550158401038</c:v>
                </c:pt>
                <c:pt idx="4">
                  <c:v>80.823481005049786</c:v>
                </c:pt>
                <c:pt idx="5">
                  <c:v>76.482168514210215</c:v>
                </c:pt>
                <c:pt idx="6">
                  <c:v>77.491910555456741</c:v>
                </c:pt>
                <c:pt idx="7">
                  <c:v>76.459434362894044</c:v>
                </c:pt>
                <c:pt idx="8">
                  <c:v>78.198400406857886</c:v>
                </c:pt>
                <c:pt idx="9">
                  <c:v>77.451604980104975</c:v>
                </c:pt>
                <c:pt idx="10">
                  <c:v>77.262113383994063</c:v>
                </c:pt>
                <c:pt idx="11">
                  <c:v>98.171027385722965</c:v>
                </c:pt>
                <c:pt idx="12">
                  <c:v>101.41461545117396</c:v>
                </c:pt>
                <c:pt idx="13">
                  <c:v>102.99670858390206</c:v>
                </c:pt>
                <c:pt idx="14">
                  <c:v>101.95506233442575</c:v>
                </c:pt>
                <c:pt idx="15">
                  <c:v>103.93305544312929</c:v>
                </c:pt>
                <c:pt idx="16">
                  <c:v>76.337586032459512</c:v>
                </c:pt>
                <c:pt idx="17">
                  <c:v>74.813985988195682</c:v>
                </c:pt>
                <c:pt idx="18">
                  <c:v>77.569320765975121</c:v>
                </c:pt>
                <c:pt idx="19">
                  <c:v>83.086488959716561</c:v>
                </c:pt>
                <c:pt idx="20">
                  <c:v>78.655182505100669</c:v>
                </c:pt>
                <c:pt idx="21">
                  <c:v>77.19678943050512</c:v>
                </c:pt>
                <c:pt idx="22">
                  <c:v>77.578318452284265</c:v>
                </c:pt>
                <c:pt idx="23">
                  <c:v>79.675955108686026</c:v>
                </c:pt>
              </c:numCache>
            </c:numRef>
          </c:val>
          <c:smooth val="0"/>
          <c:extLst>
            <c:ext xmlns:c16="http://schemas.microsoft.com/office/drawing/2014/chart" uri="{C3380CC4-5D6E-409C-BE32-E72D297353CC}">
              <c16:uniqueId val="{00000001-2AB3-4A76-BF81-F8C2A8ED3EF3}"/>
            </c:ext>
          </c:extLst>
        </c:ser>
        <c:ser>
          <c:idx val="2"/>
          <c:order val="2"/>
          <c:tx>
            <c:strRef>
              <c:f>'Задание 1'!$D$97:$D$98</c:f>
              <c:strCache>
                <c:ptCount val="1"/>
                <c:pt idx="0">
                  <c:v>3</c:v>
                </c:pt>
              </c:strCache>
            </c:strRef>
          </c:tx>
          <c:spPr>
            <a:ln w="28575" cap="rnd">
              <a:solidFill>
                <a:schemeClr val="accent3"/>
              </a:solidFill>
              <a:round/>
            </a:ln>
            <a:effectLst/>
          </c:spPr>
          <c:marker>
            <c:symbol val="none"/>
          </c:marker>
          <c:cat>
            <c:strRef>
              <c:f>'Задание 1'!$A$99:$A$122</c:f>
              <c:strCache>
                <c:ptCount val="24"/>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strCache>
            </c:strRef>
          </c:cat>
          <c:val>
            <c:numRef>
              <c:f>'Задание 1'!$D$99:$D$122</c:f>
              <c:numCache>
                <c:formatCode>General</c:formatCode>
                <c:ptCount val="24"/>
                <c:pt idx="0">
                  <c:v>105.28664511049637</c:v>
                </c:pt>
                <c:pt idx="1">
                  <c:v>104.92973921194023</c:v>
                </c:pt>
                <c:pt idx="2">
                  <c:v>103.94959526897203</c:v>
                </c:pt>
                <c:pt idx="3">
                  <c:v>108.43586895428005</c:v>
                </c:pt>
                <c:pt idx="4">
                  <c:v>105.78364279345304</c:v>
                </c:pt>
                <c:pt idx="5">
                  <c:v>108.33842934056696</c:v>
                </c:pt>
                <c:pt idx="6">
                  <c:v>109.71762637313651</c:v>
                </c:pt>
                <c:pt idx="7">
                  <c:v>103.64259157133417</c:v>
                </c:pt>
                <c:pt idx="8">
                  <c:v>103.85962874044789</c:v>
                </c:pt>
                <c:pt idx="9">
                  <c:v>104.04270002841503</c:v>
                </c:pt>
                <c:pt idx="10">
                  <c:v>102.080450139885</c:v>
                </c:pt>
                <c:pt idx="11">
                  <c:v>101.10499662114307</c:v>
                </c:pt>
                <c:pt idx="12">
                  <c:v>106.58576928336285</c:v>
                </c:pt>
                <c:pt idx="13">
                  <c:v>104.78653044796353</c:v>
                </c:pt>
                <c:pt idx="14">
                  <c:v>104.43305197728741</c:v>
                </c:pt>
                <c:pt idx="15">
                  <c:v>104.98365759583456</c:v>
                </c:pt>
                <c:pt idx="16">
                  <c:v>103.52085906420419</c:v>
                </c:pt>
                <c:pt idx="17">
                  <c:v>108.50967070845358</c:v>
                </c:pt>
                <c:pt idx="18">
                  <c:v>110.01495970648055</c:v>
                </c:pt>
                <c:pt idx="19">
                  <c:v>108.38356990948921</c:v>
                </c:pt>
                <c:pt idx="20">
                  <c:v>105.77138328863705</c:v>
                </c:pt>
                <c:pt idx="21">
                  <c:v>116.34022307953967</c:v>
                </c:pt>
                <c:pt idx="22">
                  <c:v>113.89193893845587</c:v>
                </c:pt>
                <c:pt idx="23">
                  <c:v>113.86619024367941</c:v>
                </c:pt>
              </c:numCache>
            </c:numRef>
          </c:val>
          <c:smooth val="0"/>
          <c:extLst>
            <c:ext xmlns:c16="http://schemas.microsoft.com/office/drawing/2014/chart" uri="{C3380CC4-5D6E-409C-BE32-E72D297353CC}">
              <c16:uniqueId val="{00000002-2AB3-4A76-BF81-F8C2A8ED3EF3}"/>
            </c:ext>
          </c:extLst>
        </c:ser>
        <c:dLbls>
          <c:showLegendKey val="0"/>
          <c:showVal val="0"/>
          <c:showCatName val="0"/>
          <c:showSerName val="0"/>
          <c:showPercent val="0"/>
          <c:showBubbleSize val="0"/>
        </c:dLbls>
        <c:smooth val="0"/>
        <c:axId val="1057037184"/>
        <c:axId val="1057054464"/>
      </c:lineChart>
      <c:catAx>
        <c:axId val="1057037184"/>
        <c:scaling>
          <c:orientation val="minMax"/>
        </c:scaling>
        <c:delete val="0"/>
        <c:axPos val="b"/>
        <c:title>
          <c:tx>
            <c:rich>
              <a:bodyPr rot="0" spcFirstLastPara="1" vertOverflow="ellipsis" vert="horz" wrap="square" anchor="ctr" anchorCtr="1"/>
              <a:lstStyle/>
              <a:p>
                <a:pPr>
                  <a:defRPr lang="en-US" sz="1200" b="0" i="0" u="none" strike="noStrike" kern="1200" baseline="0" smtClean="0">
                    <a:solidFill>
                      <a:sysClr val="windowText" lastClr="000000"/>
                    </a:solidFill>
                    <a:latin typeface="+mn-lt"/>
                    <a:ea typeface="+mn-ea"/>
                    <a:cs typeface="+mn-cs"/>
                  </a:defRPr>
                </a:pPr>
                <a:r>
                  <a:rPr lang="en-US" sz="1200">
                    <a:solidFill>
                      <a:sysClr val="windowText" lastClr="000000"/>
                    </a:solidFill>
                  </a:rPr>
                  <a:t>Time of day</a:t>
                </a:r>
              </a:p>
            </c:rich>
          </c:tx>
          <c:layout>
            <c:manualLayout>
              <c:xMode val="edge"/>
              <c:yMode val="edge"/>
              <c:x val="0.45921440526455926"/>
              <c:y val="0.95703592647950098"/>
            </c:manualLayout>
          </c:layout>
          <c:overlay val="0"/>
          <c:spPr>
            <a:noFill/>
            <a:ln>
              <a:noFill/>
            </a:ln>
            <a:effectLst/>
          </c:spPr>
          <c:txPr>
            <a:bodyPr rot="0" spcFirstLastPara="1" vertOverflow="ellipsis" vert="horz" wrap="square" anchor="ctr" anchorCtr="1"/>
            <a:lstStyle/>
            <a:p>
              <a:pPr>
                <a:defRPr lang="en-US" sz="1200" b="0" i="0" u="none" strike="noStrike" kern="1200" baseline="0" smtClean="0">
                  <a:solidFill>
                    <a:sysClr val="windowText" lastClr="000000"/>
                  </a:solidFill>
                  <a:latin typeface="+mn-lt"/>
                  <a:ea typeface="+mn-ea"/>
                  <a:cs typeface="+mn-cs"/>
                </a:defRPr>
              </a:pPr>
              <a:endParaRPr lang="ru-RU"/>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ru-RU"/>
          </a:p>
        </c:txPr>
        <c:crossAx val="1057054464"/>
        <c:crosses val="autoZero"/>
        <c:auto val="1"/>
        <c:lblAlgn val="ctr"/>
        <c:lblOffset val="100"/>
        <c:noMultiLvlLbl val="0"/>
      </c:catAx>
      <c:valAx>
        <c:axId val="1057054464"/>
        <c:scaling>
          <c:orientation val="minMax"/>
          <c:min val="0"/>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lang="en-US" sz="1200" b="0" i="0" u="none" strike="noStrike" kern="1200" baseline="0" smtClean="0">
                    <a:solidFill>
                      <a:sysClr val="windowText" lastClr="000000"/>
                    </a:solidFill>
                    <a:latin typeface="+mn-lt"/>
                    <a:ea typeface="+mn-ea"/>
                    <a:cs typeface="+mn-cs"/>
                  </a:defRPr>
                </a:pPr>
                <a:r>
                  <a:rPr lang="en-US" sz="1200">
                    <a:solidFill>
                      <a:sysClr val="windowText" lastClr="000000"/>
                    </a:solidFill>
                  </a:rPr>
                  <a:t>Average Transaction Duration</a:t>
                </a:r>
              </a:p>
            </c:rich>
          </c:tx>
          <c:layout>
            <c:manualLayout>
              <c:xMode val="edge"/>
              <c:yMode val="edge"/>
              <c:x val="1.2077294685990338E-3"/>
              <c:y val="0.28615543083293049"/>
            </c:manualLayout>
          </c:layout>
          <c:overlay val="0"/>
          <c:spPr>
            <a:noFill/>
            <a:ln>
              <a:noFill/>
            </a:ln>
            <a:effectLst/>
          </c:spPr>
          <c:txPr>
            <a:bodyPr rot="-5400000" spcFirstLastPara="1" vertOverflow="ellipsis" vert="horz" wrap="square" anchor="ctr" anchorCtr="1"/>
            <a:lstStyle/>
            <a:p>
              <a:pPr>
                <a:defRPr lang="en-US" sz="1200" b="0" i="0" u="none" strike="noStrike" kern="1200" baseline="0" smtClean="0">
                  <a:solidFill>
                    <a:sysClr val="windowText" lastClr="000000"/>
                  </a:solidFill>
                  <a:latin typeface="+mn-lt"/>
                  <a:ea typeface="+mn-ea"/>
                  <a:cs typeface="+mn-cs"/>
                </a:defRPr>
              </a:pPr>
              <a:endParaRPr lang="ru-RU"/>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ru-RU"/>
          </a:p>
        </c:txPr>
        <c:crossAx val="1057037184"/>
        <c:crosses val="autoZero"/>
        <c:crossBetween val="between"/>
        <c:majorUnit val="10"/>
      </c:valAx>
      <c:spPr>
        <a:noFill/>
        <a:ln>
          <a:noFill/>
        </a:ln>
        <a:effectLst/>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ru-RU"/>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ru-RU"/>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hart1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pivotSource>
    <c:name>[09 08_24_0966b5d229800076.83554415Задание2_Асмандияров_Раиль (1).xlsx]Задание 1!Сводная таблица3</c:name>
    <c:fmtId val="4"/>
  </c:pivotSource>
  <c:chart>
    <c:autoTitleDeleted val="1"/>
    <c:pivotFmts>
      <c:pivotFmt>
        <c:idx val="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ru-RU"/>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ru-RU"/>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ru-RU"/>
            </a:p>
          </c:txPr>
          <c:showLegendKey val="0"/>
          <c:showVal val="0"/>
          <c:showCatName val="0"/>
          <c:showSerName val="0"/>
          <c:showPercent val="0"/>
          <c:showBubbleSize val="0"/>
          <c:extLst>
            <c:ext xmlns:c15="http://schemas.microsoft.com/office/drawing/2012/chart" uri="{CE6537A1-D6FC-4f65-9D91-7224C49458BB}"/>
          </c:extLst>
        </c:dLbl>
      </c:pivotFmt>
      <c:pivotFmt>
        <c:idx val="3"/>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ru-RU"/>
            </a:p>
          </c:txPr>
          <c:showLegendKey val="0"/>
          <c:showVal val="0"/>
          <c:showCatName val="0"/>
          <c:showSerName val="0"/>
          <c:showPercent val="0"/>
          <c:showBubbleSize val="0"/>
          <c:extLst>
            <c:ext xmlns:c15="http://schemas.microsoft.com/office/drawing/2012/chart" uri="{CE6537A1-D6FC-4f65-9D91-7224C49458BB}"/>
          </c:extLst>
        </c:dLbl>
      </c:pivotFmt>
      <c:pivotFmt>
        <c:idx val="4"/>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ru-RU"/>
            </a:p>
          </c:txPr>
          <c:showLegendKey val="0"/>
          <c:showVal val="0"/>
          <c:showCatName val="0"/>
          <c:showSerName val="0"/>
          <c:showPercent val="0"/>
          <c:showBubbleSize val="0"/>
          <c:extLst>
            <c:ext xmlns:c15="http://schemas.microsoft.com/office/drawing/2012/chart" uri="{CE6537A1-D6FC-4f65-9D91-7224C49458BB}"/>
          </c:extLst>
        </c:dLbl>
      </c:pivotFmt>
      <c:pivotFmt>
        <c:idx val="5"/>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ru-RU"/>
            </a:p>
          </c:txPr>
          <c:showLegendKey val="0"/>
          <c:showVal val="0"/>
          <c:showCatName val="0"/>
          <c:showSerName val="0"/>
          <c:showPercent val="0"/>
          <c:showBubbleSize val="0"/>
          <c:extLst>
            <c:ext xmlns:c15="http://schemas.microsoft.com/office/drawing/2012/chart" uri="{CE6537A1-D6FC-4f65-9D91-7224C49458BB}"/>
          </c:extLst>
        </c:dLbl>
      </c:pivotFmt>
      <c:pivotFmt>
        <c:idx val="6"/>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ru-RU"/>
            </a:p>
          </c:txPr>
          <c:showLegendKey val="0"/>
          <c:showVal val="0"/>
          <c:showCatName val="0"/>
          <c:showSerName val="0"/>
          <c:showPercent val="0"/>
          <c:showBubbleSize val="0"/>
          <c:extLst>
            <c:ext xmlns:c15="http://schemas.microsoft.com/office/drawing/2012/chart" uri="{CE6537A1-D6FC-4f65-9D91-7224C49458BB}"/>
          </c:extLst>
        </c:dLbl>
      </c:pivotFmt>
      <c:pivotFmt>
        <c:idx val="7"/>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ru-RU"/>
            </a:p>
          </c:txPr>
          <c:showLegendKey val="0"/>
          <c:showVal val="0"/>
          <c:showCatName val="0"/>
          <c:showSerName val="0"/>
          <c:showPercent val="0"/>
          <c:showBubbleSize val="0"/>
          <c:extLst>
            <c:ext xmlns:c15="http://schemas.microsoft.com/office/drawing/2012/chart" uri="{CE6537A1-D6FC-4f65-9D91-7224C49458BB}"/>
          </c:extLst>
        </c:dLbl>
      </c:pivotFmt>
      <c:pivotFmt>
        <c:idx val="8"/>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ru-RU"/>
            </a:p>
          </c:txPr>
          <c:showLegendKey val="0"/>
          <c:showVal val="0"/>
          <c:showCatName val="0"/>
          <c:showSerName val="0"/>
          <c:showPercent val="0"/>
          <c:showBubbleSize val="0"/>
          <c:extLst>
            <c:ext xmlns:c15="http://schemas.microsoft.com/office/drawing/2012/chart" uri="{CE6537A1-D6FC-4f65-9D91-7224C49458BB}"/>
          </c:extLst>
        </c:dLbl>
      </c:pivotFmt>
      <c:pivotFmt>
        <c:idx val="9"/>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ru-RU"/>
            </a:p>
          </c:txPr>
          <c:showLegendKey val="0"/>
          <c:showVal val="0"/>
          <c:showCatName val="0"/>
          <c:showSerName val="0"/>
          <c:showPercent val="0"/>
          <c:showBubbleSize val="0"/>
          <c:extLst>
            <c:ext xmlns:c15="http://schemas.microsoft.com/office/drawing/2012/chart" uri="{CE6537A1-D6FC-4f65-9D91-7224C49458BB}"/>
          </c:extLst>
        </c:dLbl>
      </c:pivotFmt>
      <c:pivotFmt>
        <c:idx val="1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ru-RU"/>
            </a:p>
          </c:txPr>
          <c:showLegendKey val="0"/>
          <c:showVal val="0"/>
          <c:showCatName val="0"/>
          <c:showSerName val="0"/>
          <c:showPercent val="0"/>
          <c:showBubbleSize val="0"/>
          <c:extLst>
            <c:ext xmlns:c15="http://schemas.microsoft.com/office/drawing/2012/chart" uri="{CE6537A1-D6FC-4f65-9D91-7224C49458BB}"/>
          </c:extLst>
        </c:dLbl>
      </c:pivotFmt>
      <c:pivotFmt>
        <c:idx val="1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ru-RU"/>
            </a:p>
          </c:txPr>
          <c:showLegendKey val="0"/>
          <c:showVal val="0"/>
          <c:showCatName val="0"/>
          <c:showSerName val="0"/>
          <c:showPercent val="0"/>
          <c:showBubbleSize val="0"/>
          <c:extLst>
            <c:ext xmlns:c15="http://schemas.microsoft.com/office/drawing/2012/chart" uri="{CE6537A1-D6FC-4f65-9D91-7224C49458BB}"/>
          </c:extLst>
        </c:dLbl>
      </c:pivotFmt>
    </c:pivotFmts>
    <c:plotArea>
      <c:layout/>
      <c:barChart>
        <c:barDir val="col"/>
        <c:grouping val="stacked"/>
        <c:varyColors val="0"/>
        <c:ser>
          <c:idx val="0"/>
          <c:order val="0"/>
          <c:tx>
            <c:strRef>
              <c:f>'Задание 1'!$B$97:$B$98</c:f>
              <c:strCache>
                <c:ptCount val="1"/>
                <c:pt idx="0">
                  <c:v>1</c:v>
                </c:pt>
              </c:strCache>
            </c:strRef>
          </c:tx>
          <c:spPr>
            <a:solidFill>
              <a:schemeClr val="accent1"/>
            </a:solidFill>
            <a:ln>
              <a:noFill/>
            </a:ln>
            <a:effectLst/>
          </c:spPr>
          <c:invertIfNegative val="0"/>
          <c:cat>
            <c:strRef>
              <c:f>'Задание 1'!$A$99:$A$122</c:f>
              <c:strCache>
                <c:ptCount val="24"/>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strCache>
            </c:strRef>
          </c:cat>
          <c:val>
            <c:numRef>
              <c:f>'Задание 1'!$B$99:$B$122</c:f>
              <c:numCache>
                <c:formatCode>General</c:formatCode>
                <c:ptCount val="24"/>
                <c:pt idx="0">
                  <c:v>104.41928386907698</c:v>
                </c:pt>
                <c:pt idx="1">
                  <c:v>97.733484233829714</c:v>
                </c:pt>
                <c:pt idx="2">
                  <c:v>101.53019029597492</c:v>
                </c:pt>
                <c:pt idx="3">
                  <c:v>111.66237303487759</c:v>
                </c:pt>
                <c:pt idx="4">
                  <c:v>106.48746229266723</c:v>
                </c:pt>
                <c:pt idx="5">
                  <c:v>119.98522965791258</c:v>
                </c:pt>
                <c:pt idx="6">
                  <c:v>114.89238305445606</c:v>
                </c:pt>
                <c:pt idx="7">
                  <c:v>98.251909601544995</c:v>
                </c:pt>
                <c:pt idx="8">
                  <c:v>106.22604730306193</c:v>
                </c:pt>
                <c:pt idx="9">
                  <c:v>106.8824802599424</c:v>
                </c:pt>
                <c:pt idx="10">
                  <c:v>102.15165054666961</c:v>
                </c:pt>
                <c:pt idx="11">
                  <c:v>101.84691676416486</c:v>
                </c:pt>
                <c:pt idx="12">
                  <c:v>102.65834644467472</c:v>
                </c:pt>
                <c:pt idx="13">
                  <c:v>111.59693732258491</c:v>
                </c:pt>
                <c:pt idx="14">
                  <c:v>101.72276725515678</c:v>
                </c:pt>
                <c:pt idx="15">
                  <c:v>103.83529720230676</c:v>
                </c:pt>
                <c:pt idx="16">
                  <c:v>105.71992502647426</c:v>
                </c:pt>
                <c:pt idx="17">
                  <c:v>105.54042363528382</c:v>
                </c:pt>
                <c:pt idx="18">
                  <c:v>103.84148513141992</c:v>
                </c:pt>
                <c:pt idx="19">
                  <c:v>96.675392605167175</c:v>
                </c:pt>
                <c:pt idx="20">
                  <c:v>105.86156868802604</c:v>
                </c:pt>
                <c:pt idx="21">
                  <c:v>106.91509342100245</c:v>
                </c:pt>
                <c:pt idx="22">
                  <c:v>105.5306700476912</c:v>
                </c:pt>
                <c:pt idx="23">
                  <c:v>104.5647823655745</c:v>
                </c:pt>
              </c:numCache>
            </c:numRef>
          </c:val>
          <c:extLst>
            <c:ext xmlns:c16="http://schemas.microsoft.com/office/drawing/2014/chart" uri="{C3380CC4-5D6E-409C-BE32-E72D297353CC}">
              <c16:uniqueId val="{00000000-B5C5-4ADE-9B88-28DDDE6F2C46}"/>
            </c:ext>
          </c:extLst>
        </c:ser>
        <c:ser>
          <c:idx val="1"/>
          <c:order val="1"/>
          <c:tx>
            <c:strRef>
              <c:f>'Задание 1'!$C$97:$C$98</c:f>
              <c:strCache>
                <c:ptCount val="1"/>
                <c:pt idx="0">
                  <c:v>2</c:v>
                </c:pt>
              </c:strCache>
            </c:strRef>
          </c:tx>
          <c:spPr>
            <a:solidFill>
              <a:schemeClr val="accent2"/>
            </a:solidFill>
            <a:ln>
              <a:noFill/>
            </a:ln>
            <a:effectLst/>
          </c:spPr>
          <c:invertIfNegative val="0"/>
          <c:cat>
            <c:strRef>
              <c:f>'Задание 1'!$A$99:$A$122</c:f>
              <c:strCache>
                <c:ptCount val="24"/>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strCache>
            </c:strRef>
          </c:cat>
          <c:val>
            <c:numRef>
              <c:f>'Задание 1'!$C$99:$C$122</c:f>
              <c:numCache>
                <c:formatCode>General</c:formatCode>
                <c:ptCount val="24"/>
                <c:pt idx="0">
                  <c:v>79.910947669525711</c:v>
                </c:pt>
                <c:pt idx="1">
                  <c:v>80.63842551687766</c:v>
                </c:pt>
                <c:pt idx="2">
                  <c:v>79.093473396166502</c:v>
                </c:pt>
                <c:pt idx="3">
                  <c:v>80.01550158401038</c:v>
                </c:pt>
                <c:pt idx="4">
                  <c:v>80.823481005049786</c:v>
                </c:pt>
                <c:pt idx="5">
                  <c:v>76.482168514210215</c:v>
                </c:pt>
                <c:pt idx="6">
                  <c:v>77.491910555456741</c:v>
                </c:pt>
                <c:pt idx="7">
                  <c:v>76.459434362894044</c:v>
                </c:pt>
                <c:pt idx="8">
                  <c:v>78.198400406857886</c:v>
                </c:pt>
                <c:pt idx="9">
                  <c:v>77.451604980104975</c:v>
                </c:pt>
                <c:pt idx="10">
                  <c:v>77.262113383994063</c:v>
                </c:pt>
                <c:pt idx="11">
                  <c:v>98.171027385722965</c:v>
                </c:pt>
                <c:pt idx="12">
                  <c:v>101.41461545117396</c:v>
                </c:pt>
                <c:pt idx="13">
                  <c:v>102.99670858390206</c:v>
                </c:pt>
                <c:pt idx="14">
                  <c:v>101.95506233442575</c:v>
                </c:pt>
                <c:pt idx="15">
                  <c:v>103.93305544312929</c:v>
                </c:pt>
                <c:pt idx="16">
                  <c:v>76.337586032459512</c:v>
                </c:pt>
                <c:pt idx="17">
                  <c:v>74.813985988195682</c:v>
                </c:pt>
                <c:pt idx="18">
                  <c:v>77.569320765975121</c:v>
                </c:pt>
                <c:pt idx="19">
                  <c:v>83.086488959716561</c:v>
                </c:pt>
                <c:pt idx="20">
                  <c:v>78.655182505100669</c:v>
                </c:pt>
                <c:pt idx="21">
                  <c:v>77.19678943050512</c:v>
                </c:pt>
                <c:pt idx="22">
                  <c:v>77.578318452284265</c:v>
                </c:pt>
                <c:pt idx="23">
                  <c:v>79.675955108686026</c:v>
                </c:pt>
              </c:numCache>
            </c:numRef>
          </c:val>
          <c:extLst>
            <c:ext xmlns:c16="http://schemas.microsoft.com/office/drawing/2014/chart" uri="{C3380CC4-5D6E-409C-BE32-E72D297353CC}">
              <c16:uniqueId val="{00000001-B5C5-4ADE-9B88-28DDDE6F2C46}"/>
            </c:ext>
          </c:extLst>
        </c:ser>
        <c:ser>
          <c:idx val="2"/>
          <c:order val="2"/>
          <c:tx>
            <c:strRef>
              <c:f>'Задание 1'!$D$97:$D$98</c:f>
              <c:strCache>
                <c:ptCount val="1"/>
                <c:pt idx="0">
                  <c:v>3</c:v>
                </c:pt>
              </c:strCache>
            </c:strRef>
          </c:tx>
          <c:spPr>
            <a:solidFill>
              <a:schemeClr val="accent3"/>
            </a:solidFill>
            <a:ln>
              <a:noFill/>
            </a:ln>
            <a:effectLst/>
          </c:spPr>
          <c:invertIfNegative val="0"/>
          <c:cat>
            <c:strRef>
              <c:f>'Задание 1'!$A$99:$A$122</c:f>
              <c:strCache>
                <c:ptCount val="24"/>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strCache>
            </c:strRef>
          </c:cat>
          <c:val>
            <c:numRef>
              <c:f>'Задание 1'!$D$99:$D$122</c:f>
              <c:numCache>
                <c:formatCode>General</c:formatCode>
                <c:ptCount val="24"/>
                <c:pt idx="0">
                  <c:v>105.28664511049637</c:v>
                </c:pt>
                <c:pt idx="1">
                  <c:v>104.92973921194023</c:v>
                </c:pt>
                <c:pt idx="2">
                  <c:v>103.94959526897203</c:v>
                </c:pt>
                <c:pt idx="3">
                  <c:v>108.43586895428005</c:v>
                </c:pt>
                <c:pt idx="4">
                  <c:v>105.78364279345304</c:v>
                </c:pt>
                <c:pt idx="5">
                  <c:v>108.33842934056696</c:v>
                </c:pt>
                <c:pt idx="6">
                  <c:v>109.71762637313651</c:v>
                </c:pt>
                <c:pt idx="7">
                  <c:v>103.64259157133417</c:v>
                </c:pt>
                <c:pt idx="8">
                  <c:v>103.85962874044789</c:v>
                </c:pt>
                <c:pt idx="9">
                  <c:v>104.04270002841503</c:v>
                </c:pt>
                <c:pt idx="10">
                  <c:v>102.080450139885</c:v>
                </c:pt>
                <c:pt idx="11">
                  <c:v>101.10499662114307</c:v>
                </c:pt>
                <c:pt idx="12">
                  <c:v>106.58576928336285</c:v>
                </c:pt>
                <c:pt idx="13">
                  <c:v>104.78653044796353</c:v>
                </c:pt>
                <c:pt idx="14">
                  <c:v>104.43305197728741</c:v>
                </c:pt>
                <c:pt idx="15">
                  <c:v>104.98365759583456</c:v>
                </c:pt>
                <c:pt idx="16">
                  <c:v>103.52085906420419</c:v>
                </c:pt>
                <c:pt idx="17">
                  <c:v>108.50967070845358</c:v>
                </c:pt>
                <c:pt idx="18">
                  <c:v>110.01495970648055</c:v>
                </c:pt>
                <c:pt idx="19">
                  <c:v>108.38356990948921</c:v>
                </c:pt>
                <c:pt idx="20">
                  <c:v>105.77138328863705</c:v>
                </c:pt>
                <c:pt idx="21">
                  <c:v>116.34022307953967</c:v>
                </c:pt>
                <c:pt idx="22">
                  <c:v>113.89193893845587</c:v>
                </c:pt>
                <c:pt idx="23">
                  <c:v>113.86619024367941</c:v>
                </c:pt>
              </c:numCache>
            </c:numRef>
          </c:val>
          <c:extLst>
            <c:ext xmlns:c16="http://schemas.microsoft.com/office/drawing/2014/chart" uri="{C3380CC4-5D6E-409C-BE32-E72D297353CC}">
              <c16:uniqueId val="{00000002-B5C5-4ADE-9B88-28DDDE6F2C46}"/>
            </c:ext>
          </c:extLst>
        </c:ser>
        <c:dLbls>
          <c:showLegendKey val="0"/>
          <c:showVal val="0"/>
          <c:showCatName val="0"/>
          <c:showSerName val="0"/>
          <c:showPercent val="0"/>
          <c:showBubbleSize val="0"/>
        </c:dLbls>
        <c:gapWidth val="150"/>
        <c:overlap val="100"/>
        <c:axId val="1057050624"/>
        <c:axId val="1057038144"/>
      </c:barChart>
      <c:catAx>
        <c:axId val="1057050624"/>
        <c:scaling>
          <c:orientation val="minMax"/>
        </c:scaling>
        <c:delete val="0"/>
        <c:axPos val="b"/>
        <c:title>
          <c:tx>
            <c:rich>
              <a:bodyPr rot="0" spcFirstLastPara="1" vertOverflow="ellipsis" vert="horz" wrap="square" anchor="ctr" anchorCtr="1"/>
              <a:lstStyle/>
              <a:p>
                <a:pPr>
                  <a:defRPr lang="en-US" sz="1200" b="0" i="0" u="none" strike="noStrike" kern="1200" baseline="0" smtClean="0">
                    <a:solidFill>
                      <a:sysClr val="windowText" lastClr="000000"/>
                    </a:solidFill>
                    <a:latin typeface="+mn-lt"/>
                    <a:ea typeface="+mn-ea"/>
                    <a:cs typeface="+mn-cs"/>
                  </a:defRPr>
                </a:pPr>
                <a:r>
                  <a:rPr lang="en-US" sz="1200">
                    <a:solidFill>
                      <a:sysClr val="windowText" lastClr="000000"/>
                    </a:solidFill>
                  </a:rPr>
                  <a:t>Time of day</a:t>
                </a:r>
              </a:p>
            </c:rich>
          </c:tx>
          <c:layout>
            <c:manualLayout>
              <c:xMode val="edge"/>
              <c:yMode val="edge"/>
              <c:x val="0.45167359990788286"/>
              <c:y val="0.95403022760425815"/>
            </c:manualLayout>
          </c:layout>
          <c:overlay val="0"/>
          <c:spPr>
            <a:noFill/>
            <a:ln>
              <a:noFill/>
            </a:ln>
            <a:effectLst/>
          </c:spPr>
          <c:txPr>
            <a:bodyPr rot="0" spcFirstLastPara="1" vertOverflow="ellipsis" vert="horz" wrap="square" anchor="ctr" anchorCtr="1"/>
            <a:lstStyle/>
            <a:p>
              <a:pPr>
                <a:defRPr lang="en-US" sz="1200" b="0" i="0" u="none" strike="noStrike" kern="1200" baseline="0" smtClean="0">
                  <a:solidFill>
                    <a:sysClr val="windowText" lastClr="000000"/>
                  </a:solidFill>
                  <a:latin typeface="+mn-lt"/>
                  <a:ea typeface="+mn-ea"/>
                  <a:cs typeface="+mn-cs"/>
                </a:defRPr>
              </a:pPr>
              <a:endParaRPr lang="ru-RU"/>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ru-RU"/>
          </a:p>
        </c:txPr>
        <c:crossAx val="1057038144"/>
        <c:crosses val="autoZero"/>
        <c:auto val="1"/>
        <c:lblAlgn val="ctr"/>
        <c:lblOffset val="100"/>
        <c:noMultiLvlLbl val="0"/>
      </c:catAx>
      <c:valAx>
        <c:axId val="1057038144"/>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lang="en-US" sz="1200" b="0" i="0" u="none" strike="noStrike" kern="1200" baseline="0" smtClean="0">
                    <a:solidFill>
                      <a:sysClr val="windowText" lastClr="000000"/>
                    </a:solidFill>
                    <a:latin typeface="+mn-lt"/>
                    <a:ea typeface="+mn-ea"/>
                    <a:cs typeface="+mn-cs"/>
                  </a:defRPr>
                </a:pPr>
                <a:r>
                  <a:rPr lang="en-US" sz="1200">
                    <a:solidFill>
                      <a:sysClr val="windowText" lastClr="000000"/>
                    </a:solidFill>
                  </a:rPr>
                  <a:t>Average transaction duration</a:t>
                </a:r>
              </a:p>
            </c:rich>
          </c:tx>
          <c:layout>
            <c:manualLayout>
              <c:xMode val="edge"/>
              <c:yMode val="edge"/>
              <c:x val="0"/>
              <c:y val="0.21255444112647323"/>
            </c:manualLayout>
          </c:layout>
          <c:overlay val="0"/>
          <c:spPr>
            <a:noFill/>
            <a:ln>
              <a:noFill/>
            </a:ln>
            <a:effectLst/>
          </c:spPr>
          <c:txPr>
            <a:bodyPr rot="-5400000" spcFirstLastPara="1" vertOverflow="ellipsis" vert="horz" wrap="square" anchor="ctr" anchorCtr="1"/>
            <a:lstStyle/>
            <a:p>
              <a:pPr>
                <a:defRPr lang="en-US" sz="1200" b="0" i="0" u="none" strike="noStrike" kern="1200" baseline="0" smtClean="0">
                  <a:solidFill>
                    <a:sysClr val="windowText" lastClr="000000"/>
                  </a:solidFill>
                  <a:latin typeface="+mn-lt"/>
                  <a:ea typeface="+mn-ea"/>
                  <a:cs typeface="+mn-cs"/>
                </a:defRPr>
              </a:pPr>
              <a:endParaRPr lang="ru-RU"/>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ru-RU"/>
          </a:p>
        </c:txPr>
        <c:crossAx val="1057050624"/>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ru-RU"/>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ru-RU"/>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pivotOptions>
    </c:ext>
    <c:ext xmlns:c16="http://schemas.microsoft.com/office/drawing/2014/chart" uri="{E28EC0CA-F0BB-4C9C-879D-F8772B89E7AC}">
      <c16:pivotOptions16>
        <c16:showExpandCollapseFieldButtons val="1"/>
      </c16:pivotOptions16>
    </c:ext>
  </c:extLst>
</c:chartSpace>
</file>

<file path=ppt/charts/chart1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pivotSource>
    <c:name>[09 08_24_0966b5d229800076.83554415Задание2_Асмандияров_Раиль (1).xlsx]Задание 1!Сводная таблица4</c:name>
    <c:fmtId val="5"/>
  </c:pivotSource>
  <c:chart>
    <c:autoTitleDeleted val="1"/>
    <c:pivotFmts>
      <c:pivotFmt>
        <c:idx val="0"/>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ru-RU"/>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ru-RU"/>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ru-RU"/>
            </a:p>
          </c:txPr>
          <c:showLegendKey val="0"/>
          <c:showVal val="0"/>
          <c:showCatName val="0"/>
          <c:showSerName val="0"/>
          <c:showPercent val="0"/>
          <c:showBubbleSize val="0"/>
          <c:extLst>
            <c:ext xmlns:c15="http://schemas.microsoft.com/office/drawing/2012/chart" uri="{CE6537A1-D6FC-4f65-9D91-7224C49458BB}"/>
          </c:extLst>
        </c:dLbl>
      </c:pivotFmt>
      <c:pivotFmt>
        <c:idx val="3"/>
        <c:spPr>
          <a:solidFill>
            <a:schemeClr val="accent1"/>
          </a:solidFill>
          <a:ln w="28575" cap="rnd">
            <a:solidFill>
              <a:schemeClr val="accent1"/>
            </a:solidFill>
            <a:round/>
          </a:ln>
          <a:effectLst/>
        </c:spPr>
        <c:marker>
          <c:symbol val="none"/>
        </c:marker>
      </c:pivotFmt>
      <c:pivotFmt>
        <c:idx val="4"/>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ru-RU"/>
            </a:p>
          </c:txPr>
          <c:showLegendKey val="0"/>
          <c:showVal val="0"/>
          <c:showCatName val="0"/>
          <c:showSerName val="0"/>
          <c:showPercent val="0"/>
          <c:showBubbleSize val="0"/>
          <c:extLst>
            <c:ext xmlns:c15="http://schemas.microsoft.com/office/drawing/2012/chart" uri="{CE6537A1-D6FC-4f65-9D91-7224C49458BB}"/>
          </c:extLst>
        </c:dLbl>
      </c:pivotFmt>
      <c:pivotFmt>
        <c:idx val="5"/>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ru-RU"/>
            </a:p>
          </c:txPr>
          <c:showLegendKey val="0"/>
          <c:showVal val="0"/>
          <c:showCatName val="0"/>
          <c:showSerName val="0"/>
          <c:showPercent val="0"/>
          <c:showBubbleSize val="0"/>
          <c:extLst>
            <c:ext xmlns:c15="http://schemas.microsoft.com/office/drawing/2012/chart" uri="{CE6537A1-D6FC-4f65-9D91-7224C49458BB}"/>
          </c:extLst>
        </c:dLbl>
      </c:pivotFmt>
      <c:pivotFmt>
        <c:idx val="6"/>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ru-RU"/>
            </a:p>
          </c:txPr>
          <c:showLegendKey val="0"/>
          <c:showVal val="0"/>
          <c:showCatName val="0"/>
          <c:showSerName val="0"/>
          <c:showPercent val="0"/>
          <c:showBubbleSize val="0"/>
          <c:extLst>
            <c:ext xmlns:c15="http://schemas.microsoft.com/office/drawing/2012/chart" uri="{CE6537A1-D6FC-4f65-9D91-7224C49458BB}"/>
          </c:extLst>
        </c:dLbl>
      </c:pivotFmt>
      <c:pivotFmt>
        <c:idx val="7"/>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ru-RU"/>
            </a:p>
          </c:txPr>
          <c:showLegendKey val="0"/>
          <c:showVal val="0"/>
          <c:showCatName val="0"/>
          <c:showSerName val="0"/>
          <c:showPercent val="0"/>
          <c:showBubbleSize val="0"/>
          <c:extLst>
            <c:ext xmlns:c15="http://schemas.microsoft.com/office/drawing/2012/chart" uri="{CE6537A1-D6FC-4f65-9D91-7224C49458BB}"/>
          </c:extLst>
        </c:dLbl>
      </c:pivotFmt>
      <c:pivotFmt>
        <c:idx val="8"/>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ru-RU"/>
            </a:p>
          </c:txPr>
          <c:showLegendKey val="0"/>
          <c:showVal val="0"/>
          <c:showCatName val="0"/>
          <c:showSerName val="0"/>
          <c:showPercent val="0"/>
          <c:showBubbleSize val="0"/>
          <c:extLst>
            <c:ext xmlns:c15="http://schemas.microsoft.com/office/drawing/2012/chart" uri="{CE6537A1-D6FC-4f65-9D91-7224C49458BB}"/>
          </c:extLst>
        </c:dLbl>
      </c:pivotFmt>
      <c:pivotFmt>
        <c:idx val="9"/>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ru-RU"/>
            </a:p>
          </c:txPr>
          <c:showLegendKey val="0"/>
          <c:showVal val="0"/>
          <c:showCatName val="0"/>
          <c:showSerName val="0"/>
          <c:showPercent val="0"/>
          <c:showBubbleSize val="0"/>
          <c:extLst>
            <c:ext xmlns:c15="http://schemas.microsoft.com/office/drawing/2012/chart" uri="{CE6537A1-D6FC-4f65-9D91-7224C49458BB}"/>
          </c:extLst>
        </c:dLbl>
      </c:pivotFmt>
      <c:pivotFmt>
        <c:idx val="10"/>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ru-RU"/>
            </a:p>
          </c:txPr>
          <c:showLegendKey val="0"/>
          <c:showVal val="0"/>
          <c:showCatName val="0"/>
          <c:showSerName val="0"/>
          <c:showPercent val="0"/>
          <c:showBubbleSize val="0"/>
          <c:extLst>
            <c:ext xmlns:c15="http://schemas.microsoft.com/office/drawing/2012/chart" uri="{CE6537A1-D6FC-4f65-9D91-7224C49458BB}"/>
          </c:extLst>
        </c:dLbl>
      </c:pivotFmt>
      <c:pivotFmt>
        <c:idx val="11"/>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ru-RU"/>
            </a:p>
          </c:txPr>
          <c:showLegendKey val="0"/>
          <c:showVal val="0"/>
          <c:showCatName val="0"/>
          <c:showSerName val="0"/>
          <c:showPercent val="0"/>
          <c:showBubbleSize val="0"/>
          <c:extLst>
            <c:ext xmlns:c15="http://schemas.microsoft.com/office/drawing/2012/chart" uri="{CE6537A1-D6FC-4f65-9D91-7224C49458BB}"/>
          </c:extLst>
        </c:dLbl>
      </c:pivotFmt>
      <c:pivotFmt>
        <c:idx val="12"/>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ru-RU"/>
            </a:p>
          </c:txPr>
          <c:showLegendKey val="0"/>
          <c:showVal val="0"/>
          <c:showCatName val="0"/>
          <c:showSerName val="0"/>
          <c:showPercent val="0"/>
          <c:showBubbleSize val="0"/>
          <c:extLst>
            <c:ext xmlns:c15="http://schemas.microsoft.com/office/drawing/2012/chart" uri="{CE6537A1-D6FC-4f65-9D91-7224C49458BB}"/>
          </c:extLst>
        </c:dLbl>
      </c:pivotFmt>
    </c:pivotFmts>
    <c:plotArea>
      <c:layout/>
      <c:lineChart>
        <c:grouping val="standard"/>
        <c:varyColors val="0"/>
        <c:ser>
          <c:idx val="0"/>
          <c:order val="0"/>
          <c:tx>
            <c:strRef>
              <c:f>'Задание 1'!$B$151:$B$152</c:f>
              <c:strCache>
                <c:ptCount val="1"/>
                <c:pt idx="0">
                  <c:v>1</c:v>
                </c:pt>
              </c:strCache>
            </c:strRef>
          </c:tx>
          <c:spPr>
            <a:ln w="28575" cap="rnd">
              <a:solidFill>
                <a:schemeClr val="accent1"/>
              </a:solidFill>
              <a:round/>
            </a:ln>
            <a:effectLst/>
          </c:spPr>
          <c:marker>
            <c:symbol val="none"/>
          </c:marker>
          <c:cat>
            <c:strRef>
              <c:f>'Задание 1'!$A$153:$A$176</c:f>
              <c:strCache>
                <c:ptCount val="24"/>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strCache>
            </c:strRef>
          </c:cat>
          <c:val>
            <c:numRef>
              <c:f>'Задание 1'!$B$153:$B$176</c:f>
              <c:numCache>
                <c:formatCode>0</c:formatCode>
                <c:ptCount val="24"/>
                <c:pt idx="0">
                  <c:v>331</c:v>
                </c:pt>
                <c:pt idx="1">
                  <c:v>344</c:v>
                </c:pt>
                <c:pt idx="2">
                  <c:v>366</c:v>
                </c:pt>
                <c:pt idx="3">
                  <c:v>359</c:v>
                </c:pt>
                <c:pt idx="4">
                  <c:v>385</c:v>
                </c:pt>
                <c:pt idx="5">
                  <c:v>333</c:v>
                </c:pt>
                <c:pt idx="6">
                  <c:v>361</c:v>
                </c:pt>
                <c:pt idx="7">
                  <c:v>391</c:v>
                </c:pt>
                <c:pt idx="8">
                  <c:v>374</c:v>
                </c:pt>
                <c:pt idx="9">
                  <c:v>396</c:v>
                </c:pt>
                <c:pt idx="10">
                  <c:v>382</c:v>
                </c:pt>
                <c:pt idx="11">
                  <c:v>383</c:v>
                </c:pt>
                <c:pt idx="12">
                  <c:v>380</c:v>
                </c:pt>
                <c:pt idx="13">
                  <c:v>394</c:v>
                </c:pt>
                <c:pt idx="14">
                  <c:v>415</c:v>
                </c:pt>
                <c:pt idx="15">
                  <c:v>414</c:v>
                </c:pt>
                <c:pt idx="16">
                  <c:v>416</c:v>
                </c:pt>
                <c:pt idx="17">
                  <c:v>425</c:v>
                </c:pt>
                <c:pt idx="18">
                  <c:v>399</c:v>
                </c:pt>
                <c:pt idx="19">
                  <c:v>411</c:v>
                </c:pt>
                <c:pt idx="20">
                  <c:v>431</c:v>
                </c:pt>
                <c:pt idx="21">
                  <c:v>412</c:v>
                </c:pt>
                <c:pt idx="22">
                  <c:v>401</c:v>
                </c:pt>
                <c:pt idx="23">
                  <c:v>400</c:v>
                </c:pt>
              </c:numCache>
            </c:numRef>
          </c:val>
          <c:smooth val="0"/>
          <c:extLst>
            <c:ext xmlns:c16="http://schemas.microsoft.com/office/drawing/2014/chart" uri="{C3380CC4-5D6E-409C-BE32-E72D297353CC}">
              <c16:uniqueId val="{00000000-5F75-42C5-9AA8-EA848CC872B0}"/>
            </c:ext>
          </c:extLst>
        </c:ser>
        <c:ser>
          <c:idx val="1"/>
          <c:order val="1"/>
          <c:tx>
            <c:strRef>
              <c:f>'Задание 1'!$C$151:$C$152</c:f>
              <c:strCache>
                <c:ptCount val="1"/>
                <c:pt idx="0">
                  <c:v>2</c:v>
                </c:pt>
              </c:strCache>
            </c:strRef>
          </c:tx>
          <c:spPr>
            <a:ln w="28575" cap="rnd">
              <a:solidFill>
                <a:schemeClr val="accent2"/>
              </a:solidFill>
              <a:round/>
            </a:ln>
            <a:effectLst/>
          </c:spPr>
          <c:marker>
            <c:symbol val="none"/>
          </c:marker>
          <c:cat>
            <c:strRef>
              <c:f>'Задание 1'!$A$153:$A$176</c:f>
              <c:strCache>
                <c:ptCount val="24"/>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strCache>
            </c:strRef>
          </c:cat>
          <c:val>
            <c:numRef>
              <c:f>'Задание 1'!$C$153:$C$176</c:f>
              <c:numCache>
                <c:formatCode>0</c:formatCode>
                <c:ptCount val="24"/>
                <c:pt idx="0">
                  <c:v>661</c:v>
                </c:pt>
                <c:pt idx="1">
                  <c:v>662</c:v>
                </c:pt>
                <c:pt idx="2">
                  <c:v>659</c:v>
                </c:pt>
                <c:pt idx="3">
                  <c:v>643</c:v>
                </c:pt>
                <c:pt idx="4">
                  <c:v>636</c:v>
                </c:pt>
                <c:pt idx="5">
                  <c:v>627</c:v>
                </c:pt>
                <c:pt idx="6">
                  <c:v>738</c:v>
                </c:pt>
                <c:pt idx="7">
                  <c:v>759</c:v>
                </c:pt>
                <c:pt idx="8">
                  <c:v>775</c:v>
                </c:pt>
                <c:pt idx="9">
                  <c:v>734</c:v>
                </c:pt>
                <c:pt idx="10">
                  <c:v>732</c:v>
                </c:pt>
                <c:pt idx="11">
                  <c:v>739</c:v>
                </c:pt>
                <c:pt idx="12">
                  <c:v>758</c:v>
                </c:pt>
                <c:pt idx="13">
                  <c:v>811</c:v>
                </c:pt>
                <c:pt idx="14">
                  <c:v>800</c:v>
                </c:pt>
                <c:pt idx="15">
                  <c:v>815</c:v>
                </c:pt>
                <c:pt idx="16">
                  <c:v>720</c:v>
                </c:pt>
                <c:pt idx="17">
                  <c:v>703</c:v>
                </c:pt>
                <c:pt idx="18">
                  <c:v>758</c:v>
                </c:pt>
                <c:pt idx="19">
                  <c:v>746</c:v>
                </c:pt>
                <c:pt idx="20">
                  <c:v>753</c:v>
                </c:pt>
                <c:pt idx="21">
                  <c:v>734</c:v>
                </c:pt>
                <c:pt idx="22">
                  <c:v>794</c:v>
                </c:pt>
                <c:pt idx="23">
                  <c:v>715</c:v>
                </c:pt>
              </c:numCache>
            </c:numRef>
          </c:val>
          <c:smooth val="0"/>
          <c:extLst>
            <c:ext xmlns:c16="http://schemas.microsoft.com/office/drawing/2014/chart" uri="{C3380CC4-5D6E-409C-BE32-E72D297353CC}">
              <c16:uniqueId val="{00000001-5F75-42C5-9AA8-EA848CC872B0}"/>
            </c:ext>
          </c:extLst>
        </c:ser>
        <c:ser>
          <c:idx val="2"/>
          <c:order val="2"/>
          <c:tx>
            <c:strRef>
              <c:f>'Задание 1'!$D$151:$D$152</c:f>
              <c:strCache>
                <c:ptCount val="1"/>
                <c:pt idx="0">
                  <c:v>3</c:v>
                </c:pt>
              </c:strCache>
            </c:strRef>
          </c:tx>
          <c:spPr>
            <a:ln w="28575" cap="rnd">
              <a:solidFill>
                <a:schemeClr val="accent3"/>
              </a:solidFill>
              <a:round/>
            </a:ln>
            <a:effectLst/>
          </c:spPr>
          <c:marker>
            <c:symbol val="none"/>
          </c:marker>
          <c:cat>
            <c:strRef>
              <c:f>'Задание 1'!$A$153:$A$176</c:f>
              <c:strCache>
                <c:ptCount val="24"/>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strCache>
            </c:strRef>
          </c:cat>
          <c:val>
            <c:numRef>
              <c:f>'Задание 1'!$D$153:$D$176</c:f>
              <c:numCache>
                <c:formatCode>0</c:formatCode>
                <c:ptCount val="24"/>
                <c:pt idx="0">
                  <c:v>321</c:v>
                </c:pt>
                <c:pt idx="1">
                  <c:v>304</c:v>
                </c:pt>
                <c:pt idx="2">
                  <c:v>292</c:v>
                </c:pt>
                <c:pt idx="3">
                  <c:v>314</c:v>
                </c:pt>
                <c:pt idx="4">
                  <c:v>268</c:v>
                </c:pt>
                <c:pt idx="5">
                  <c:v>310</c:v>
                </c:pt>
                <c:pt idx="6">
                  <c:v>285</c:v>
                </c:pt>
                <c:pt idx="7">
                  <c:v>313</c:v>
                </c:pt>
                <c:pt idx="8">
                  <c:v>335</c:v>
                </c:pt>
                <c:pt idx="9">
                  <c:v>334</c:v>
                </c:pt>
                <c:pt idx="10">
                  <c:v>340</c:v>
                </c:pt>
                <c:pt idx="11">
                  <c:v>378</c:v>
                </c:pt>
                <c:pt idx="12">
                  <c:v>335</c:v>
                </c:pt>
                <c:pt idx="13">
                  <c:v>337</c:v>
                </c:pt>
                <c:pt idx="14">
                  <c:v>388</c:v>
                </c:pt>
                <c:pt idx="15">
                  <c:v>315</c:v>
                </c:pt>
                <c:pt idx="16">
                  <c:v>347</c:v>
                </c:pt>
                <c:pt idx="17">
                  <c:v>335</c:v>
                </c:pt>
                <c:pt idx="18">
                  <c:v>327</c:v>
                </c:pt>
                <c:pt idx="19">
                  <c:v>353</c:v>
                </c:pt>
                <c:pt idx="20">
                  <c:v>305</c:v>
                </c:pt>
                <c:pt idx="21">
                  <c:v>367</c:v>
                </c:pt>
                <c:pt idx="22">
                  <c:v>353</c:v>
                </c:pt>
                <c:pt idx="23">
                  <c:v>329</c:v>
                </c:pt>
              </c:numCache>
            </c:numRef>
          </c:val>
          <c:smooth val="0"/>
          <c:extLst>
            <c:ext xmlns:c16="http://schemas.microsoft.com/office/drawing/2014/chart" uri="{C3380CC4-5D6E-409C-BE32-E72D297353CC}">
              <c16:uniqueId val="{00000002-5F75-42C5-9AA8-EA848CC872B0}"/>
            </c:ext>
          </c:extLst>
        </c:ser>
        <c:dLbls>
          <c:showLegendKey val="0"/>
          <c:showVal val="0"/>
          <c:showCatName val="0"/>
          <c:showSerName val="0"/>
          <c:showPercent val="0"/>
          <c:showBubbleSize val="0"/>
        </c:dLbls>
        <c:smooth val="0"/>
        <c:axId val="1057035264"/>
        <c:axId val="1057031904"/>
      </c:lineChart>
      <c:catAx>
        <c:axId val="1057035264"/>
        <c:scaling>
          <c:orientation val="minMax"/>
        </c:scaling>
        <c:delete val="0"/>
        <c:axPos val="b"/>
        <c:title>
          <c:tx>
            <c:rich>
              <a:bodyPr rot="0" spcFirstLastPara="1" vertOverflow="ellipsis" vert="horz" wrap="square" anchor="ctr" anchorCtr="1"/>
              <a:lstStyle/>
              <a:p>
                <a:pPr>
                  <a:defRPr lang="en-US" sz="1200" b="0" i="0" u="none" strike="noStrike" kern="1200" baseline="0" smtClean="0">
                    <a:solidFill>
                      <a:sysClr val="windowText" lastClr="000000"/>
                    </a:solidFill>
                    <a:latin typeface="+mn-lt"/>
                    <a:ea typeface="+mn-ea"/>
                    <a:cs typeface="+mn-cs"/>
                  </a:defRPr>
                </a:pPr>
                <a:r>
                  <a:rPr lang="en-US" sz="1200">
                    <a:solidFill>
                      <a:sysClr val="windowText" lastClr="000000"/>
                    </a:solidFill>
                  </a:rPr>
                  <a:t>Time of day</a:t>
                </a:r>
              </a:p>
            </c:rich>
          </c:tx>
          <c:layout>
            <c:manualLayout>
              <c:xMode val="edge"/>
              <c:yMode val="edge"/>
              <c:x val="0.45921440526455926"/>
              <c:y val="0.95879962636515126"/>
            </c:manualLayout>
          </c:layout>
          <c:overlay val="0"/>
          <c:spPr>
            <a:noFill/>
            <a:ln>
              <a:noFill/>
            </a:ln>
            <a:effectLst/>
          </c:spPr>
          <c:txPr>
            <a:bodyPr rot="0" spcFirstLastPara="1" vertOverflow="ellipsis" vert="horz" wrap="square" anchor="ctr" anchorCtr="1"/>
            <a:lstStyle/>
            <a:p>
              <a:pPr>
                <a:defRPr lang="en-US" sz="1200" b="0" i="0" u="none" strike="noStrike" kern="1200" baseline="0" smtClean="0">
                  <a:solidFill>
                    <a:sysClr val="windowText" lastClr="000000"/>
                  </a:solidFill>
                  <a:latin typeface="+mn-lt"/>
                  <a:ea typeface="+mn-ea"/>
                  <a:cs typeface="+mn-cs"/>
                </a:defRPr>
              </a:pPr>
              <a:endParaRPr lang="ru-RU"/>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ru-RU"/>
          </a:p>
        </c:txPr>
        <c:crossAx val="1057031904"/>
        <c:crosses val="autoZero"/>
        <c:auto val="1"/>
        <c:lblAlgn val="ctr"/>
        <c:lblOffset val="100"/>
        <c:noMultiLvlLbl val="0"/>
      </c:catAx>
      <c:valAx>
        <c:axId val="1057031904"/>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lang="en-US" sz="1200" b="0" i="0" u="none" strike="noStrike" kern="1200" baseline="0" smtClean="0">
                    <a:solidFill>
                      <a:sysClr val="windowText" lastClr="000000"/>
                    </a:solidFill>
                    <a:latin typeface="+mn-lt"/>
                    <a:ea typeface="+mn-ea"/>
                    <a:cs typeface="+mn-cs"/>
                  </a:defRPr>
                </a:pPr>
                <a:r>
                  <a:rPr lang="en-US" sz="1200">
                    <a:solidFill>
                      <a:sysClr val="windowText" lastClr="000000"/>
                    </a:solidFill>
                  </a:rPr>
                  <a:t>Number of orders</a:t>
                </a:r>
              </a:p>
            </c:rich>
          </c:tx>
          <c:layout>
            <c:manualLayout>
              <c:xMode val="edge"/>
              <c:yMode val="edge"/>
              <c:x val="0"/>
              <c:y val="0.3341034068631325"/>
            </c:manualLayout>
          </c:layout>
          <c:overlay val="0"/>
          <c:spPr>
            <a:noFill/>
            <a:ln>
              <a:noFill/>
            </a:ln>
            <a:effectLst/>
          </c:spPr>
          <c:txPr>
            <a:bodyPr rot="-5400000" spcFirstLastPara="1" vertOverflow="ellipsis" vert="horz" wrap="square" anchor="ctr" anchorCtr="1"/>
            <a:lstStyle/>
            <a:p>
              <a:pPr>
                <a:defRPr lang="en-US" sz="1200" b="0" i="0" u="none" strike="noStrike" kern="1200" baseline="0" smtClean="0">
                  <a:solidFill>
                    <a:sysClr val="windowText" lastClr="000000"/>
                  </a:solidFill>
                  <a:latin typeface="+mn-lt"/>
                  <a:ea typeface="+mn-ea"/>
                  <a:cs typeface="+mn-cs"/>
                </a:defRPr>
              </a:pPr>
              <a:endParaRPr lang="ru-RU"/>
            </a:p>
          </c:txPr>
        </c:title>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ru-RU"/>
          </a:p>
        </c:txPr>
        <c:crossAx val="1057035264"/>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ru-RU"/>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ru-RU"/>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hart1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pivotSource>
    <c:name>[09 08_24_0966b5d229800076.83554415Задание2_Асмандияров_Раиль (1).xlsx]Задание 1!Сводная таблица6</c:name>
    <c:fmtId val="6"/>
  </c:pivotSource>
  <c:chart>
    <c:autoTitleDeleted val="1"/>
    <c:pivotFmts>
      <c:pivotFmt>
        <c:idx val="0"/>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ru-RU"/>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ru-RU"/>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ru-RU"/>
            </a:p>
          </c:txPr>
          <c:showLegendKey val="0"/>
          <c:showVal val="0"/>
          <c:showCatName val="0"/>
          <c:showSerName val="0"/>
          <c:showPercent val="0"/>
          <c:showBubbleSize val="0"/>
          <c:extLst>
            <c:ext xmlns:c15="http://schemas.microsoft.com/office/drawing/2012/chart" uri="{CE6537A1-D6FC-4f65-9D91-7224C49458BB}"/>
          </c:extLst>
        </c:dLbl>
      </c:pivotFmt>
      <c:pivotFmt>
        <c:idx val="3"/>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ru-RU"/>
            </a:p>
          </c:txPr>
          <c:showLegendKey val="0"/>
          <c:showVal val="0"/>
          <c:showCatName val="0"/>
          <c:showSerName val="0"/>
          <c:showPercent val="0"/>
          <c:showBubbleSize val="0"/>
          <c:extLst>
            <c:ext xmlns:c15="http://schemas.microsoft.com/office/drawing/2012/chart" uri="{CE6537A1-D6FC-4f65-9D91-7224C49458BB}"/>
          </c:extLst>
        </c:dLbl>
      </c:pivotFmt>
      <c:pivotFmt>
        <c:idx val="4"/>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ru-RU"/>
            </a:p>
          </c:txPr>
          <c:showLegendKey val="0"/>
          <c:showVal val="0"/>
          <c:showCatName val="0"/>
          <c:showSerName val="0"/>
          <c:showPercent val="0"/>
          <c:showBubbleSize val="0"/>
          <c:extLst>
            <c:ext xmlns:c15="http://schemas.microsoft.com/office/drawing/2012/chart" uri="{CE6537A1-D6FC-4f65-9D91-7224C49458BB}"/>
          </c:extLst>
        </c:dLbl>
      </c:pivotFmt>
      <c:pivotFmt>
        <c:idx val="5"/>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ru-RU"/>
            </a:p>
          </c:txPr>
          <c:showLegendKey val="0"/>
          <c:showVal val="0"/>
          <c:showCatName val="0"/>
          <c:showSerName val="0"/>
          <c:showPercent val="0"/>
          <c:showBubbleSize val="0"/>
          <c:extLst>
            <c:ext xmlns:c15="http://schemas.microsoft.com/office/drawing/2012/chart" uri="{CE6537A1-D6FC-4f65-9D91-7224C49458BB}"/>
          </c:extLst>
        </c:dLbl>
      </c:pivotFmt>
      <c:pivotFmt>
        <c:idx val="6"/>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ru-RU"/>
            </a:p>
          </c:txPr>
          <c:showLegendKey val="0"/>
          <c:showVal val="0"/>
          <c:showCatName val="0"/>
          <c:showSerName val="0"/>
          <c:showPercent val="0"/>
          <c:showBubbleSize val="0"/>
          <c:extLst>
            <c:ext xmlns:c15="http://schemas.microsoft.com/office/drawing/2012/chart" uri="{CE6537A1-D6FC-4f65-9D91-7224C49458BB}"/>
          </c:extLst>
        </c:dLbl>
      </c:pivotFmt>
      <c:pivotFmt>
        <c:idx val="7"/>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ru-RU"/>
            </a:p>
          </c:txPr>
          <c:showLegendKey val="0"/>
          <c:showVal val="0"/>
          <c:showCatName val="0"/>
          <c:showSerName val="0"/>
          <c:showPercent val="0"/>
          <c:showBubbleSize val="0"/>
          <c:extLst>
            <c:ext xmlns:c15="http://schemas.microsoft.com/office/drawing/2012/chart" uri="{CE6537A1-D6FC-4f65-9D91-7224C49458BB}"/>
          </c:extLst>
        </c:dLbl>
      </c:pivotFmt>
      <c:pivotFmt>
        <c:idx val="8"/>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ru-RU"/>
            </a:p>
          </c:txPr>
          <c:showLegendKey val="0"/>
          <c:showVal val="0"/>
          <c:showCatName val="0"/>
          <c:showSerName val="0"/>
          <c:showPercent val="0"/>
          <c:showBubbleSize val="0"/>
          <c:extLst>
            <c:ext xmlns:c15="http://schemas.microsoft.com/office/drawing/2012/chart" uri="{CE6537A1-D6FC-4f65-9D91-7224C49458BB}"/>
          </c:extLst>
        </c:dLbl>
      </c:pivotFmt>
      <c:pivotFmt>
        <c:idx val="9"/>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ru-RU"/>
            </a:p>
          </c:txPr>
          <c:showLegendKey val="0"/>
          <c:showVal val="0"/>
          <c:showCatName val="0"/>
          <c:showSerName val="0"/>
          <c:showPercent val="0"/>
          <c:showBubbleSize val="0"/>
          <c:extLst>
            <c:ext xmlns:c15="http://schemas.microsoft.com/office/drawing/2012/chart" uri="{CE6537A1-D6FC-4f65-9D91-7224C49458BB}"/>
          </c:extLst>
        </c:dLbl>
      </c:pivotFmt>
      <c:pivotFmt>
        <c:idx val="10"/>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ru-RU"/>
            </a:p>
          </c:txPr>
          <c:showLegendKey val="0"/>
          <c:showVal val="0"/>
          <c:showCatName val="0"/>
          <c:showSerName val="0"/>
          <c:showPercent val="0"/>
          <c:showBubbleSize val="0"/>
          <c:extLst>
            <c:ext xmlns:c15="http://schemas.microsoft.com/office/drawing/2012/chart" uri="{CE6537A1-D6FC-4f65-9D91-7224C49458BB}"/>
          </c:extLst>
        </c:dLbl>
      </c:pivotFmt>
      <c:pivotFmt>
        <c:idx val="11"/>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ru-RU"/>
            </a:p>
          </c:txPr>
          <c:showLegendKey val="0"/>
          <c:showVal val="0"/>
          <c:showCatName val="0"/>
          <c:showSerName val="0"/>
          <c:showPercent val="0"/>
          <c:showBubbleSize val="0"/>
          <c:extLst>
            <c:ext xmlns:c15="http://schemas.microsoft.com/office/drawing/2012/chart" uri="{CE6537A1-D6FC-4f65-9D91-7224C49458BB}"/>
          </c:extLst>
        </c:dLbl>
      </c:pivotFmt>
      <c:pivotFmt>
        <c:idx val="12"/>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ru-RU"/>
            </a:p>
          </c:txPr>
          <c:showLegendKey val="0"/>
          <c:showVal val="0"/>
          <c:showCatName val="0"/>
          <c:showSerName val="0"/>
          <c:showPercent val="0"/>
          <c:showBubbleSize val="0"/>
          <c:extLst>
            <c:ext xmlns:c15="http://schemas.microsoft.com/office/drawing/2012/chart" uri="{CE6537A1-D6FC-4f65-9D91-7224C49458BB}"/>
          </c:extLst>
        </c:dLbl>
      </c:pivotFmt>
      <c:pivotFmt>
        <c:idx val="13"/>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ru-RU"/>
            </a:p>
          </c:txPr>
          <c:showLegendKey val="0"/>
          <c:showVal val="0"/>
          <c:showCatName val="0"/>
          <c:showSerName val="0"/>
          <c:showPercent val="0"/>
          <c:showBubbleSize val="0"/>
          <c:extLst>
            <c:ext xmlns:c15="http://schemas.microsoft.com/office/drawing/2012/chart" uri="{CE6537A1-D6FC-4f65-9D91-7224C49458BB}"/>
          </c:extLst>
        </c:dLbl>
      </c:pivotFmt>
      <c:pivotFmt>
        <c:idx val="14"/>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ru-RU"/>
            </a:p>
          </c:txPr>
          <c:showLegendKey val="0"/>
          <c:showVal val="0"/>
          <c:showCatName val="0"/>
          <c:showSerName val="0"/>
          <c:showPercent val="0"/>
          <c:showBubbleSize val="0"/>
          <c:extLst>
            <c:ext xmlns:c15="http://schemas.microsoft.com/office/drawing/2012/chart" uri="{CE6537A1-D6FC-4f65-9D91-7224C49458BB}"/>
          </c:extLst>
        </c:dLbl>
      </c:pivotFmt>
    </c:pivotFmts>
    <c:plotArea>
      <c:layout>
        <c:manualLayout>
          <c:layoutTarget val="inner"/>
          <c:xMode val="edge"/>
          <c:yMode val="edge"/>
          <c:x val="6.3018277606603529E-2"/>
          <c:y val="2.5654812931054115E-2"/>
          <c:w val="0.76186694054547532"/>
          <c:h val="0.86508304666788605"/>
        </c:manualLayout>
      </c:layout>
      <c:lineChart>
        <c:grouping val="standard"/>
        <c:varyColors val="0"/>
        <c:ser>
          <c:idx val="0"/>
          <c:order val="0"/>
          <c:tx>
            <c:strRef>
              <c:f>'Задание 1'!$B$180:$B$181</c:f>
              <c:strCache>
                <c:ptCount val="1"/>
                <c:pt idx="0">
                  <c:v>Ленинский пр-т, 162/1</c:v>
                </c:pt>
              </c:strCache>
            </c:strRef>
          </c:tx>
          <c:spPr>
            <a:ln w="28575" cap="rnd">
              <a:solidFill>
                <a:schemeClr val="accent1"/>
              </a:solidFill>
              <a:round/>
            </a:ln>
            <a:effectLst/>
          </c:spPr>
          <c:marker>
            <c:symbol val="none"/>
          </c:marker>
          <c:cat>
            <c:strRef>
              <c:f>'Задание 1'!$A$182:$A$205</c:f>
              <c:strCache>
                <c:ptCount val="24"/>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strCache>
            </c:strRef>
          </c:cat>
          <c:val>
            <c:numRef>
              <c:f>'Задание 1'!$B$182:$B$205</c:f>
              <c:numCache>
                <c:formatCode>0</c:formatCode>
                <c:ptCount val="24"/>
                <c:pt idx="0">
                  <c:v>119</c:v>
                </c:pt>
                <c:pt idx="1">
                  <c:v>97</c:v>
                </c:pt>
                <c:pt idx="2">
                  <c:v>95</c:v>
                </c:pt>
                <c:pt idx="3">
                  <c:v>84</c:v>
                </c:pt>
                <c:pt idx="4">
                  <c:v>110</c:v>
                </c:pt>
                <c:pt idx="5">
                  <c:v>92</c:v>
                </c:pt>
                <c:pt idx="6">
                  <c:v>120</c:v>
                </c:pt>
                <c:pt idx="7">
                  <c:v>114</c:v>
                </c:pt>
                <c:pt idx="8">
                  <c:v>117</c:v>
                </c:pt>
                <c:pt idx="9">
                  <c:v>106</c:v>
                </c:pt>
                <c:pt idx="10">
                  <c:v>115</c:v>
                </c:pt>
                <c:pt idx="11">
                  <c:v>134</c:v>
                </c:pt>
                <c:pt idx="12">
                  <c:v>120</c:v>
                </c:pt>
                <c:pt idx="13">
                  <c:v>147</c:v>
                </c:pt>
                <c:pt idx="14">
                  <c:v>170</c:v>
                </c:pt>
                <c:pt idx="15">
                  <c:v>165</c:v>
                </c:pt>
                <c:pt idx="16">
                  <c:v>113</c:v>
                </c:pt>
                <c:pt idx="17">
                  <c:v>107</c:v>
                </c:pt>
                <c:pt idx="18">
                  <c:v>117</c:v>
                </c:pt>
                <c:pt idx="19">
                  <c:v>110</c:v>
                </c:pt>
                <c:pt idx="20">
                  <c:v>95</c:v>
                </c:pt>
                <c:pt idx="21">
                  <c:v>117</c:v>
                </c:pt>
                <c:pt idx="22">
                  <c:v>109</c:v>
                </c:pt>
                <c:pt idx="23">
                  <c:v>102</c:v>
                </c:pt>
              </c:numCache>
            </c:numRef>
          </c:val>
          <c:smooth val="0"/>
          <c:extLst>
            <c:ext xmlns:c16="http://schemas.microsoft.com/office/drawing/2014/chart" uri="{C3380CC4-5D6E-409C-BE32-E72D297353CC}">
              <c16:uniqueId val="{00000000-2CEE-4E27-B258-01B5F5F303DF}"/>
            </c:ext>
          </c:extLst>
        </c:ser>
        <c:ser>
          <c:idx val="1"/>
          <c:order val="1"/>
          <c:tx>
            <c:strRef>
              <c:f>'Задание 1'!$C$180:$C$181</c:f>
              <c:strCache>
                <c:ptCount val="1"/>
                <c:pt idx="0">
                  <c:v>пр-т Вернадского, 88к3</c:v>
                </c:pt>
              </c:strCache>
            </c:strRef>
          </c:tx>
          <c:spPr>
            <a:ln w="28575" cap="rnd">
              <a:solidFill>
                <a:schemeClr val="accent2"/>
              </a:solidFill>
              <a:round/>
            </a:ln>
            <a:effectLst/>
          </c:spPr>
          <c:marker>
            <c:symbol val="none"/>
          </c:marker>
          <c:cat>
            <c:strRef>
              <c:f>'Задание 1'!$A$182:$A$205</c:f>
              <c:strCache>
                <c:ptCount val="24"/>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strCache>
            </c:strRef>
          </c:cat>
          <c:val>
            <c:numRef>
              <c:f>'Задание 1'!$C$182:$C$205</c:f>
              <c:numCache>
                <c:formatCode>0</c:formatCode>
                <c:ptCount val="24"/>
                <c:pt idx="0">
                  <c:v>63</c:v>
                </c:pt>
                <c:pt idx="1">
                  <c:v>66</c:v>
                </c:pt>
                <c:pt idx="2">
                  <c:v>57</c:v>
                </c:pt>
                <c:pt idx="3">
                  <c:v>50</c:v>
                </c:pt>
                <c:pt idx="4">
                  <c:v>53</c:v>
                </c:pt>
                <c:pt idx="5">
                  <c:v>57</c:v>
                </c:pt>
                <c:pt idx="6">
                  <c:v>69</c:v>
                </c:pt>
                <c:pt idx="7">
                  <c:v>66</c:v>
                </c:pt>
                <c:pt idx="8">
                  <c:v>71</c:v>
                </c:pt>
                <c:pt idx="9">
                  <c:v>67</c:v>
                </c:pt>
                <c:pt idx="10">
                  <c:v>53</c:v>
                </c:pt>
                <c:pt idx="11">
                  <c:v>90</c:v>
                </c:pt>
                <c:pt idx="12">
                  <c:v>92</c:v>
                </c:pt>
                <c:pt idx="13">
                  <c:v>86</c:v>
                </c:pt>
                <c:pt idx="14">
                  <c:v>78</c:v>
                </c:pt>
                <c:pt idx="15">
                  <c:v>90</c:v>
                </c:pt>
                <c:pt idx="16">
                  <c:v>69</c:v>
                </c:pt>
                <c:pt idx="17">
                  <c:v>66</c:v>
                </c:pt>
                <c:pt idx="18">
                  <c:v>65</c:v>
                </c:pt>
                <c:pt idx="19">
                  <c:v>76</c:v>
                </c:pt>
                <c:pt idx="20">
                  <c:v>77</c:v>
                </c:pt>
                <c:pt idx="21">
                  <c:v>71</c:v>
                </c:pt>
                <c:pt idx="22">
                  <c:v>90</c:v>
                </c:pt>
                <c:pt idx="23">
                  <c:v>70</c:v>
                </c:pt>
              </c:numCache>
            </c:numRef>
          </c:val>
          <c:smooth val="0"/>
          <c:extLst>
            <c:ext xmlns:c16="http://schemas.microsoft.com/office/drawing/2014/chart" uri="{C3380CC4-5D6E-409C-BE32-E72D297353CC}">
              <c16:uniqueId val="{00000001-2CEE-4E27-B258-01B5F5F303DF}"/>
            </c:ext>
          </c:extLst>
        </c:ser>
        <c:ser>
          <c:idx val="2"/>
          <c:order val="2"/>
          <c:tx>
            <c:strRef>
              <c:f>'Задание 1'!$D$180:$D$181</c:f>
              <c:strCache>
                <c:ptCount val="1"/>
                <c:pt idx="0">
                  <c:v>Ракетный б-р, 14к1</c:v>
                </c:pt>
              </c:strCache>
            </c:strRef>
          </c:tx>
          <c:spPr>
            <a:ln w="28575" cap="rnd">
              <a:solidFill>
                <a:schemeClr val="accent3"/>
              </a:solidFill>
              <a:round/>
            </a:ln>
            <a:effectLst/>
          </c:spPr>
          <c:marker>
            <c:symbol val="none"/>
          </c:marker>
          <c:cat>
            <c:strRef>
              <c:f>'Задание 1'!$A$182:$A$205</c:f>
              <c:strCache>
                <c:ptCount val="24"/>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strCache>
            </c:strRef>
          </c:cat>
          <c:val>
            <c:numRef>
              <c:f>'Задание 1'!$D$182:$D$205</c:f>
              <c:numCache>
                <c:formatCode>0</c:formatCode>
                <c:ptCount val="24"/>
                <c:pt idx="0">
                  <c:v>49</c:v>
                </c:pt>
                <c:pt idx="1">
                  <c:v>74</c:v>
                </c:pt>
                <c:pt idx="2">
                  <c:v>54</c:v>
                </c:pt>
                <c:pt idx="3">
                  <c:v>49</c:v>
                </c:pt>
                <c:pt idx="4">
                  <c:v>51</c:v>
                </c:pt>
                <c:pt idx="5">
                  <c:v>51</c:v>
                </c:pt>
                <c:pt idx="6">
                  <c:v>53</c:v>
                </c:pt>
                <c:pt idx="7">
                  <c:v>55</c:v>
                </c:pt>
                <c:pt idx="8">
                  <c:v>63</c:v>
                </c:pt>
                <c:pt idx="9">
                  <c:v>57</c:v>
                </c:pt>
                <c:pt idx="10">
                  <c:v>64</c:v>
                </c:pt>
                <c:pt idx="11">
                  <c:v>72</c:v>
                </c:pt>
                <c:pt idx="12">
                  <c:v>60</c:v>
                </c:pt>
                <c:pt idx="13">
                  <c:v>51</c:v>
                </c:pt>
                <c:pt idx="14">
                  <c:v>65</c:v>
                </c:pt>
                <c:pt idx="15">
                  <c:v>62</c:v>
                </c:pt>
                <c:pt idx="16">
                  <c:v>53</c:v>
                </c:pt>
                <c:pt idx="17">
                  <c:v>52</c:v>
                </c:pt>
                <c:pt idx="18">
                  <c:v>58</c:v>
                </c:pt>
                <c:pt idx="19">
                  <c:v>58</c:v>
                </c:pt>
                <c:pt idx="20">
                  <c:v>64</c:v>
                </c:pt>
                <c:pt idx="21">
                  <c:v>61</c:v>
                </c:pt>
                <c:pt idx="22">
                  <c:v>74</c:v>
                </c:pt>
                <c:pt idx="23">
                  <c:v>58</c:v>
                </c:pt>
              </c:numCache>
            </c:numRef>
          </c:val>
          <c:smooth val="0"/>
          <c:extLst>
            <c:ext xmlns:c16="http://schemas.microsoft.com/office/drawing/2014/chart" uri="{C3380CC4-5D6E-409C-BE32-E72D297353CC}">
              <c16:uniqueId val="{00000002-2CEE-4E27-B258-01B5F5F303DF}"/>
            </c:ext>
          </c:extLst>
        </c:ser>
        <c:ser>
          <c:idx val="3"/>
          <c:order val="3"/>
          <c:tx>
            <c:strRef>
              <c:f>'Задание 1'!$E$180:$E$181</c:f>
              <c:strCache>
                <c:ptCount val="1"/>
                <c:pt idx="0">
                  <c:v>Симферопольский б-р, 22</c:v>
                </c:pt>
              </c:strCache>
            </c:strRef>
          </c:tx>
          <c:spPr>
            <a:ln w="28575" cap="rnd">
              <a:solidFill>
                <a:schemeClr val="accent4"/>
              </a:solidFill>
              <a:round/>
            </a:ln>
            <a:effectLst/>
          </c:spPr>
          <c:marker>
            <c:symbol val="none"/>
          </c:marker>
          <c:cat>
            <c:strRef>
              <c:f>'Задание 1'!$A$182:$A$205</c:f>
              <c:strCache>
                <c:ptCount val="24"/>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strCache>
            </c:strRef>
          </c:cat>
          <c:val>
            <c:numRef>
              <c:f>'Задание 1'!$E$182:$E$205</c:f>
              <c:numCache>
                <c:formatCode>0</c:formatCode>
                <c:ptCount val="24"/>
                <c:pt idx="0">
                  <c:v>27</c:v>
                </c:pt>
                <c:pt idx="1">
                  <c:v>35</c:v>
                </c:pt>
                <c:pt idx="2">
                  <c:v>26</c:v>
                </c:pt>
                <c:pt idx="3">
                  <c:v>28</c:v>
                </c:pt>
                <c:pt idx="4">
                  <c:v>38</c:v>
                </c:pt>
                <c:pt idx="5">
                  <c:v>26</c:v>
                </c:pt>
                <c:pt idx="6">
                  <c:v>37</c:v>
                </c:pt>
                <c:pt idx="7">
                  <c:v>30</c:v>
                </c:pt>
                <c:pt idx="8">
                  <c:v>35</c:v>
                </c:pt>
                <c:pt idx="9">
                  <c:v>35</c:v>
                </c:pt>
                <c:pt idx="10">
                  <c:v>44</c:v>
                </c:pt>
                <c:pt idx="11">
                  <c:v>40</c:v>
                </c:pt>
                <c:pt idx="12">
                  <c:v>33</c:v>
                </c:pt>
                <c:pt idx="13">
                  <c:v>45</c:v>
                </c:pt>
                <c:pt idx="14">
                  <c:v>33</c:v>
                </c:pt>
                <c:pt idx="15">
                  <c:v>49</c:v>
                </c:pt>
                <c:pt idx="16">
                  <c:v>32</c:v>
                </c:pt>
                <c:pt idx="17">
                  <c:v>42</c:v>
                </c:pt>
                <c:pt idx="18">
                  <c:v>38</c:v>
                </c:pt>
                <c:pt idx="19">
                  <c:v>30</c:v>
                </c:pt>
                <c:pt idx="20">
                  <c:v>34</c:v>
                </c:pt>
                <c:pt idx="21">
                  <c:v>35</c:v>
                </c:pt>
                <c:pt idx="22">
                  <c:v>45</c:v>
                </c:pt>
                <c:pt idx="23">
                  <c:v>38</c:v>
                </c:pt>
              </c:numCache>
            </c:numRef>
          </c:val>
          <c:smooth val="0"/>
          <c:extLst>
            <c:ext xmlns:c16="http://schemas.microsoft.com/office/drawing/2014/chart" uri="{C3380CC4-5D6E-409C-BE32-E72D297353CC}">
              <c16:uniqueId val="{00000003-2CEE-4E27-B258-01B5F5F303DF}"/>
            </c:ext>
          </c:extLst>
        </c:ser>
        <c:ser>
          <c:idx val="4"/>
          <c:order val="4"/>
          <c:tx>
            <c:strRef>
              <c:f>'Задание 1'!$F$180:$F$181</c:f>
              <c:strCache>
                <c:ptCount val="1"/>
                <c:pt idx="0">
                  <c:v>ул. Щорса, 26/3</c:v>
                </c:pt>
              </c:strCache>
            </c:strRef>
          </c:tx>
          <c:spPr>
            <a:ln w="28575" cap="rnd">
              <a:solidFill>
                <a:schemeClr val="accent5"/>
              </a:solidFill>
              <a:round/>
            </a:ln>
            <a:effectLst/>
          </c:spPr>
          <c:marker>
            <c:symbol val="none"/>
          </c:marker>
          <c:cat>
            <c:strRef>
              <c:f>'Задание 1'!$A$182:$A$205</c:f>
              <c:strCache>
                <c:ptCount val="24"/>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strCache>
            </c:strRef>
          </c:cat>
          <c:val>
            <c:numRef>
              <c:f>'Задание 1'!$F$182:$F$205</c:f>
              <c:numCache>
                <c:formatCode>0</c:formatCode>
                <c:ptCount val="24"/>
                <c:pt idx="0">
                  <c:v>42</c:v>
                </c:pt>
                <c:pt idx="1">
                  <c:v>40</c:v>
                </c:pt>
                <c:pt idx="2">
                  <c:v>54</c:v>
                </c:pt>
                <c:pt idx="3">
                  <c:v>32</c:v>
                </c:pt>
                <c:pt idx="4">
                  <c:v>37</c:v>
                </c:pt>
                <c:pt idx="5">
                  <c:v>48</c:v>
                </c:pt>
                <c:pt idx="6">
                  <c:v>53</c:v>
                </c:pt>
                <c:pt idx="7">
                  <c:v>49</c:v>
                </c:pt>
                <c:pt idx="8">
                  <c:v>45</c:v>
                </c:pt>
                <c:pt idx="9">
                  <c:v>48</c:v>
                </c:pt>
                <c:pt idx="10">
                  <c:v>35</c:v>
                </c:pt>
                <c:pt idx="11">
                  <c:v>46</c:v>
                </c:pt>
                <c:pt idx="12">
                  <c:v>50</c:v>
                </c:pt>
                <c:pt idx="13">
                  <c:v>47</c:v>
                </c:pt>
                <c:pt idx="14">
                  <c:v>47</c:v>
                </c:pt>
                <c:pt idx="15">
                  <c:v>47</c:v>
                </c:pt>
                <c:pt idx="16">
                  <c:v>60</c:v>
                </c:pt>
                <c:pt idx="17">
                  <c:v>56</c:v>
                </c:pt>
                <c:pt idx="18">
                  <c:v>44</c:v>
                </c:pt>
                <c:pt idx="19">
                  <c:v>51</c:v>
                </c:pt>
                <c:pt idx="20">
                  <c:v>46</c:v>
                </c:pt>
                <c:pt idx="21">
                  <c:v>57</c:v>
                </c:pt>
                <c:pt idx="22">
                  <c:v>41</c:v>
                </c:pt>
                <c:pt idx="23">
                  <c:v>44</c:v>
                </c:pt>
              </c:numCache>
            </c:numRef>
          </c:val>
          <c:smooth val="0"/>
          <c:extLst>
            <c:ext xmlns:c16="http://schemas.microsoft.com/office/drawing/2014/chart" uri="{C3380CC4-5D6E-409C-BE32-E72D297353CC}">
              <c16:uniqueId val="{00000004-2CEE-4E27-B258-01B5F5F303DF}"/>
            </c:ext>
          </c:extLst>
        </c:ser>
        <c:dLbls>
          <c:showLegendKey val="0"/>
          <c:showVal val="0"/>
          <c:showCatName val="0"/>
          <c:showSerName val="0"/>
          <c:showPercent val="0"/>
          <c:showBubbleSize val="0"/>
        </c:dLbls>
        <c:smooth val="0"/>
        <c:axId val="1445534383"/>
        <c:axId val="1445531503"/>
      </c:lineChart>
      <c:catAx>
        <c:axId val="1445534383"/>
        <c:scaling>
          <c:orientation val="minMax"/>
        </c:scaling>
        <c:delete val="0"/>
        <c:axPos val="b"/>
        <c:title>
          <c:tx>
            <c:rich>
              <a:bodyPr rot="0" spcFirstLastPara="1" vertOverflow="ellipsis" vert="horz" wrap="square" anchor="ctr" anchorCtr="1"/>
              <a:lstStyle/>
              <a:p>
                <a:pPr>
                  <a:defRPr lang="en-US" sz="1200" b="0" i="0" u="none" strike="noStrike" kern="1200" baseline="0" smtClean="0">
                    <a:solidFill>
                      <a:sysClr val="windowText" lastClr="000000"/>
                    </a:solidFill>
                    <a:latin typeface="+mn-lt"/>
                    <a:ea typeface="+mn-ea"/>
                    <a:cs typeface="+mn-cs"/>
                  </a:defRPr>
                </a:pPr>
                <a:r>
                  <a:rPr lang="en-US" sz="1200">
                    <a:solidFill>
                      <a:sysClr val="windowText" lastClr="000000"/>
                    </a:solidFill>
                  </a:rPr>
                  <a:t>Time of day</a:t>
                </a:r>
              </a:p>
            </c:rich>
          </c:tx>
          <c:layout>
            <c:manualLayout>
              <c:xMode val="edge"/>
              <c:yMode val="edge"/>
              <c:x val="0.45855234128342653"/>
              <c:y val="0.95816741262121308"/>
            </c:manualLayout>
          </c:layout>
          <c:overlay val="0"/>
          <c:spPr>
            <a:noFill/>
            <a:ln>
              <a:noFill/>
            </a:ln>
            <a:effectLst/>
          </c:spPr>
          <c:txPr>
            <a:bodyPr rot="0" spcFirstLastPara="1" vertOverflow="ellipsis" vert="horz" wrap="square" anchor="ctr" anchorCtr="1"/>
            <a:lstStyle/>
            <a:p>
              <a:pPr>
                <a:defRPr lang="en-US" sz="1200" b="0" i="0" u="none" strike="noStrike" kern="1200" baseline="0" smtClean="0">
                  <a:solidFill>
                    <a:sysClr val="windowText" lastClr="000000"/>
                  </a:solidFill>
                  <a:latin typeface="+mn-lt"/>
                  <a:ea typeface="+mn-ea"/>
                  <a:cs typeface="+mn-cs"/>
                </a:defRPr>
              </a:pPr>
              <a:endParaRPr lang="ru-RU"/>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ru-RU"/>
          </a:p>
        </c:txPr>
        <c:crossAx val="1445531503"/>
        <c:crosses val="autoZero"/>
        <c:auto val="1"/>
        <c:lblAlgn val="ctr"/>
        <c:lblOffset val="100"/>
        <c:noMultiLvlLbl val="0"/>
      </c:catAx>
      <c:valAx>
        <c:axId val="1445531503"/>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lang="en-US" sz="1200" b="0" i="0" u="none" strike="noStrike" kern="1200" baseline="0" smtClean="0">
                    <a:solidFill>
                      <a:sysClr val="windowText" lastClr="000000"/>
                    </a:solidFill>
                    <a:latin typeface="+mn-lt"/>
                    <a:ea typeface="+mn-ea"/>
                    <a:cs typeface="+mn-cs"/>
                  </a:defRPr>
                </a:pPr>
                <a:r>
                  <a:rPr lang="en-US" sz="1200">
                    <a:solidFill>
                      <a:sysClr val="windowText" lastClr="000000"/>
                    </a:solidFill>
                  </a:rPr>
                  <a:t>Number of Transactions</a:t>
                </a:r>
              </a:p>
            </c:rich>
          </c:tx>
          <c:layout>
            <c:manualLayout>
              <c:xMode val="edge"/>
              <c:yMode val="edge"/>
              <c:x val="1.2077294685990338E-3"/>
              <c:y val="0.3185758475270376"/>
            </c:manualLayout>
          </c:layout>
          <c:overlay val="0"/>
          <c:spPr>
            <a:noFill/>
            <a:ln>
              <a:noFill/>
            </a:ln>
            <a:effectLst/>
          </c:spPr>
          <c:txPr>
            <a:bodyPr rot="-5400000" spcFirstLastPara="1" vertOverflow="ellipsis" vert="horz" wrap="square" anchor="ctr" anchorCtr="1"/>
            <a:lstStyle/>
            <a:p>
              <a:pPr>
                <a:defRPr lang="en-US" sz="1200" b="0" i="0" u="none" strike="noStrike" kern="1200" baseline="0" smtClean="0">
                  <a:solidFill>
                    <a:sysClr val="windowText" lastClr="000000"/>
                  </a:solidFill>
                  <a:latin typeface="+mn-lt"/>
                  <a:ea typeface="+mn-ea"/>
                  <a:cs typeface="+mn-cs"/>
                </a:defRPr>
              </a:pPr>
              <a:endParaRPr lang="ru-RU"/>
            </a:p>
          </c:txPr>
        </c:title>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ru-RU"/>
          </a:p>
        </c:txPr>
        <c:crossAx val="1445534383"/>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ru-RU"/>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ru-RU"/>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hart1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pivotSource>
    <c:name>[09 08_24_0966b5d229800076.83554415Задание2_Асмандияров_Раиль (1).xlsx]Задание 1!Сводная таблица2</c:name>
    <c:fmtId val="4"/>
  </c:pivotSource>
  <c:chart>
    <c:autoTitleDeleted val="1"/>
    <c:pivotFmts>
      <c:pivotFmt>
        <c:idx val="0"/>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ru-RU"/>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ru-RU"/>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ru-RU"/>
            </a:p>
          </c:txPr>
          <c:showLegendKey val="0"/>
          <c:showVal val="0"/>
          <c:showCatName val="0"/>
          <c:showSerName val="0"/>
          <c:showPercent val="0"/>
          <c:showBubbleSize val="0"/>
          <c:extLst>
            <c:ext xmlns:c15="http://schemas.microsoft.com/office/drawing/2012/chart" uri="{CE6537A1-D6FC-4f65-9D91-7224C49458BB}"/>
          </c:extLst>
        </c:dLbl>
      </c:pivotFmt>
      <c:pivotFmt>
        <c:idx val="3"/>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ru-RU"/>
            </a:p>
          </c:txPr>
          <c:showLegendKey val="0"/>
          <c:showVal val="0"/>
          <c:showCatName val="0"/>
          <c:showSerName val="0"/>
          <c:showPercent val="0"/>
          <c:showBubbleSize val="0"/>
          <c:extLst>
            <c:ext xmlns:c15="http://schemas.microsoft.com/office/drawing/2012/chart" uri="{CE6537A1-D6FC-4f65-9D91-7224C49458BB}"/>
          </c:extLst>
        </c:dLbl>
      </c:pivotFmt>
      <c:pivotFmt>
        <c:idx val="4"/>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ru-RU"/>
            </a:p>
          </c:txPr>
          <c:showLegendKey val="0"/>
          <c:showVal val="0"/>
          <c:showCatName val="0"/>
          <c:showSerName val="0"/>
          <c:showPercent val="0"/>
          <c:showBubbleSize val="0"/>
          <c:extLst>
            <c:ext xmlns:c15="http://schemas.microsoft.com/office/drawing/2012/chart" uri="{CE6537A1-D6FC-4f65-9D91-7224C49458BB}"/>
          </c:extLst>
        </c:dLbl>
      </c:pivotFmt>
      <c:pivotFmt>
        <c:idx val="5"/>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ru-RU"/>
            </a:p>
          </c:txPr>
          <c:showLegendKey val="0"/>
          <c:showVal val="0"/>
          <c:showCatName val="0"/>
          <c:showSerName val="0"/>
          <c:showPercent val="0"/>
          <c:showBubbleSize val="0"/>
          <c:extLst>
            <c:ext xmlns:c15="http://schemas.microsoft.com/office/drawing/2012/chart" uri="{CE6537A1-D6FC-4f65-9D91-7224C49458BB}"/>
          </c:extLst>
        </c:dLbl>
      </c:pivotFmt>
      <c:pivotFmt>
        <c:idx val="6"/>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ru-RU"/>
            </a:p>
          </c:txPr>
          <c:showLegendKey val="0"/>
          <c:showVal val="0"/>
          <c:showCatName val="0"/>
          <c:showSerName val="0"/>
          <c:showPercent val="0"/>
          <c:showBubbleSize val="0"/>
          <c:extLst>
            <c:ext xmlns:c15="http://schemas.microsoft.com/office/drawing/2012/chart" uri="{CE6537A1-D6FC-4f65-9D91-7224C49458BB}"/>
          </c:extLst>
        </c:dLbl>
      </c:pivotFmt>
      <c:pivotFmt>
        <c:idx val="7"/>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ru-RU"/>
            </a:p>
          </c:txPr>
          <c:showLegendKey val="0"/>
          <c:showVal val="0"/>
          <c:showCatName val="0"/>
          <c:showSerName val="0"/>
          <c:showPercent val="0"/>
          <c:showBubbleSize val="0"/>
          <c:extLst>
            <c:ext xmlns:c15="http://schemas.microsoft.com/office/drawing/2012/chart" uri="{CE6537A1-D6FC-4f65-9D91-7224C49458BB}"/>
          </c:extLst>
        </c:dLbl>
      </c:pivotFmt>
      <c:pivotFmt>
        <c:idx val="8"/>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ru-RU"/>
            </a:p>
          </c:txPr>
          <c:showLegendKey val="0"/>
          <c:showVal val="0"/>
          <c:showCatName val="0"/>
          <c:showSerName val="0"/>
          <c:showPercent val="0"/>
          <c:showBubbleSize val="0"/>
          <c:extLst>
            <c:ext xmlns:c15="http://schemas.microsoft.com/office/drawing/2012/chart" uri="{CE6537A1-D6FC-4f65-9D91-7224C49458BB}"/>
          </c:extLst>
        </c:dLbl>
      </c:pivotFmt>
    </c:pivotFmts>
    <c:plotArea>
      <c:layout>
        <c:manualLayout>
          <c:layoutTarget val="inner"/>
          <c:xMode val="edge"/>
          <c:yMode val="edge"/>
          <c:x val="8.0324888845486844E-2"/>
          <c:y val="2.6107518498120614E-2"/>
          <c:w val="0.8116587661627096"/>
          <c:h val="0.86270229822784705"/>
        </c:manualLayout>
      </c:layout>
      <c:lineChart>
        <c:grouping val="standard"/>
        <c:varyColors val="0"/>
        <c:ser>
          <c:idx val="0"/>
          <c:order val="0"/>
          <c:tx>
            <c:strRef>
              <c:f>'Задание 1'!$B$36:$B$37</c:f>
              <c:strCache>
                <c:ptCount val="1"/>
                <c:pt idx="0">
                  <c:v>MasterCard</c:v>
                </c:pt>
              </c:strCache>
            </c:strRef>
          </c:tx>
          <c:spPr>
            <a:ln w="28575" cap="rnd">
              <a:solidFill>
                <a:schemeClr val="accent1"/>
              </a:solidFill>
              <a:round/>
            </a:ln>
            <a:effectLst/>
          </c:spPr>
          <c:marker>
            <c:symbol val="none"/>
          </c:marker>
          <c:cat>
            <c:strRef>
              <c:f>'Задание 1'!$A$38:$A$61</c:f>
              <c:strCache>
                <c:ptCount val="24"/>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strCache>
            </c:strRef>
          </c:cat>
          <c:val>
            <c:numRef>
              <c:f>'Задание 1'!$B$38:$B$61</c:f>
              <c:numCache>
                <c:formatCode>0.00</c:formatCode>
                <c:ptCount val="24"/>
                <c:pt idx="0">
                  <c:v>98.004942738997016</c:v>
                </c:pt>
                <c:pt idx="1">
                  <c:v>104.50348966902024</c:v>
                </c:pt>
                <c:pt idx="2">
                  <c:v>106.63820033892989</c:v>
                </c:pt>
                <c:pt idx="3">
                  <c:v>105.07509346974835</c:v>
                </c:pt>
                <c:pt idx="4">
                  <c:v>109.98871595779013</c:v>
                </c:pt>
                <c:pt idx="5">
                  <c:v>136.83009870350361</c:v>
                </c:pt>
                <c:pt idx="6">
                  <c:v>121.09515341243853</c:v>
                </c:pt>
                <c:pt idx="7">
                  <c:v>111.68732674307545</c:v>
                </c:pt>
                <c:pt idx="8">
                  <c:v>122.78747376269446</c:v>
                </c:pt>
                <c:pt idx="9">
                  <c:v>103.87442401393359</c:v>
                </c:pt>
                <c:pt idx="10">
                  <c:v>97.818573527312012</c:v>
                </c:pt>
                <c:pt idx="11">
                  <c:v>152.14204047146569</c:v>
                </c:pt>
                <c:pt idx="12">
                  <c:v>144.9174364897892</c:v>
                </c:pt>
                <c:pt idx="13">
                  <c:v>153.34645864013584</c:v>
                </c:pt>
                <c:pt idx="14">
                  <c:v>161.04652635216459</c:v>
                </c:pt>
                <c:pt idx="15">
                  <c:v>156.1599844214206</c:v>
                </c:pt>
                <c:pt idx="16">
                  <c:v>109.99185800050887</c:v>
                </c:pt>
                <c:pt idx="17">
                  <c:v>108.34328806959093</c:v>
                </c:pt>
                <c:pt idx="18">
                  <c:v>128.29759712965989</c:v>
                </c:pt>
                <c:pt idx="19">
                  <c:v>145.87931551955521</c:v>
                </c:pt>
                <c:pt idx="20">
                  <c:v>153.02663714319351</c:v>
                </c:pt>
                <c:pt idx="21">
                  <c:v>136.87760263384706</c:v>
                </c:pt>
                <c:pt idx="22">
                  <c:v>135.73066582426154</c:v>
                </c:pt>
                <c:pt idx="23">
                  <c:v>160.97159491443375</c:v>
                </c:pt>
              </c:numCache>
            </c:numRef>
          </c:val>
          <c:smooth val="0"/>
          <c:extLst>
            <c:ext xmlns:c16="http://schemas.microsoft.com/office/drawing/2014/chart" uri="{C3380CC4-5D6E-409C-BE32-E72D297353CC}">
              <c16:uniqueId val="{00000000-CDCA-4E58-B028-E041A1D8C1BA}"/>
            </c:ext>
          </c:extLst>
        </c:ser>
        <c:ser>
          <c:idx val="1"/>
          <c:order val="1"/>
          <c:tx>
            <c:strRef>
              <c:f>'Задание 1'!$C$36:$C$37</c:f>
              <c:strCache>
                <c:ptCount val="1"/>
                <c:pt idx="0">
                  <c:v>Visa</c:v>
                </c:pt>
              </c:strCache>
            </c:strRef>
          </c:tx>
          <c:spPr>
            <a:ln w="28575" cap="rnd">
              <a:solidFill>
                <a:schemeClr val="accent2"/>
              </a:solidFill>
              <a:round/>
            </a:ln>
            <a:effectLst/>
          </c:spPr>
          <c:marker>
            <c:symbol val="none"/>
          </c:marker>
          <c:cat>
            <c:strRef>
              <c:f>'Задание 1'!$A$38:$A$61</c:f>
              <c:strCache>
                <c:ptCount val="24"/>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strCache>
            </c:strRef>
          </c:cat>
          <c:val>
            <c:numRef>
              <c:f>'Задание 1'!$C$38:$C$61</c:f>
              <c:numCache>
                <c:formatCode>0.00</c:formatCode>
                <c:ptCount val="24"/>
                <c:pt idx="0">
                  <c:v>113.9331184584354</c:v>
                </c:pt>
                <c:pt idx="1">
                  <c:v>118.51813853942215</c:v>
                </c:pt>
                <c:pt idx="2">
                  <c:v>106.28921470564345</c:v>
                </c:pt>
                <c:pt idx="3">
                  <c:v>122.74794969940558</c:v>
                </c:pt>
                <c:pt idx="4">
                  <c:v>120.90261769535149</c:v>
                </c:pt>
                <c:pt idx="5">
                  <c:v>133.52976570505712</c:v>
                </c:pt>
                <c:pt idx="6">
                  <c:v>125.25377968268003</c:v>
                </c:pt>
                <c:pt idx="7">
                  <c:v>105.52373028282697</c:v>
                </c:pt>
                <c:pt idx="8">
                  <c:v>111.12034194321544</c:v>
                </c:pt>
                <c:pt idx="9">
                  <c:v>110.74600171757665</c:v>
                </c:pt>
                <c:pt idx="10">
                  <c:v>107.80457725307761</c:v>
                </c:pt>
                <c:pt idx="11">
                  <c:v>152.08407824366904</c:v>
                </c:pt>
                <c:pt idx="12">
                  <c:v>149.76138902303879</c:v>
                </c:pt>
                <c:pt idx="13">
                  <c:v>166.64078854600808</c:v>
                </c:pt>
                <c:pt idx="14">
                  <c:v>148.33432658670063</c:v>
                </c:pt>
                <c:pt idx="15">
                  <c:v>159.87263613443992</c:v>
                </c:pt>
                <c:pt idx="16">
                  <c:v>109.55382721005734</c:v>
                </c:pt>
                <c:pt idx="17">
                  <c:v>111.96749041449617</c:v>
                </c:pt>
                <c:pt idx="18">
                  <c:v>113.06782551270364</c:v>
                </c:pt>
                <c:pt idx="19">
                  <c:v>104.15490594127083</c:v>
                </c:pt>
                <c:pt idx="20">
                  <c:v>106.89762774152014</c:v>
                </c:pt>
                <c:pt idx="21">
                  <c:v>112.89883423057135</c:v>
                </c:pt>
                <c:pt idx="22">
                  <c:v>111.73753200564533</c:v>
                </c:pt>
                <c:pt idx="23">
                  <c:v>113.96886988826279</c:v>
                </c:pt>
              </c:numCache>
            </c:numRef>
          </c:val>
          <c:smooth val="0"/>
          <c:extLst>
            <c:ext xmlns:c16="http://schemas.microsoft.com/office/drawing/2014/chart" uri="{C3380CC4-5D6E-409C-BE32-E72D297353CC}">
              <c16:uniqueId val="{00000005-CDCA-4E58-B028-E041A1D8C1BA}"/>
            </c:ext>
          </c:extLst>
        </c:ser>
        <c:ser>
          <c:idx val="2"/>
          <c:order val="2"/>
          <c:tx>
            <c:strRef>
              <c:f>'Задание 1'!$D$36:$D$37</c:f>
              <c:strCache>
                <c:ptCount val="1"/>
                <c:pt idx="0">
                  <c:v>МИР</c:v>
                </c:pt>
              </c:strCache>
            </c:strRef>
          </c:tx>
          <c:spPr>
            <a:ln w="28575" cap="rnd">
              <a:solidFill>
                <a:schemeClr val="accent3"/>
              </a:solidFill>
              <a:round/>
            </a:ln>
            <a:effectLst/>
          </c:spPr>
          <c:marker>
            <c:symbol val="none"/>
          </c:marker>
          <c:cat>
            <c:strRef>
              <c:f>'Задание 1'!$A$38:$A$61</c:f>
              <c:strCache>
                <c:ptCount val="24"/>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strCache>
            </c:strRef>
          </c:cat>
          <c:val>
            <c:numRef>
              <c:f>'Задание 1'!$D$38:$D$61</c:f>
              <c:numCache>
                <c:formatCode>0.00</c:formatCode>
                <c:ptCount val="24"/>
                <c:pt idx="0">
                  <c:v>109.11751151738216</c:v>
                </c:pt>
                <c:pt idx="1">
                  <c:v>90.833559767037755</c:v>
                </c:pt>
                <c:pt idx="2">
                  <c:v>102.10764815244053</c:v>
                </c:pt>
                <c:pt idx="3">
                  <c:v>150.70751505810767</c:v>
                </c:pt>
                <c:pt idx="4">
                  <c:v>129.44478819306607</c:v>
                </c:pt>
                <c:pt idx="5">
                  <c:v>123.9528373095461</c:v>
                </c:pt>
                <c:pt idx="6">
                  <c:v>118.58414526738714</c:v>
                </c:pt>
                <c:pt idx="7">
                  <c:v>90.217914395034313</c:v>
                </c:pt>
                <c:pt idx="8">
                  <c:v>103.99905512665188</c:v>
                </c:pt>
                <c:pt idx="9">
                  <c:v>108.91658192813338</c:v>
                </c:pt>
                <c:pt idx="10">
                  <c:v>117.58953381911851</c:v>
                </c:pt>
                <c:pt idx="11">
                  <c:v>148.02394873945963</c:v>
                </c:pt>
                <c:pt idx="12">
                  <c:v>162.95781722778815</c:v>
                </c:pt>
                <c:pt idx="13">
                  <c:v>146.71497822112948</c:v>
                </c:pt>
                <c:pt idx="14">
                  <c:v>138.1733808879662</c:v>
                </c:pt>
                <c:pt idx="15">
                  <c:v>144.86004912606595</c:v>
                </c:pt>
                <c:pt idx="16">
                  <c:v>117.52828556396391</c:v>
                </c:pt>
                <c:pt idx="17">
                  <c:v>119.6862743133679</c:v>
                </c:pt>
                <c:pt idx="18">
                  <c:v>97.626264247362712</c:v>
                </c:pt>
                <c:pt idx="19">
                  <c:v>108.14739344193815</c:v>
                </c:pt>
                <c:pt idx="20">
                  <c:v>107.86299420726776</c:v>
                </c:pt>
                <c:pt idx="21">
                  <c:v>117.94039858068572</c:v>
                </c:pt>
                <c:pt idx="22">
                  <c:v>103.57064268590041</c:v>
                </c:pt>
                <c:pt idx="23">
                  <c:v>100.77668904725995</c:v>
                </c:pt>
              </c:numCache>
            </c:numRef>
          </c:val>
          <c:smooth val="0"/>
          <c:extLst>
            <c:ext xmlns:c16="http://schemas.microsoft.com/office/drawing/2014/chart" uri="{C3380CC4-5D6E-409C-BE32-E72D297353CC}">
              <c16:uniqueId val="{00000006-CDCA-4E58-B028-E041A1D8C1BA}"/>
            </c:ext>
          </c:extLst>
        </c:ser>
        <c:dLbls>
          <c:showLegendKey val="0"/>
          <c:showVal val="0"/>
          <c:showCatName val="0"/>
          <c:showSerName val="0"/>
          <c:showPercent val="0"/>
          <c:showBubbleSize val="0"/>
        </c:dLbls>
        <c:smooth val="0"/>
        <c:axId val="926156880"/>
        <c:axId val="926161200"/>
      </c:lineChart>
      <c:catAx>
        <c:axId val="926156880"/>
        <c:scaling>
          <c:orientation val="minMax"/>
        </c:scaling>
        <c:delete val="0"/>
        <c:axPos val="b"/>
        <c:title>
          <c:tx>
            <c:rich>
              <a:bodyPr rot="0" spcFirstLastPara="1" vertOverflow="ellipsis" vert="horz" wrap="square" anchor="ctr" anchorCtr="1"/>
              <a:lstStyle/>
              <a:p>
                <a:pPr>
                  <a:defRPr lang="en-US" sz="1200" b="0" i="0" u="none" strike="noStrike" kern="1200" baseline="0" smtClean="0">
                    <a:solidFill>
                      <a:sysClr val="windowText" lastClr="000000"/>
                    </a:solidFill>
                    <a:latin typeface="+mn-lt"/>
                    <a:ea typeface="+mn-ea"/>
                    <a:cs typeface="+mn-cs"/>
                  </a:defRPr>
                </a:pPr>
                <a:r>
                  <a:rPr lang="en-US" sz="1200">
                    <a:solidFill>
                      <a:sysClr val="windowText" lastClr="000000"/>
                    </a:solidFill>
                  </a:rPr>
                  <a:t>Time of day</a:t>
                </a:r>
              </a:p>
            </c:rich>
          </c:tx>
          <c:layout>
            <c:manualLayout>
              <c:xMode val="edge"/>
              <c:yMode val="edge"/>
              <c:x val="0.44683998497739857"/>
              <c:y val="0.95098906754670998"/>
            </c:manualLayout>
          </c:layout>
          <c:overlay val="0"/>
          <c:spPr>
            <a:noFill/>
            <a:ln>
              <a:noFill/>
            </a:ln>
            <a:effectLst/>
          </c:spPr>
          <c:txPr>
            <a:bodyPr rot="0" spcFirstLastPara="1" vertOverflow="ellipsis" vert="horz" wrap="square" anchor="ctr" anchorCtr="1"/>
            <a:lstStyle/>
            <a:p>
              <a:pPr>
                <a:defRPr lang="en-US" sz="1200" b="0" i="0" u="none" strike="noStrike" kern="1200" baseline="0" smtClean="0">
                  <a:solidFill>
                    <a:sysClr val="windowText" lastClr="000000"/>
                  </a:solidFill>
                  <a:latin typeface="+mn-lt"/>
                  <a:ea typeface="+mn-ea"/>
                  <a:cs typeface="+mn-cs"/>
                </a:defRPr>
              </a:pPr>
              <a:endParaRPr lang="ru-RU"/>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ru-RU"/>
          </a:p>
        </c:txPr>
        <c:crossAx val="926161200"/>
        <c:crosses val="autoZero"/>
        <c:auto val="1"/>
        <c:lblAlgn val="ctr"/>
        <c:lblOffset val="100"/>
        <c:noMultiLvlLbl val="0"/>
      </c:catAx>
      <c:valAx>
        <c:axId val="926161200"/>
        <c:scaling>
          <c:orientation val="minMax"/>
          <c:min val="0"/>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lang="en-US" sz="1200" b="0" i="0" u="none" strike="noStrike" kern="1200" baseline="0" smtClean="0">
                    <a:solidFill>
                      <a:sysClr val="windowText" lastClr="000000"/>
                    </a:solidFill>
                    <a:latin typeface="+mn-lt"/>
                    <a:ea typeface="+mn-ea"/>
                    <a:cs typeface="+mn-cs"/>
                  </a:defRPr>
                </a:pPr>
                <a:r>
                  <a:rPr lang="en-US" sz="1200">
                    <a:solidFill>
                      <a:sysClr val="windowText" lastClr="000000"/>
                    </a:solidFill>
                  </a:rPr>
                  <a:t>Average transaction duration</a:t>
                </a:r>
              </a:p>
            </c:rich>
          </c:tx>
          <c:layout>
            <c:manualLayout>
              <c:xMode val="edge"/>
              <c:yMode val="edge"/>
              <c:x val="2.4510153958505658E-3"/>
              <c:y val="0.24755420294788907"/>
            </c:manualLayout>
          </c:layout>
          <c:overlay val="0"/>
          <c:spPr>
            <a:noFill/>
            <a:ln>
              <a:noFill/>
            </a:ln>
            <a:effectLst/>
          </c:spPr>
          <c:txPr>
            <a:bodyPr rot="-5400000" spcFirstLastPara="1" vertOverflow="ellipsis" vert="horz" wrap="square" anchor="ctr" anchorCtr="1"/>
            <a:lstStyle/>
            <a:p>
              <a:pPr>
                <a:defRPr lang="en-US" sz="1200" b="0" i="0" u="none" strike="noStrike" kern="1200" baseline="0" smtClean="0">
                  <a:solidFill>
                    <a:sysClr val="windowText" lastClr="000000"/>
                  </a:solidFill>
                  <a:latin typeface="+mn-lt"/>
                  <a:ea typeface="+mn-ea"/>
                  <a:cs typeface="+mn-cs"/>
                </a:defRPr>
              </a:pPr>
              <a:endParaRPr lang="ru-RU"/>
            </a:p>
          </c:txPr>
        </c:title>
        <c:numFmt formatCode="0.0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ru-RU"/>
          </a:p>
        </c:txPr>
        <c:crossAx val="926156880"/>
        <c:crosses val="autoZero"/>
        <c:crossBetween val="between"/>
        <c:majorUnit val="10"/>
      </c:valAx>
      <c:spPr>
        <a:noFill/>
        <a:ln>
          <a:noFill/>
        </a:ln>
        <a:effectLst/>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ru-RU"/>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ru-RU"/>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hart1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pivotSource>
    <c:name>[09 08_24_0966b5d229800076.83554415Задание2_Асмандияров_Раиль (1).xlsx]Задание 1!Сводная таблица5</c:name>
    <c:fmtId val="5"/>
  </c:pivotSource>
  <c:chart>
    <c:autoTitleDeleted val="1"/>
    <c:pivotFmts>
      <c:pivotFmt>
        <c:idx val="0"/>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ru-RU"/>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ru-RU"/>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ru-RU"/>
            </a:p>
          </c:txPr>
          <c:showLegendKey val="0"/>
          <c:showVal val="0"/>
          <c:showCatName val="0"/>
          <c:showSerName val="0"/>
          <c:showPercent val="0"/>
          <c:showBubbleSize val="0"/>
          <c:extLst>
            <c:ext xmlns:c15="http://schemas.microsoft.com/office/drawing/2012/chart" uri="{CE6537A1-D6FC-4f65-9D91-7224C49458BB}"/>
          </c:extLst>
        </c:dLbl>
      </c:pivotFmt>
      <c:pivotFmt>
        <c:idx val="3"/>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ru-RU"/>
            </a:p>
          </c:txPr>
          <c:showLegendKey val="0"/>
          <c:showVal val="0"/>
          <c:showCatName val="0"/>
          <c:showSerName val="0"/>
          <c:showPercent val="0"/>
          <c:showBubbleSize val="0"/>
          <c:extLst>
            <c:ext xmlns:c15="http://schemas.microsoft.com/office/drawing/2012/chart" uri="{CE6537A1-D6FC-4f65-9D91-7224C49458BB}"/>
          </c:extLst>
        </c:dLbl>
      </c:pivotFmt>
      <c:pivotFmt>
        <c:idx val="4"/>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ru-RU"/>
            </a:p>
          </c:txPr>
          <c:showLegendKey val="0"/>
          <c:showVal val="0"/>
          <c:showCatName val="0"/>
          <c:showSerName val="0"/>
          <c:showPercent val="0"/>
          <c:showBubbleSize val="0"/>
          <c:extLst>
            <c:ext xmlns:c15="http://schemas.microsoft.com/office/drawing/2012/chart" uri="{CE6537A1-D6FC-4f65-9D91-7224C49458BB}"/>
          </c:extLst>
        </c:dLbl>
      </c:pivotFmt>
      <c:pivotFmt>
        <c:idx val="5"/>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ru-RU"/>
            </a:p>
          </c:txPr>
          <c:showLegendKey val="0"/>
          <c:showVal val="0"/>
          <c:showCatName val="0"/>
          <c:showSerName val="0"/>
          <c:showPercent val="0"/>
          <c:showBubbleSize val="0"/>
          <c:extLst>
            <c:ext xmlns:c15="http://schemas.microsoft.com/office/drawing/2012/chart" uri="{CE6537A1-D6FC-4f65-9D91-7224C49458BB}"/>
          </c:extLst>
        </c:dLbl>
      </c:pivotFmt>
      <c:pivotFmt>
        <c:idx val="6"/>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ru-RU"/>
            </a:p>
          </c:txPr>
          <c:showLegendKey val="0"/>
          <c:showVal val="0"/>
          <c:showCatName val="0"/>
          <c:showSerName val="0"/>
          <c:showPercent val="0"/>
          <c:showBubbleSize val="0"/>
          <c:extLst>
            <c:ext xmlns:c15="http://schemas.microsoft.com/office/drawing/2012/chart" uri="{CE6537A1-D6FC-4f65-9D91-7224C49458BB}"/>
          </c:extLst>
        </c:dLbl>
      </c:pivotFmt>
      <c:pivotFmt>
        <c:idx val="7"/>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ru-RU"/>
            </a:p>
          </c:txPr>
          <c:showLegendKey val="0"/>
          <c:showVal val="0"/>
          <c:showCatName val="0"/>
          <c:showSerName val="0"/>
          <c:showPercent val="0"/>
          <c:showBubbleSize val="0"/>
          <c:extLst>
            <c:ext xmlns:c15="http://schemas.microsoft.com/office/drawing/2012/chart" uri="{CE6537A1-D6FC-4f65-9D91-7224C49458BB}"/>
          </c:extLst>
        </c:dLbl>
      </c:pivotFmt>
      <c:pivotFmt>
        <c:idx val="8"/>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ru-RU"/>
            </a:p>
          </c:txPr>
          <c:showLegendKey val="0"/>
          <c:showVal val="0"/>
          <c:showCatName val="0"/>
          <c:showSerName val="0"/>
          <c:showPercent val="0"/>
          <c:showBubbleSize val="0"/>
          <c:extLst>
            <c:ext xmlns:c15="http://schemas.microsoft.com/office/drawing/2012/chart" uri="{CE6537A1-D6FC-4f65-9D91-7224C49458BB}"/>
          </c:extLst>
        </c:dLbl>
      </c:pivotFmt>
    </c:pivotFmts>
    <c:plotArea>
      <c:layout>
        <c:manualLayout>
          <c:layoutTarget val="inner"/>
          <c:xMode val="edge"/>
          <c:yMode val="edge"/>
          <c:x val="8.1134219635589033E-2"/>
          <c:y val="2.4951802120242325E-2"/>
          <c:w val="0.81000095096808555"/>
          <c:h val="0.86878013372165508"/>
        </c:manualLayout>
      </c:layout>
      <c:lineChart>
        <c:grouping val="standard"/>
        <c:varyColors val="0"/>
        <c:ser>
          <c:idx val="0"/>
          <c:order val="0"/>
          <c:tx>
            <c:strRef>
              <c:f>'Задание 1'!$B$66:$B$67</c:f>
              <c:strCache>
                <c:ptCount val="1"/>
                <c:pt idx="0">
                  <c:v>MasterCard</c:v>
                </c:pt>
              </c:strCache>
            </c:strRef>
          </c:tx>
          <c:spPr>
            <a:ln w="28575" cap="rnd">
              <a:solidFill>
                <a:schemeClr val="accent1"/>
              </a:solidFill>
              <a:round/>
            </a:ln>
            <a:effectLst/>
          </c:spPr>
          <c:marker>
            <c:symbol val="none"/>
          </c:marker>
          <c:cat>
            <c:strRef>
              <c:f>'Задание 1'!$A$68:$A$91</c:f>
              <c:strCache>
                <c:ptCount val="24"/>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strCache>
            </c:strRef>
          </c:cat>
          <c:val>
            <c:numRef>
              <c:f>'Задание 1'!$B$68:$B$91</c:f>
              <c:numCache>
                <c:formatCode>0</c:formatCode>
                <c:ptCount val="24"/>
                <c:pt idx="0">
                  <c:v>87</c:v>
                </c:pt>
                <c:pt idx="1">
                  <c:v>95</c:v>
                </c:pt>
                <c:pt idx="2">
                  <c:v>90</c:v>
                </c:pt>
                <c:pt idx="3">
                  <c:v>73</c:v>
                </c:pt>
                <c:pt idx="4">
                  <c:v>93</c:v>
                </c:pt>
                <c:pt idx="5">
                  <c:v>90</c:v>
                </c:pt>
                <c:pt idx="6">
                  <c:v>95</c:v>
                </c:pt>
                <c:pt idx="7">
                  <c:v>97</c:v>
                </c:pt>
                <c:pt idx="8">
                  <c:v>117</c:v>
                </c:pt>
                <c:pt idx="9">
                  <c:v>88</c:v>
                </c:pt>
                <c:pt idx="10">
                  <c:v>102</c:v>
                </c:pt>
                <c:pt idx="11">
                  <c:v>127</c:v>
                </c:pt>
                <c:pt idx="12">
                  <c:v>121</c:v>
                </c:pt>
                <c:pt idx="13">
                  <c:v>125</c:v>
                </c:pt>
                <c:pt idx="14">
                  <c:v>118</c:v>
                </c:pt>
                <c:pt idx="15">
                  <c:v>124</c:v>
                </c:pt>
                <c:pt idx="16">
                  <c:v>104</c:v>
                </c:pt>
                <c:pt idx="17">
                  <c:v>116</c:v>
                </c:pt>
                <c:pt idx="18">
                  <c:v>99</c:v>
                </c:pt>
                <c:pt idx="19">
                  <c:v>93</c:v>
                </c:pt>
                <c:pt idx="20">
                  <c:v>96</c:v>
                </c:pt>
                <c:pt idx="21">
                  <c:v>113</c:v>
                </c:pt>
                <c:pt idx="22">
                  <c:v>122</c:v>
                </c:pt>
                <c:pt idx="23">
                  <c:v>106</c:v>
                </c:pt>
              </c:numCache>
            </c:numRef>
          </c:val>
          <c:smooth val="0"/>
          <c:extLst>
            <c:ext xmlns:c16="http://schemas.microsoft.com/office/drawing/2014/chart" uri="{C3380CC4-5D6E-409C-BE32-E72D297353CC}">
              <c16:uniqueId val="{00000000-9F9F-4294-8659-F4C4EC62FF85}"/>
            </c:ext>
          </c:extLst>
        </c:ser>
        <c:ser>
          <c:idx val="1"/>
          <c:order val="1"/>
          <c:tx>
            <c:strRef>
              <c:f>'Задание 1'!$C$66:$C$67</c:f>
              <c:strCache>
                <c:ptCount val="1"/>
                <c:pt idx="0">
                  <c:v>Visa</c:v>
                </c:pt>
              </c:strCache>
            </c:strRef>
          </c:tx>
          <c:spPr>
            <a:ln w="28575" cap="rnd">
              <a:solidFill>
                <a:schemeClr val="accent2"/>
              </a:solidFill>
              <a:round/>
            </a:ln>
            <a:effectLst/>
          </c:spPr>
          <c:marker>
            <c:symbol val="none"/>
          </c:marker>
          <c:cat>
            <c:strRef>
              <c:f>'Задание 1'!$A$68:$A$91</c:f>
              <c:strCache>
                <c:ptCount val="24"/>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strCache>
            </c:strRef>
          </c:cat>
          <c:val>
            <c:numRef>
              <c:f>'Задание 1'!$C$68:$C$91</c:f>
              <c:numCache>
                <c:formatCode>0</c:formatCode>
                <c:ptCount val="24"/>
                <c:pt idx="0">
                  <c:v>146</c:v>
                </c:pt>
                <c:pt idx="1">
                  <c:v>156</c:v>
                </c:pt>
                <c:pt idx="2">
                  <c:v>138</c:v>
                </c:pt>
                <c:pt idx="3">
                  <c:v>120</c:v>
                </c:pt>
                <c:pt idx="4">
                  <c:v>129</c:v>
                </c:pt>
                <c:pt idx="5">
                  <c:v>118</c:v>
                </c:pt>
                <c:pt idx="6">
                  <c:v>176</c:v>
                </c:pt>
                <c:pt idx="7">
                  <c:v>162</c:v>
                </c:pt>
                <c:pt idx="8">
                  <c:v>152</c:v>
                </c:pt>
                <c:pt idx="9">
                  <c:v>161</c:v>
                </c:pt>
                <c:pt idx="10">
                  <c:v>149</c:v>
                </c:pt>
                <c:pt idx="11">
                  <c:v>176</c:v>
                </c:pt>
                <c:pt idx="12">
                  <c:v>167</c:v>
                </c:pt>
                <c:pt idx="13">
                  <c:v>164</c:v>
                </c:pt>
                <c:pt idx="14">
                  <c:v>192</c:v>
                </c:pt>
                <c:pt idx="15">
                  <c:v>198</c:v>
                </c:pt>
                <c:pt idx="16">
                  <c:v>154</c:v>
                </c:pt>
                <c:pt idx="17">
                  <c:v>132</c:v>
                </c:pt>
                <c:pt idx="18">
                  <c:v>145</c:v>
                </c:pt>
                <c:pt idx="19">
                  <c:v>154</c:v>
                </c:pt>
                <c:pt idx="20">
                  <c:v>159</c:v>
                </c:pt>
                <c:pt idx="21">
                  <c:v>164</c:v>
                </c:pt>
                <c:pt idx="22">
                  <c:v>164</c:v>
                </c:pt>
                <c:pt idx="23">
                  <c:v>143</c:v>
                </c:pt>
              </c:numCache>
            </c:numRef>
          </c:val>
          <c:smooth val="0"/>
          <c:extLst>
            <c:ext xmlns:c16="http://schemas.microsoft.com/office/drawing/2014/chart" uri="{C3380CC4-5D6E-409C-BE32-E72D297353CC}">
              <c16:uniqueId val="{00000003-9F9F-4294-8659-F4C4EC62FF85}"/>
            </c:ext>
          </c:extLst>
        </c:ser>
        <c:ser>
          <c:idx val="2"/>
          <c:order val="2"/>
          <c:tx>
            <c:strRef>
              <c:f>'Задание 1'!$D$66:$D$67</c:f>
              <c:strCache>
                <c:ptCount val="1"/>
                <c:pt idx="0">
                  <c:v>МИР</c:v>
                </c:pt>
              </c:strCache>
            </c:strRef>
          </c:tx>
          <c:spPr>
            <a:ln w="28575" cap="rnd">
              <a:solidFill>
                <a:schemeClr val="accent3"/>
              </a:solidFill>
              <a:round/>
            </a:ln>
            <a:effectLst/>
          </c:spPr>
          <c:marker>
            <c:symbol val="none"/>
          </c:marker>
          <c:cat>
            <c:strRef>
              <c:f>'Задание 1'!$A$68:$A$91</c:f>
              <c:strCache>
                <c:ptCount val="24"/>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strCache>
            </c:strRef>
          </c:cat>
          <c:val>
            <c:numRef>
              <c:f>'Задание 1'!$D$68:$D$91</c:f>
              <c:numCache>
                <c:formatCode>0</c:formatCode>
                <c:ptCount val="24"/>
                <c:pt idx="0">
                  <c:v>67</c:v>
                </c:pt>
                <c:pt idx="1">
                  <c:v>61</c:v>
                </c:pt>
                <c:pt idx="2">
                  <c:v>58</c:v>
                </c:pt>
                <c:pt idx="3">
                  <c:v>50</c:v>
                </c:pt>
                <c:pt idx="4">
                  <c:v>67</c:v>
                </c:pt>
                <c:pt idx="5">
                  <c:v>66</c:v>
                </c:pt>
                <c:pt idx="6">
                  <c:v>61</c:v>
                </c:pt>
                <c:pt idx="7">
                  <c:v>55</c:v>
                </c:pt>
                <c:pt idx="8">
                  <c:v>62</c:v>
                </c:pt>
                <c:pt idx="9">
                  <c:v>64</c:v>
                </c:pt>
                <c:pt idx="10">
                  <c:v>60</c:v>
                </c:pt>
                <c:pt idx="11">
                  <c:v>79</c:v>
                </c:pt>
                <c:pt idx="12">
                  <c:v>67</c:v>
                </c:pt>
                <c:pt idx="13">
                  <c:v>87</c:v>
                </c:pt>
                <c:pt idx="14">
                  <c:v>83</c:v>
                </c:pt>
                <c:pt idx="15">
                  <c:v>91</c:v>
                </c:pt>
                <c:pt idx="16">
                  <c:v>69</c:v>
                </c:pt>
                <c:pt idx="17">
                  <c:v>75</c:v>
                </c:pt>
                <c:pt idx="18">
                  <c:v>78</c:v>
                </c:pt>
                <c:pt idx="19">
                  <c:v>78</c:v>
                </c:pt>
                <c:pt idx="20">
                  <c:v>61</c:v>
                </c:pt>
                <c:pt idx="21">
                  <c:v>64</c:v>
                </c:pt>
                <c:pt idx="22">
                  <c:v>73</c:v>
                </c:pt>
                <c:pt idx="23">
                  <c:v>63</c:v>
                </c:pt>
              </c:numCache>
            </c:numRef>
          </c:val>
          <c:smooth val="0"/>
          <c:extLst>
            <c:ext xmlns:c16="http://schemas.microsoft.com/office/drawing/2014/chart" uri="{C3380CC4-5D6E-409C-BE32-E72D297353CC}">
              <c16:uniqueId val="{00000004-9F9F-4294-8659-F4C4EC62FF85}"/>
            </c:ext>
          </c:extLst>
        </c:ser>
        <c:dLbls>
          <c:showLegendKey val="0"/>
          <c:showVal val="0"/>
          <c:showCatName val="0"/>
          <c:showSerName val="0"/>
          <c:showPercent val="0"/>
          <c:showBubbleSize val="0"/>
        </c:dLbls>
        <c:smooth val="0"/>
        <c:axId val="1076922256"/>
        <c:axId val="1076939536"/>
      </c:lineChart>
      <c:catAx>
        <c:axId val="1076922256"/>
        <c:scaling>
          <c:orientation val="minMax"/>
        </c:scaling>
        <c:delete val="0"/>
        <c:axPos val="b"/>
        <c:title>
          <c:tx>
            <c:rich>
              <a:bodyPr rot="0" spcFirstLastPara="1" vertOverflow="ellipsis" vert="horz" wrap="square" anchor="ctr" anchorCtr="1"/>
              <a:lstStyle/>
              <a:p>
                <a:pPr>
                  <a:defRPr lang="en-US" sz="1200" b="0" i="0" u="none" strike="noStrike" kern="1200" baseline="0" smtClean="0">
                    <a:solidFill>
                      <a:sysClr val="windowText" lastClr="000000"/>
                    </a:solidFill>
                    <a:latin typeface="+mn-lt"/>
                    <a:ea typeface="+mn-ea"/>
                    <a:cs typeface="+mn-cs"/>
                  </a:defRPr>
                </a:pPr>
                <a:r>
                  <a:rPr lang="en-US" sz="1200">
                    <a:solidFill>
                      <a:sysClr val="windowText" lastClr="000000"/>
                    </a:solidFill>
                  </a:rPr>
                  <a:t>Time of day</a:t>
                </a:r>
              </a:p>
            </c:rich>
          </c:tx>
          <c:layout>
            <c:manualLayout>
              <c:xMode val="edge"/>
              <c:yMode val="edge"/>
              <c:x val="0.45846276008977138"/>
              <c:y val="0.96093996062992126"/>
            </c:manualLayout>
          </c:layout>
          <c:overlay val="0"/>
          <c:spPr>
            <a:noFill/>
            <a:ln>
              <a:noFill/>
            </a:ln>
            <a:effectLst/>
          </c:spPr>
          <c:txPr>
            <a:bodyPr rot="0" spcFirstLastPara="1" vertOverflow="ellipsis" vert="horz" wrap="square" anchor="ctr" anchorCtr="1"/>
            <a:lstStyle/>
            <a:p>
              <a:pPr>
                <a:defRPr lang="en-US" sz="1200" b="0" i="0" u="none" strike="noStrike" kern="1200" baseline="0" smtClean="0">
                  <a:solidFill>
                    <a:sysClr val="windowText" lastClr="000000"/>
                  </a:solidFill>
                  <a:latin typeface="+mn-lt"/>
                  <a:ea typeface="+mn-ea"/>
                  <a:cs typeface="+mn-cs"/>
                </a:defRPr>
              </a:pPr>
              <a:endParaRPr lang="ru-RU"/>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ru-RU"/>
          </a:p>
        </c:txPr>
        <c:crossAx val="1076939536"/>
        <c:crosses val="autoZero"/>
        <c:auto val="1"/>
        <c:lblAlgn val="ctr"/>
        <c:lblOffset val="100"/>
        <c:noMultiLvlLbl val="0"/>
      </c:catAx>
      <c:valAx>
        <c:axId val="1076939536"/>
        <c:scaling>
          <c:orientation val="minMax"/>
          <c:max val="210"/>
          <c:min val="0"/>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lang="en-US" sz="1200" b="0" i="0" u="none" strike="noStrike" kern="1200" baseline="0" smtClean="0">
                    <a:solidFill>
                      <a:sysClr val="windowText" lastClr="000000"/>
                    </a:solidFill>
                    <a:latin typeface="+mn-lt"/>
                    <a:ea typeface="+mn-ea"/>
                    <a:cs typeface="+mn-cs"/>
                  </a:defRPr>
                </a:pPr>
                <a:r>
                  <a:rPr lang="en-US" sz="1200">
                    <a:solidFill>
                      <a:sysClr val="windowText" lastClr="000000"/>
                    </a:solidFill>
                  </a:rPr>
                  <a:t>Number of Contracts</a:t>
                </a:r>
              </a:p>
            </c:rich>
          </c:tx>
          <c:layout>
            <c:manualLayout>
              <c:xMode val="edge"/>
              <c:yMode val="edge"/>
              <c:x val="2.4154589371980675E-3"/>
              <c:y val="0.34664522807493897"/>
            </c:manualLayout>
          </c:layout>
          <c:overlay val="0"/>
          <c:spPr>
            <a:noFill/>
            <a:ln>
              <a:noFill/>
            </a:ln>
            <a:effectLst/>
          </c:spPr>
          <c:txPr>
            <a:bodyPr rot="-5400000" spcFirstLastPara="1" vertOverflow="ellipsis" vert="horz" wrap="square" anchor="ctr" anchorCtr="1"/>
            <a:lstStyle/>
            <a:p>
              <a:pPr>
                <a:defRPr lang="en-US" sz="1200" b="0" i="0" u="none" strike="noStrike" kern="1200" baseline="0" smtClean="0">
                  <a:solidFill>
                    <a:sysClr val="windowText" lastClr="000000"/>
                  </a:solidFill>
                  <a:latin typeface="+mn-lt"/>
                  <a:ea typeface="+mn-ea"/>
                  <a:cs typeface="+mn-cs"/>
                </a:defRPr>
              </a:pPr>
              <a:endParaRPr lang="ru-RU"/>
            </a:p>
          </c:txPr>
        </c:title>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ru-RU"/>
          </a:p>
        </c:txPr>
        <c:crossAx val="1076922256"/>
        <c:crosses val="autoZero"/>
        <c:crossBetween val="between"/>
        <c:majorUnit val="20"/>
      </c:valAx>
      <c:spPr>
        <a:noFill/>
        <a:ln>
          <a:noFill/>
        </a:ln>
        <a:effectLst/>
      </c:spPr>
    </c:plotArea>
    <c:legend>
      <c:legendPos val="r"/>
      <c:layout>
        <c:manualLayout>
          <c:xMode val="edge"/>
          <c:yMode val="edge"/>
          <c:x val="0.90689402501157945"/>
          <c:y val="0.36568231904221898"/>
          <c:w val="9.3105974988420562E-2"/>
          <c:h val="0.19469378571479548"/>
        </c:manualLayout>
      </c:layout>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ru-RU"/>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ru-RU"/>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hart1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pivotSource>
    <c:name>[22 19_51_0366c796a7222c29.91880360Воркшопexcel1_Асмандияров_РА.xlsx]Задание 1!Сводная таблица17</c:name>
    <c:fmtId val="7"/>
  </c:pivotSource>
  <c:chart>
    <c:autoTitleDeleted val="1"/>
    <c:pivotFmts>
      <c:pivotFmt>
        <c:idx val="0"/>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ru-RU"/>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ru-RU"/>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ru-RU"/>
            </a:p>
          </c:txPr>
          <c:showLegendKey val="0"/>
          <c:showVal val="0"/>
          <c:showCatName val="0"/>
          <c:showSerName val="0"/>
          <c:showPercent val="0"/>
          <c:showBubbleSize val="0"/>
          <c:extLst>
            <c:ext xmlns:c15="http://schemas.microsoft.com/office/drawing/2012/chart" uri="{CE6537A1-D6FC-4f65-9D91-7224C49458BB}"/>
          </c:extLst>
        </c:dLbl>
      </c:pivotFmt>
    </c:pivotFmts>
    <c:plotArea>
      <c:layout>
        <c:manualLayout>
          <c:layoutTarget val="inner"/>
          <c:xMode val="edge"/>
          <c:yMode val="edge"/>
          <c:x val="8.5175891391482433E-2"/>
          <c:y val="2.6893467601745668E-2"/>
          <c:w val="0.91023112473495404"/>
          <c:h val="0.8585690442134768"/>
        </c:manualLayout>
      </c:layout>
      <c:lineChart>
        <c:grouping val="standard"/>
        <c:varyColors val="0"/>
        <c:ser>
          <c:idx val="0"/>
          <c:order val="0"/>
          <c:tx>
            <c:strRef>
              <c:f>'Задание 1'!$B$7</c:f>
              <c:strCache>
                <c:ptCount val="1"/>
                <c:pt idx="0">
                  <c:v>Итог</c:v>
                </c:pt>
              </c:strCache>
            </c:strRef>
          </c:tx>
          <c:spPr>
            <a:ln w="28575" cap="rnd">
              <a:solidFill>
                <a:schemeClr val="accent1"/>
              </a:solidFill>
              <a:round/>
            </a:ln>
            <a:effectLst/>
          </c:spPr>
          <c:marker>
            <c:symbol val="none"/>
          </c:marker>
          <c:cat>
            <c:strRef>
              <c:f>'Задание 1'!$A$8:$A$10</c:f>
              <c:strCache>
                <c:ptCount val="3"/>
                <c:pt idx="0">
                  <c:v>05.сен</c:v>
                </c:pt>
                <c:pt idx="1">
                  <c:v>06.сен</c:v>
                </c:pt>
                <c:pt idx="2">
                  <c:v>07.сен</c:v>
                </c:pt>
              </c:strCache>
            </c:strRef>
          </c:cat>
          <c:val>
            <c:numRef>
              <c:f>'Задание 1'!$B$8:$B$10</c:f>
              <c:numCache>
                <c:formatCode>0</c:formatCode>
                <c:ptCount val="3"/>
                <c:pt idx="0">
                  <c:v>207.90849670986918</c:v>
                </c:pt>
                <c:pt idx="1">
                  <c:v>230.29468595860121</c:v>
                </c:pt>
                <c:pt idx="2">
                  <c:v>186.33333329583846</c:v>
                </c:pt>
              </c:numCache>
            </c:numRef>
          </c:val>
          <c:smooth val="0"/>
          <c:extLst>
            <c:ext xmlns:c16="http://schemas.microsoft.com/office/drawing/2014/chart" uri="{C3380CC4-5D6E-409C-BE32-E72D297353CC}">
              <c16:uniqueId val="{00000000-6FF4-4853-BD85-AA148FACFC7B}"/>
            </c:ext>
          </c:extLst>
        </c:ser>
        <c:dLbls>
          <c:showLegendKey val="0"/>
          <c:showVal val="0"/>
          <c:showCatName val="0"/>
          <c:showSerName val="0"/>
          <c:showPercent val="0"/>
          <c:showBubbleSize val="0"/>
        </c:dLbls>
        <c:smooth val="0"/>
        <c:axId val="522741231"/>
        <c:axId val="522740751"/>
      </c:lineChart>
      <c:catAx>
        <c:axId val="522741231"/>
        <c:scaling>
          <c:orientation val="minMax"/>
        </c:scaling>
        <c:delete val="0"/>
        <c:axPos val="b"/>
        <c:title>
          <c:tx>
            <c:rich>
              <a:bodyPr rot="0" spcFirstLastPara="1" vertOverflow="ellipsis" vert="horz" wrap="square" anchor="ctr" anchorCtr="1"/>
              <a:lstStyle/>
              <a:p>
                <a:pPr>
                  <a:defRPr lang="en-US" sz="1200" b="0" i="0" u="none" strike="noStrike" kern="1200" baseline="0" smtClean="0">
                    <a:solidFill>
                      <a:sysClr val="windowText" lastClr="000000"/>
                    </a:solidFill>
                    <a:latin typeface="+mn-lt"/>
                    <a:ea typeface="+mn-ea"/>
                    <a:cs typeface="+mn-cs"/>
                  </a:defRPr>
                </a:pPr>
                <a:r>
                  <a:rPr lang="en-US" sz="1200">
                    <a:solidFill>
                      <a:sysClr val="windowText" lastClr="000000"/>
                    </a:solidFill>
                  </a:rPr>
                  <a:t>Days</a:t>
                </a:r>
              </a:p>
            </c:rich>
          </c:tx>
          <c:layout>
            <c:manualLayout>
              <c:xMode val="edge"/>
              <c:yMode val="edge"/>
              <c:x val="0.48495119683395133"/>
              <c:y val="0.95932444841440201"/>
            </c:manualLayout>
          </c:layout>
          <c:overlay val="0"/>
          <c:spPr>
            <a:noFill/>
            <a:ln>
              <a:noFill/>
            </a:ln>
            <a:effectLst/>
          </c:spPr>
          <c:txPr>
            <a:bodyPr rot="0" spcFirstLastPara="1" vertOverflow="ellipsis" vert="horz" wrap="square" anchor="ctr" anchorCtr="1"/>
            <a:lstStyle/>
            <a:p>
              <a:pPr>
                <a:defRPr lang="en-US" sz="1200" b="0" i="0" u="none" strike="noStrike" kern="1200" baseline="0" smtClean="0">
                  <a:solidFill>
                    <a:sysClr val="windowText" lastClr="000000"/>
                  </a:solidFill>
                  <a:latin typeface="+mn-lt"/>
                  <a:ea typeface="+mn-ea"/>
                  <a:cs typeface="+mn-cs"/>
                </a:defRPr>
              </a:pPr>
              <a:endParaRPr lang="ru-RU"/>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ru-RU"/>
          </a:p>
        </c:txPr>
        <c:crossAx val="522740751"/>
        <c:crosses val="autoZero"/>
        <c:auto val="1"/>
        <c:lblAlgn val="ctr"/>
        <c:lblOffset val="100"/>
        <c:noMultiLvlLbl val="0"/>
      </c:catAx>
      <c:valAx>
        <c:axId val="522740751"/>
        <c:scaling>
          <c:orientation val="minMax"/>
          <c:max val="240"/>
          <c:min val="160"/>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lang="en-US" sz="1200" b="0" i="0" u="none" strike="noStrike" kern="1200" baseline="0" smtClean="0">
                    <a:solidFill>
                      <a:sysClr val="windowText" lastClr="000000"/>
                    </a:solidFill>
                    <a:latin typeface="+mn-lt"/>
                    <a:ea typeface="+mn-ea"/>
                    <a:cs typeface="+mn-cs"/>
                  </a:defRPr>
                </a:pPr>
                <a:r>
                  <a:rPr lang="en-US" sz="1200">
                    <a:solidFill>
                      <a:sysClr val="windowText" lastClr="000000"/>
                    </a:solidFill>
                  </a:rPr>
                  <a:t>Number of purchases</a:t>
                </a:r>
              </a:p>
            </c:rich>
          </c:tx>
          <c:layout>
            <c:manualLayout>
              <c:xMode val="edge"/>
              <c:yMode val="edge"/>
              <c:x val="5.4813826834381697E-3"/>
              <c:y val="0.39415851552679054"/>
            </c:manualLayout>
          </c:layout>
          <c:overlay val="0"/>
          <c:spPr>
            <a:noFill/>
            <a:ln>
              <a:noFill/>
            </a:ln>
            <a:effectLst/>
          </c:spPr>
          <c:txPr>
            <a:bodyPr rot="-5400000" spcFirstLastPara="1" vertOverflow="ellipsis" vert="horz" wrap="square" anchor="ctr" anchorCtr="1"/>
            <a:lstStyle/>
            <a:p>
              <a:pPr>
                <a:defRPr lang="en-US" sz="1200" b="0" i="0" u="none" strike="noStrike" kern="1200" baseline="0" smtClean="0">
                  <a:solidFill>
                    <a:sysClr val="windowText" lastClr="000000"/>
                  </a:solidFill>
                  <a:latin typeface="+mn-lt"/>
                  <a:ea typeface="+mn-ea"/>
                  <a:cs typeface="+mn-cs"/>
                </a:defRPr>
              </a:pPr>
              <a:endParaRPr lang="ru-RU"/>
            </a:p>
          </c:txPr>
        </c:title>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ru-RU"/>
          </a:p>
        </c:txPr>
        <c:crossAx val="522741231"/>
        <c:crosses val="autoZero"/>
        <c:crossBetween val="between"/>
        <c:majorUnit val="10"/>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ru-RU"/>
    </a:p>
  </c:txPr>
  <c:externalData r:id="rId3">
    <c:autoUpdate val="0"/>
  </c:externalData>
  <c:extLst>
    <c:ext xmlns:c14="http://schemas.microsoft.com/office/drawing/2007/8/2/chart" uri="{781A3756-C4B2-4CAC-9D66-4F8BD8637D16}">
      <c14:pivotOptions>
        <c14:dropZoneFilter val="1"/>
        <c14:dropZoneCategories val="1"/>
        <c14:dropZoneData val="1"/>
      </c14:pivotOptions>
    </c:ext>
    <c:ext xmlns:c16="http://schemas.microsoft.com/office/drawing/2014/chart" uri="{E28EC0CA-F0BB-4C9C-879D-F8772B89E7AC}">
      <c16:pivotOptions16>
        <c16:showExpandCollapseFieldButtons val="1"/>
      </c16:pivotOptions16>
    </c:ext>
  </c:extLst>
</c:chartSpace>
</file>

<file path=ppt/charts/chart1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pivotSource>
    <c:name>[22 19_51_0366c796a7222c29.91880360Воркшопexcel1_Асмандияров_РА.xlsx]Задание 1!Сводная таблица18</c:name>
    <c:fmtId val="9"/>
  </c:pivotSource>
  <c:chart>
    <c:title>
      <c:tx>
        <c:rich>
          <a:bodyPr rot="0" spcFirstLastPara="1" vertOverflow="ellipsis" vert="horz" wrap="square" anchor="ctr" anchorCtr="1"/>
          <a:lstStyle/>
          <a:p>
            <a:pPr>
              <a:defRPr lang="en-US" sz="1800" b="0" i="0" u="none" strike="noStrike" kern="1200" spc="0" baseline="0" smtClean="0">
                <a:solidFill>
                  <a:sysClr val="windowText" lastClr="000000"/>
                </a:solidFill>
                <a:latin typeface="+mn-lt"/>
                <a:ea typeface="+mn-ea"/>
                <a:cs typeface="+mn-cs"/>
              </a:defRPr>
            </a:pPr>
            <a:r>
              <a:rPr lang="en-US" sz="1800" b="0" i="0" u="none" strike="noStrike" kern="1200" spc="0" baseline="0">
                <a:solidFill>
                  <a:sysClr val="windowText" lastClr="000000"/>
                </a:solidFill>
              </a:rPr>
              <a:t>Dynamics of the number and average duration of transactions on the 2nd server at the checkouts with a cashier from September 5 to September 7</a:t>
            </a:r>
          </a:p>
        </c:rich>
      </c:tx>
      <c:layout>
        <c:manualLayout>
          <c:xMode val="edge"/>
          <c:yMode val="edge"/>
          <c:x val="2.4668496403598208E-2"/>
          <c:y val="3.1889117716678884E-3"/>
        </c:manualLayout>
      </c:layout>
      <c:overlay val="0"/>
      <c:spPr>
        <a:noFill/>
        <a:ln>
          <a:noFill/>
        </a:ln>
        <a:effectLst/>
      </c:spPr>
      <c:txPr>
        <a:bodyPr rot="0" spcFirstLastPara="1" vertOverflow="ellipsis" vert="horz" wrap="square" anchor="ctr" anchorCtr="1"/>
        <a:lstStyle/>
        <a:p>
          <a:pPr>
            <a:defRPr lang="en-US" sz="1800" b="0" i="0" u="none" strike="noStrike" kern="1200" spc="0" baseline="0" smtClean="0">
              <a:solidFill>
                <a:sysClr val="windowText" lastClr="000000"/>
              </a:solidFill>
              <a:latin typeface="+mn-lt"/>
              <a:ea typeface="+mn-ea"/>
              <a:cs typeface="+mn-cs"/>
            </a:defRPr>
          </a:pPr>
          <a:endParaRPr lang="ru-RU"/>
        </a:p>
      </c:txPr>
    </c:title>
    <c:autoTitleDeleted val="0"/>
    <c:pivotFmts>
      <c:pivotFmt>
        <c:idx val="0"/>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ru-RU"/>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ru-RU"/>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ru-RU"/>
            </a:p>
          </c:txPr>
          <c:showLegendKey val="0"/>
          <c:showVal val="0"/>
          <c:showCatName val="0"/>
          <c:showSerName val="0"/>
          <c:showPercent val="0"/>
          <c:showBubbleSize val="0"/>
          <c:extLst>
            <c:ext xmlns:c15="http://schemas.microsoft.com/office/drawing/2012/chart" uri="{CE6537A1-D6FC-4f65-9D91-7224C49458BB}"/>
          </c:extLst>
        </c:dLbl>
      </c:pivotFmt>
      <c:pivotFmt>
        <c:idx val="3"/>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ru-RU"/>
            </a:p>
          </c:txPr>
          <c:showLegendKey val="0"/>
          <c:showVal val="0"/>
          <c:showCatName val="0"/>
          <c:showSerName val="0"/>
          <c:showPercent val="0"/>
          <c:showBubbleSize val="0"/>
          <c:extLst>
            <c:ext xmlns:c15="http://schemas.microsoft.com/office/drawing/2012/chart" uri="{CE6537A1-D6FC-4f65-9D91-7224C49458BB}"/>
          </c:extLst>
        </c:dLbl>
      </c:pivotFmt>
      <c:pivotFmt>
        <c:idx val="4"/>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ru-RU"/>
            </a:p>
          </c:txPr>
          <c:showLegendKey val="0"/>
          <c:showVal val="0"/>
          <c:showCatName val="0"/>
          <c:showSerName val="0"/>
          <c:showPercent val="0"/>
          <c:showBubbleSize val="0"/>
          <c:extLst>
            <c:ext xmlns:c15="http://schemas.microsoft.com/office/drawing/2012/chart" uri="{CE6537A1-D6FC-4f65-9D91-7224C49458BB}"/>
          </c:extLst>
        </c:dLbl>
      </c:pivotFmt>
      <c:pivotFmt>
        <c:idx val="5"/>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ru-RU"/>
            </a:p>
          </c:txPr>
          <c:showLegendKey val="0"/>
          <c:showVal val="0"/>
          <c:showCatName val="0"/>
          <c:showSerName val="0"/>
          <c:showPercent val="0"/>
          <c:showBubbleSize val="0"/>
          <c:extLst>
            <c:ext xmlns:c15="http://schemas.microsoft.com/office/drawing/2012/chart" uri="{CE6537A1-D6FC-4f65-9D91-7224C49458BB}"/>
          </c:extLst>
        </c:dLbl>
      </c:pivotFmt>
    </c:pivotFmts>
    <c:plotArea>
      <c:layout>
        <c:manualLayout>
          <c:layoutTarget val="inner"/>
          <c:xMode val="edge"/>
          <c:yMode val="edge"/>
          <c:x val="0.10749636900705013"/>
          <c:y val="0.20357172303188645"/>
          <c:w val="0.65894372415960967"/>
          <c:h val="0.65381581119816079"/>
        </c:manualLayout>
      </c:layout>
      <c:barChart>
        <c:barDir val="col"/>
        <c:grouping val="clustered"/>
        <c:varyColors val="0"/>
        <c:ser>
          <c:idx val="1"/>
          <c:order val="1"/>
          <c:tx>
            <c:strRef>
              <c:f>'Задание 1'!$C$21</c:f>
              <c:strCache>
                <c:ptCount val="1"/>
                <c:pt idx="0">
                  <c:v>Количество покупок</c:v>
                </c:pt>
              </c:strCache>
            </c:strRef>
          </c:tx>
          <c:spPr>
            <a:solidFill>
              <a:schemeClr val="accent2"/>
            </a:solidFill>
            <a:ln>
              <a:noFill/>
            </a:ln>
            <a:effectLst/>
          </c:spPr>
          <c:invertIfNegative val="0"/>
          <c:cat>
            <c:strRef>
              <c:f>'Задание 1'!$A$22:$A$24</c:f>
              <c:strCache>
                <c:ptCount val="3"/>
                <c:pt idx="0">
                  <c:v>05.сен</c:v>
                </c:pt>
                <c:pt idx="1">
                  <c:v>06.сен</c:v>
                </c:pt>
                <c:pt idx="2">
                  <c:v>07.сен</c:v>
                </c:pt>
              </c:strCache>
            </c:strRef>
          </c:cat>
          <c:val>
            <c:numRef>
              <c:f>'Задание 1'!$C$22:$C$24</c:f>
              <c:numCache>
                <c:formatCode>General</c:formatCode>
                <c:ptCount val="3"/>
                <c:pt idx="0">
                  <c:v>150</c:v>
                </c:pt>
                <c:pt idx="1">
                  <c:v>168</c:v>
                </c:pt>
                <c:pt idx="2">
                  <c:v>148</c:v>
                </c:pt>
              </c:numCache>
            </c:numRef>
          </c:val>
          <c:extLst>
            <c:ext xmlns:c16="http://schemas.microsoft.com/office/drawing/2014/chart" uri="{C3380CC4-5D6E-409C-BE32-E72D297353CC}">
              <c16:uniqueId val="{00000000-C129-4AFA-9FBE-818900444E72}"/>
            </c:ext>
          </c:extLst>
        </c:ser>
        <c:dLbls>
          <c:showLegendKey val="0"/>
          <c:showVal val="0"/>
          <c:showCatName val="0"/>
          <c:showSerName val="0"/>
          <c:showPercent val="0"/>
          <c:showBubbleSize val="0"/>
        </c:dLbls>
        <c:gapWidth val="219"/>
        <c:axId val="470427183"/>
        <c:axId val="470427663"/>
      </c:barChart>
      <c:lineChart>
        <c:grouping val="standard"/>
        <c:varyColors val="0"/>
        <c:ser>
          <c:idx val="0"/>
          <c:order val="0"/>
          <c:tx>
            <c:strRef>
              <c:f>'Задание 1'!$B$21</c:f>
              <c:strCache>
                <c:ptCount val="1"/>
                <c:pt idx="0">
                  <c:v>Ср. длительность платежа</c:v>
                </c:pt>
              </c:strCache>
            </c:strRef>
          </c:tx>
          <c:spPr>
            <a:ln w="28575" cap="rnd">
              <a:solidFill>
                <a:schemeClr val="accent1"/>
              </a:solidFill>
              <a:round/>
            </a:ln>
            <a:effectLst/>
          </c:spPr>
          <c:marker>
            <c:symbol val="none"/>
          </c:marker>
          <c:cat>
            <c:strRef>
              <c:f>'Задание 1'!$A$22:$A$24</c:f>
              <c:strCache>
                <c:ptCount val="3"/>
                <c:pt idx="0">
                  <c:v>05.сен</c:v>
                </c:pt>
                <c:pt idx="1">
                  <c:v>06.сен</c:v>
                </c:pt>
                <c:pt idx="2">
                  <c:v>07.сен</c:v>
                </c:pt>
              </c:strCache>
            </c:strRef>
          </c:cat>
          <c:val>
            <c:numRef>
              <c:f>'Задание 1'!$B$22:$B$24</c:f>
              <c:numCache>
                <c:formatCode>0</c:formatCode>
                <c:ptCount val="3"/>
                <c:pt idx="0">
                  <c:v>64.986666636541486</c:v>
                </c:pt>
                <c:pt idx="1">
                  <c:v>69.70238094259652</c:v>
                </c:pt>
                <c:pt idx="2">
                  <c:v>114.07432432421734</c:v>
                </c:pt>
              </c:numCache>
            </c:numRef>
          </c:val>
          <c:smooth val="0"/>
          <c:extLst>
            <c:ext xmlns:c16="http://schemas.microsoft.com/office/drawing/2014/chart" uri="{C3380CC4-5D6E-409C-BE32-E72D297353CC}">
              <c16:uniqueId val="{00000001-C129-4AFA-9FBE-818900444E72}"/>
            </c:ext>
          </c:extLst>
        </c:ser>
        <c:dLbls>
          <c:showLegendKey val="0"/>
          <c:showVal val="0"/>
          <c:showCatName val="0"/>
          <c:showSerName val="0"/>
          <c:showPercent val="0"/>
          <c:showBubbleSize val="0"/>
        </c:dLbls>
        <c:marker val="1"/>
        <c:smooth val="0"/>
        <c:axId val="853039087"/>
        <c:axId val="853044847"/>
      </c:lineChart>
      <c:catAx>
        <c:axId val="470427183"/>
        <c:scaling>
          <c:orientation val="minMax"/>
        </c:scaling>
        <c:delete val="0"/>
        <c:axPos val="b"/>
        <c:title>
          <c:tx>
            <c:rich>
              <a:bodyPr rot="0" spcFirstLastPara="1" vertOverflow="ellipsis" vert="horz" wrap="square" anchor="ctr" anchorCtr="1"/>
              <a:lstStyle/>
              <a:p>
                <a:pPr>
                  <a:defRPr sz="1200" b="0" i="0" u="none" strike="noStrike" kern="1200" baseline="0">
                    <a:solidFill>
                      <a:schemeClr val="tx1">
                        <a:lumMod val="65000"/>
                        <a:lumOff val="35000"/>
                      </a:schemeClr>
                    </a:solidFill>
                    <a:latin typeface="+mn-lt"/>
                    <a:ea typeface="+mn-ea"/>
                    <a:cs typeface="+mn-cs"/>
                  </a:defRPr>
                </a:pPr>
                <a:r>
                  <a:rPr lang="ru-RU" sz="1200">
                    <a:solidFill>
                      <a:sysClr val="windowText" lastClr="000000"/>
                    </a:solidFill>
                  </a:rPr>
                  <a:t>Дни</a:t>
                </a:r>
              </a:p>
            </c:rich>
          </c:tx>
          <c:layout>
            <c:manualLayout>
              <c:xMode val="edge"/>
              <c:yMode val="edge"/>
              <c:x val="0.42393909748486075"/>
              <c:y val="0.93643246738317443"/>
            </c:manualLayout>
          </c:layout>
          <c:overlay val="0"/>
          <c:spPr>
            <a:noFill/>
            <a:ln>
              <a:noFill/>
            </a:ln>
            <a:effectLst/>
          </c:spPr>
          <c:txPr>
            <a:bodyPr rot="0" spcFirstLastPara="1" vertOverflow="ellipsis" vert="horz" wrap="square" anchor="ctr" anchorCtr="1"/>
            <a:lstStyle/>
            <a:p>
              <a:pPr>
                <a:defRPr sz="1200" b="0" i="0" u="none" strike="noStrike" kern="1200" baseline="0">
                  <a:solidFill>
                    <a:schemeClr val="tx1">
                      <a:lumMod val="65000"/>
                      <a:lumOff val="35000"/>
                    </a:schemeClr>
                  </a:solidFill>
                  <a:latin typeface="+mn-lt"/>
                  <a:ea typeface="+mn-ea"/>
                  <a:cs typeface="+mn-cs"/>
                </a:defRPr>
              </a:pPr>
              <a:endParaRPr lang="ru-RU"/>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ru-RU"/>
          </a:p>
        </c:txPr>
        <c:crossAx val="470427663"/>
        <c:crosses val="autoZero"/>
        <c:auto val="1"/>
        <c:lblAlgn val="ctr"/>
        <c:lblOffset val="100"/>
        <c:noMultiLvlLbl val="0"/>
      </c:catAx>
      <c:valAx>
        <c:axId val="470427663"/>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lang="en-US" sz="1200" b="0" i="0" u="none" strike="noStrike" kern="1200" baseline="0" smtClean="0">
                    <a:solidFill>
                      <a:sysClr val="windowText" lastClr="000000"/>
                    </a:solidFill>
                    <a:latin typeface="+mn-lt"/>
                    <a:ea typeface="+mn-ea"/>
                    <a:cs typeface="+mn-cs"/>
                  </a:defRPr>
                </a:pPr>
                <a:r>
                  <a:rPr lang="en-US" sz="1200">
                    <a:solidFill>
                      <a:sysClr val="windowText" lastClr="000000"/>
                    </a:solidFill>
                  </a:rPr>
                  <a:t>Number of purchases</a:t>
                </a:r>
              </a:p>
            </c:rich>
          </c:tx>
          <c:layout>
            <c:manualLayout>
              <c:xMode val="edge"/>
              <c:yMode val="edge"/>
              <c:x val="2.3585732882618927E-2"/>
              <c:y val="0.2708861013861763"/>
            </c:manualLayout>
          </c:layout>
          <c:overlay val="0"/>
          <c:spPr>
            <a:noFill/>
            <a:ln>
              <a:noFill/>
            </a:ln>
            <a:effectLst/>
          </c:spPr>
          <c:txPr>
            <a:bodyPr rot="-5400000" spcFirstLastPara="1" vertOverflow="ellipsis" vert="horz" wrap="square" anchor="ctr" anchorCtr="1"/>
            <a:lstStyle/>
            <a:p>
              <a:pPr>
                <a:defRPr lang="en-US" sz="1200" b="0" i="0" u="none" strike="noStrike" kern="1200" baseline="0" smtClean="0">
                  <a:solidFill>
                    <a:sysClr val="windowText" lastClr="000000"/>
                  </a:solidFill>
                  <a:latin typeface="+mn-lt"/>
                  <a:ea typeface="+mn-ea"/>
                  <a:cs typeface="+mn-cs"/>
                </a:defRPr>
              </a:pPr>
              <a:endParaRPr lang="ru-RU"/>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ru-RU"/>
          </a:p>
        </c:txPr>
        <c:crossAx val="470427183"/>
        <c:crosses val="autoZero"/>
        <c:crossBetween val="between"/>
      </c:valAx>
      <c:valAx>
        <c:axId val="853044847"/>
        <c:scaling>
          <c:orientation val="minMax"/>
        </c:scaling>
        <c:delete val="0"/>
        <c:axPos val="r"/>
        <c:title>
          <c:tx>
            <c:rich>
              <a:bodyPr rot="-5400000" spcFirstLastPara="1" vertOverflow="ellipsis" vert="horz" wrap="square" anchor="ctr" anchorCtr="1"/>
              <a:lstStyle/>
              <a:p>
                <a:pPr>
                  <a:defRPr lang="en-US" sz="1200" b="0" i="0" u="none" strike="noStrike" kern="1200" baseline="0" smtClean="0">
                    <a:solidFill>
                      <a:sysClr val="windowText" lastClr="000000"/>
                    </a:solidFill>
                    <a:latin typeface="+mn-lt"/>
                    <a:ea typeface="+mn-ea"/>
                    <a:cs typeface="+mn-cs"/>
                  </a:defRPr>
                </a:pPr>
                <a:r>
                  <a:rPr lang="en-US" sz="1200">
                    <a:solidFill>
                      <a:sysClr val="windowText" lastClr="000000"/>
                    </a:solidFill>
                  </a:rPr>
                  <a:t>Cf. Payment duration</a:t>
                </a:r>
              </a:p>
            </c:rich>
          </c:tx>
          <c:layout>
            <c:manualLayout>
              <c:xMode val="edge"/>
              <c:yMode val="edge"/>
              <c:x val="0.80645886727857052"/>
              <c:y val="0.315514021784839"/>
            </c:manualLayout>
          </c:layout>
          <c:overlay val="0"/>
          <c:spPr>
            <a:noFill/>
            <a:ln>
              <a:noFill/>
            </a:ln>
            <a:effectLst/>
          </c:spPr>
          <c:txPr>
            <a:bodyPr rot="-5400000" spcFirstLastPara="1" vertOverflow="ellipsis" vert="horz" wrap="square" anchor="ctr" anchorCtr="1"/>
            <a:lstStyle/>
            <a:p>
              <a:pPr>
                <a:defRPr lang="en-US" sz="1200" b="0" i="0" u="none" strike="noStrike" kern="1200" baseline="0" smtClean="0">
                  <a:solidFill>
                    <a:sysClr val="windowText" lastClr="000000"/>
                  </a:solidFill>
                  <a:latin typeface="+mn-lt"/>
                  <a:ea typeface="+mn-ea"/>
                  <a:cs typeface="+mn-cs"/>
                </a:defRPr>
              </a:pPr>
              <a:endParaRPr lang="ru-RU"/>
            </a:p>
          </c:txPr>
        </c:title>
        <c:numFmt formatCode="0" sourceLinked="1"/>
        <c:majorTickMark val="out"/>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ru-RU"/>
          </a:p>
        </c:txPr>
        <c:crossAx val="853039087"/>
        <c:crosses val="max"/>
        <c:crossBetween val="between"/>
      </c:valAx>
      <c:catAx>
        <c:axId val="853039087"/>
        <c:scaling>
          <c:orientation val="minMax"/>
        </c:scaling>
        <c:delete val="1"/>
        <c:axPos val="b"/>
        <c:numFmt formatCode="General" sourceLinked="1"/>
        <c:majorTickMark val="out"/>
        <c:minorTickMark val="none"/>
        <c:tickLblPos val="nextTo"/>
        <c:crossAx val="853044847"/>
        <c:crosses val="autoZero"/>
        <c:auto val="1"/>
        <c:lblAlgn val="ctr"/>
        <c:lblOffset val="100"/>
        <c:noMultiLvlLbl val="0"/>
      </c:catAx>
      <c:spPr>
        <a:noFill/>
        <a:ln>
          <a:noFill/>
        </a:ln>
        <a:effectLst/>
      </c:spPr>
    </c:plotArea>
    <c:legend>
      <c:legendPos val="r"/>
      <c:layout>
        <c:manualLayout>
          <c:xMode val="edge"/>
          <c:yMode val="edge"/>
          <c:x val="0.82697599382500442"/>
          <c:y val="3.5854940715083394E-3"/>
          <c:w val="0.17101937503459472"/>
          <c:h val="0.2212876040252808"/>
        </c:manualLayout>
      </c:layout>
      <c:overlay val="0"/>
      <c:spPr>
        <a:noFill/>
        <a:ln>
          <a:noFill/>
        </a:ln>
        <a:effectLst/>
      </c:spPr>
      <c:txPr>
        <a:bodyPr rot="0" spcFirstLastPara="1" vertOverflow="ellipsis" vert="horz" wrap="square" anchor="ctr" anchorCtr="1"/>
        <a:lstStyle/>
        <a:p>
          <a:pPr>
            <a:defRPr sz="1100" b="0" i="0" u="none" strike="noStrike" kern="1200" baseline="0">
              <a:solidFill>
                <a:schemeClr val="tx1">
                  <a:lumMod val="65000"/>
                  <a:lumOff val="35000"/>
                </a:schemeClr>
              </a:solidFill>
              <a:latin typeface="+mn-lt"/>
              <a:ea typeface="+mn-ea"/>
              <a:cs typeface="+mn-cs"/>
            </a:defRPr>
          </a:pPr>
          <a:endParaRPr lang="ru-RU"/>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ru-RU"/>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pivotOptions>
    </c:ext>
    <c:ext xmlns:c16="http://schemas.microsoft.com/office/drawing/2014/chart" uri="{E28EC0CA-F0BB-4C9C-879D-F8772B89E7AC}">
      <c16:pivotOptions16>
        <c16:showExpandCollapseFieldButtons val="1"/>
      </c16:pivotOptions16>
    </c:ext>
  </c:extLst>
</c:chartSpace>
</file>

<file path=ppt/charts/chart1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pivotSource>
    <c:name>[22 19_51_0366c796a7222c29.91880360Воркшопexcel1_Асмандияров_РА.xlsx]Задание 1!Сводная таблица19</c:name>
    <c:fmtId val="9"/>
  </c:pivotSource>
  <c:chart>
    <c:title>
      <c:tx>
        <c:rich>
          <a:bodyPr rot="0" spcFirstLastPara="1" vertOverflow="ellipsis" vert="horz" wrap="square" anchor="ctr" anchorCtr="1"/>
          <a:lstStyle/>
          <a:p>
            <a:pPr>
              <a:defRPr lang="en-US" sz="1800" b="0" i="0" u="none" strike="noStrike" kern="1200" spc="0" baseline="0" smtClean="0">
                <a:solidFill>
                  <a:sysClr val="windowText" lastClr="000000"/>
                </a:solidFill>
                <a:latin typeface="+mn-lt"/>
                <a:ea typeface="+mn-ea"/>
                <a:cs typeface="+mn-cs"/>
              </a:defRPr>
            </a:pPr>
            <a:r>
              <a:rPr lang="en-US" sz="1800" b="0" i="0" u="none" strike="noStrike" kern="1200" spc="0" baseline="0">
                <a:solidFill>
                  <a:sysClr val="windowText" lastClr="000000"/>
                </a:solidFill>
                <a:latin typeface="+mn-lt"/>
              </a:rPr>
              <a:t>Dynamics of the number and average duration of transactions on 1 server at checkouts with a cashier from September 5 to September 7</a:t>
            </a:r>
          </a:p>
        </c:rich>
      </c:tx>
      <c:layout>
        <c:manualLayout>
          <c:xMode val="edge"/>
          <c:yMode val="edge"/>
          <c:x val="4.8744474374913666E-2"/>
          <c:y val="4.0056091143692869E-3"/>
        </c:manualLayout>
      </c:layout>
      <c:overlay val="0"/>
      <c:spPr>
        <a:noFill/>
        <a:ln>
          <a:noFill/>
        </a:ln>
        <a:effectLst/>
      </c:spPr>
      <c:txPr>
        <a:bodyPr rot="0" spcFirstLastPara="1" vertOverflow="ellipsis" vert="horz" wrap="square" anchor="ctr" anchorCtr="1"/>
        <a:lstStyle/>
        <a:p>
          <a:pPr>
            <a:defRPr lang="en-US" sz="1800" b="0" i="0" u="none" strike="noStrike" kern="1200" spc="0" baseline="0" smtClean="0">
              <a:solidFill>
                <a:sysClr val="windowText" lastClr="000000"/>
              </a:solidFill>
              <a:latin typeface="+mn-lt"/>
              <a:ea typeface="+mn-ea"/>
              <a:cs typeface="+mn-cs"/>
            </a:defRPr>
          </a:pPr>
          <a:endParaRPr lang="ru-RU"/>
        </a:p>
      </c:txPr>
    </c:title>
    <c:autoTitleDeleted val="0"/>
    <c:pivotFmts>
      <c:pivotFmt>
        <c:idx val="0"/>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ru-RU"/>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ru-RU"/>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ru-RU"/>
            </a:p>
          </c:txPr>
          <c:showLegendKey val="0"/>
          <c:showVal val="0"/>
          <c:showCatName val="0"/>
          <c:showSerName val="0"/>
          <c:showPercent val="0"/>
          <c:showBubbleSize val="0"/>
          <c:extLst>
            <c:ext xmlns:c15="http://schemas.microsoft.com/office/drawing/2012/chart" uri="{CE6537A1-D6FC-4f65-9D91-7224C49458BB}"/>
          </c:extLst>
        </c:dLbl>
      </c:pivotFmt>
      <c:pivotFmt>
        <c:idx val="3"/>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ru-RU"/>
            </a:p>
          </c:txPr>
          <c:showLegendKey val="0"/>
          <c:showVal val="0"/>
          <c:showCatName val="0"/>
          <c:showSerName val="0"/>
          <c:showPercent val="0"/>
          <c:showBubbleSize val="0"/>
          <c:extLst>
            <c:ext xmlns:c15="http://schemas.microsoft.com/office/drawing/2012/chart" uri="{CE6537A1-D6FC-4f65-9D91-7224C49458BB}"/>
          </c:extLst>
        </c:dLbl>
      </c:pivotFmt>
      <c:pivotFmt>
        <c:idx val="4"/>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ru-RU"/>
            </a:p>
          </c:txPr>
          <c:showLegendKey val="0"/>
          <c:showVal val="0"/>
          <c:showCatName val="0"/>
          <c:showSerName val="0"/>
          <c:showPercent val="0"/>
          <c:showBubbleSize val="0"/>
          <c:extLst>
            <c:ext xmlns:c15="http://schemas.microsoft.com/office/drawing/2012/chart" uri="{CE6537A1-D6FC-4f65-9D91-7224C49458BB}"/>
          </c:extLst>
        </c:dLbl>
      </c:pivotFmt>
      <c:pivotFmt>
        <c:idx val="5"/>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ru-RU"/>
            </a:p>
          </c:txPr>
          <c:showLegendKey val="0"/>
          <c:showVal val="0"/>
          <c:showCatName val="0"/>
          <c:showSerName val="0"/>
          <c:showPercent val="0"/>
          <c:showBubbleSize val="0"/>
          <c:extLst>
            <c:ext xmlns:c15="http://schemas.microsoft.com/office/drawing/2012/chart" uri="{CE6537A1-D6FC-4f65-9D91-7224C49458BB}"/>
          </c:extLst>
        </c:dLbl>
      </c:pivotFmt>
    </c:pivotFmts>
    <c:plotArea>
      <c:layout>
        <c:manualLayout>
          <c:layoutTarget val="inner"/>
          <c:xMode val="edge"/>
          <c:yMode val="edge"/>
          <c:x val="0.10417091693476685"/>
          <c:y val="0.23107570475065242"/>
          <c:w val="0.66359251968503941"/>
          <c:h val="0.61146600877953827"/>
        </c:manualLayout>
      </c:layout>
      <c:barChart>
        <c:barDir val="col"/>
        <c:grouping val="clustered"/>
        <c:varyColors val="0"/>
        <c:ser>
          <c:idx val="1"/>
          <c:order val="1"/>
          <c:tx>
            <c:strRef>
              <c:f>'Задание 1'!$C$35</c:f>
              <c:strCache>
                <c:ptCount val="1"/>
                <c:pt idx="0">
                  <c:v>Количество покупок</c:v>
                </c:pt>
              </c:strCache>
            </c:strRef>
          </c:tx>
          <c:spPr>
            <a:solidFill>
              <a:schemeClr val="accent2"/>
            </a:solidFill>
            <a:ln>
              <a:noFill/>
            </a:ln>
            <a:effectLst/>
          </c:spPr>
          <c:invertIfNegative val="0"/>
          <c:cat>
            <c:strRef>
              <c:f>'Задание 1'!$A$36:$A$38</c:f>
              <c:strCache>
                <c:ptCount val="3"/>
                <c:pt idx="0">
                  <c:v>05.сен</c:v>
                </c:pt>
                <c:pt idx="1">
                  <c:v>06.сен</c:v>
                </c:pt>
                <c:pt idx="2">
                  <c:v>07.сен</c:v>
                </c:pt>
              </c:strCache>
            </c:strRef>
          </c:cat>
          <c:val>
            <c:numRef>
              <c:f>'Задание 1'!$C$36:$C$38</c:f>
              <c:numCache>
                <c:formatCode>General</c:formatCode>
                <c:ptCount val="3"/>
                <c:pt idx="0">
                  <c:v>517</c:v>
                </c:pt>
                <c:pt idx="1">
                  <c:v>616</c:v>
                </c:pt>
                <c:pt idx="2">
                  <c:v>558</c:v>
                </c:pt>
              </c:numCache>
            </c:numRef>
          </c:val>
          <c:extLst>
            <c:ext xmlns:c16="http://schemas.microsoft.com/office/drawing/2014/chart" uri="{C3380CC4-5D6E-409C-BE32-E72D297353CC}">
              <c16:uniqueId val="{00000000-46E6-4017-B927-241C2B7D2F19}"/>
            </c:ext>
          </c:extLst>
        </c:ser>
        <c:dLbls>
          <c:showLegendKey val="0"/>
          <c:showVal val="0"/>
          <c:showCatName val="0"/>
          <c:showSerName val="0"/>
          <c:showPercent val="0"/>
          <c:showBubbleSize val="0"/>
        </c:dLbls>
        <c:gapWidth val="219"/>
        <c:overlap val="-27"/>
        <c:axId val="856617423"/>
        <c:axId val="856623183"/>
      </c:barChart>
      <c:lineChart>
        <c:grouping val="standard"/>
        <c:varyColors val="0"/>
        <c:ser>
          <c:idx val="0"/>
          <c:order val="0"/>
          <c:tx>
            <c:strRef>
              <c:f>'Задание 1'!$B$35</c:f>
              <c:strCache>
                <c:ptCount val="1"/>
                <c:pt idx="0">
                  <c:v>Ср. длительность платежа</c:v>
                </c:pt>
              </c:strCache>
            </c:strRef>
          </c:tx>
          <c:spPr>
            <a:ln w="28575" cap="rnd">
              <a:solidFill>
                <a:schemeClr val="accent1"/>
              </a:solidFill>
              <a:round/>
            </a:ln>
            <a:effectLst/>
          </c:spPr>
          <c:marker>
            <c:symbol val="none"/>
          </c:marker>
          <c:cat>
            <c:strRef>
              <c:f>'Задание 1'!$A$36:$A$38</c:f>
              <c:strCache>
                <c:ptCount val="3"/>
                <c:pt idx="0">
                  <c:v>05.сен</c:v>
                </c:pt>
                <c:pt idx="1">
                  <c:v>06.сен</c:v>
                </c:pt>
                <c:pt idx="2">
                  <c:v>07.сен</c:v>
                </c:pt>
              </c:strCache>
            </c:strRef>
          </c:cat>
          <c:val>
            <c:numRef>
              <c:f>'Задание 1'!$B$36:$B$38</c:f>
              <c:numCache>
                <c:formatCode>0</c:formatCode>
                <c:ptCount val="3"/>
                <c:pt idx="0">
                  <c:v>141.45841391557175</c:v>
                </c:pt>
                <c:pt idx="1">
                  <c:v>96.853896101268447</c:v>
                </c:pt>
                <c:pt idx="2">
                  <c:v>96.28673833869999</c:v>
                </c:pt>
              </c:numCache>
            </c:numRef>
          </c:val>
          <c:smooth val="0"/>
          <c:extLst>
            <c:ext xmlns:c16="http://schemas.microsoft.com/office/drawing/2014/chart" uri="{C3380CC4-5D6E-409C-BE32-E72D297353CC}">
              <c16:uniqueId val="{00000001-46E6-4017-B927-241C2B7D2F19}"/>
            </c:ext>
          </c:extLst>
        </c:ser>
        <c:dLbls>
          <c:showLegendKey val="0"/>
          <c:showVal val="0"/>
          <c:showCatName val="0"/>
          <c:showSerName val="0"/>
          <c:showPercent val="0"/>
          <c:showBubbleSize val="0"/>
        </c:dLbls>
        <c:marker val="1"/>
        <c:smooth val="0"/>
        <c:axId val="856622703"/>
        <c:axId val="856622223"/>
      </c:lineChart>
      <c:catAx>
        <c:axId val="856617423"/>
        <c:scaling>
          <c:orientation val="minMax"/>
        </c:scaling>
        <c:delete val="0"/>
        <c:axPos val="b"/>
        <c:title>
          <c:tx>
            <c:rich>
              <a:bodyPr rot="0" spcFirstLastPara="1" vertOverflow="ellipsis" vert="horz" wrap="square" anchor="ctr" anchorCtr="1"/>
              <a:lstStyle/>
              <a:p>
                <a:pPr>
                  <a:defRPr sz="1200" b="0" i="0" u="none" strike="noStrike" kern="1200" baseline="0">
                    <a:solidFill>
                      <a:schemeClr val="tx1">
                        <a:lumMod val="65000"/>
                        <a:lumOff val="35000"/>
                      </a:schemeClr>
                    </a:solidFill>
                    <a:latin typeface="+mn-lt"/>
                    <a:ea typeface="+mn-ea"/>
                    <a:cs typeface="+mn-cs"/>
                  </a:defRPr>
                </a:pPr>
                <a:r>
                  <a:rPr lang="ru-RU" sz="1200">
                    <a:solidFill>
                      <a:sysClr val="windowText" lastClr="000000"/>
                    </a:solidFill>
                  </a:rPr>
                  <a:t>Дни</a:t>
                </a:r>
              </a:p>
            </c:rich>
          </c:tx>
          <c:overlay val="0"/>
          <c:spPr>
            <a:noFill/>
            <a:ln>
              <a:noFill/>
            </a:ln>
            <a:effectLst/>
          </c:spPr>
          <c:txPr>
            <a:bodyPr rot="0" spcFirstLastPara="1" vertOverflow="ellipsis" vert="horz" wrap="square" anchor="ctr" anchorCtr="1"/>
            <a:lstStyle/>
            <a:p>
              <a:pPr>
                <a:defRPr sz="1200" b="0" i="0" u="none" strike="noStrike" kern="1200" baseline="0">
                  <a:solidFill>
                    <a:schemeClr val="tx1">
                      <a:lumMod val="65000"/>
                      <a:lumOff val="35000"/>
                    </a:schemeClr>
                  </a:solidFill>
                  <a:latin typeface="+mn-lt"/>
                  <a:ea typeface="+mn-ea"/>
                  <a:cs typeface="+mn-cs"/>
                </a:defRPr>
              </a:pPr>
              <a:endParaRPr lang="ru-RU"/>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ru-RU"/>
          </a:p>
        </c:txPr>
        <c:crossAx val="856623183"/>
        <c:crosses val="autoZero"/>
        <c:auto val="1"/>
        <c:lblAlgn val="ctr"/>
        <c:lblOffset val="100"/>
        <c:noMultiLvlLbl val="0"/>
      </c:catAx>
      <c:valAx>
        <c:axId val="856623183"/>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lang="en-US" sz="1200" b="0" i="0" u="none" strike="noStrike" kern="1200" baseline="0" smtClean="0">
                    <a:solidFill>
                      <a:sysClr val="windowText" lastClr="000000"/>
                    </a:solidFill>
                    <a:latin typeface="+mn-lt"/>
                    <a:ea typeface="+mn-ea"/>
                    <a:cs typeface="+mn-cs"/>
                  </a:defRPr>
                </a:pPr>
                <a:r>
                  <a:rPr lang="en-US" sz="1200">
                    <a:solidFill>
                      <a:sysClr val="windowText" lastClr="000000"/>
                    </a:solidFill>
                  </a:rPr>
                  <a:t>Shopping Coordination</a:t>
                </a:r>
              </a:p>
            </c:rich>
          </c:tx>
          <c:layout>
            <c:manualLayout>
              <c:xMode val="edge"/>
              <c:yMode val="edge"/>
              <c:x val="2.2864173228346458E-2"/>
              <c:y val="0.249376607368933"/>
            </c:manualLayout>
          </c:layout>
          <c:overlay val="0"/>
          <c:spPr>
            <a:noFill/>
            <a:ln>
              <a:noFill/>
            </a:ln>
            <a:effectLst/>
          </c:spPr>
          <c:txPr>
            <a:bodyPr rot="-5400000" spcFirstLastPara="1" vertOverflow="ellipsis" vert="horz" wrap="square" anchor="ctr" anchorCtr="1"/>
            <a:lstStyle/>
            <a:p>
              <a:pPr>
                <a:defRPr lang="en-US" sz="1200" b="0" i="0" u="none" strike="noStrike" kern="1200" baseline="0" smtClean="0">
                  <a:solidFill>
                    <a:sysClr val="windowText" lastClr="000000"/>
                  </a:solidFill>
                  <a:latin typeface="+mn-lt"/>
                  <a:ea typeface="+mn-ea"/>
                  <a:cs typeface="+mn-cs"/>
                </a:defRPr>
              </a:pPr>
              <a:endParaRPr lang="ru-RU"/>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ru-RU"/>
          </a:p>
        </c:txPr>
        <c:crossAx val="856617423"/>
        <c:crosses val="autoZero"/>
        <c:crossBetween val="between"/>
      </c:valAx>
      <c:valAx>
        <c:axId val="856622223"/>
        <c:scaling>
          <c:orientation val="minMax"/>
        </c:scaling>
        <c:delete val="0"/>
        <c:axPos val="r"/>
        <c:title>
          <c:tx>
            <c:rich>
              <a:bodyPr rot="-5400000" spcFirstLastPara="1" vertOverflow="ellipsis" vert="horz" wrap="square" anchor="ctr" anchorCtr="1"/>
              <a:lstStyle/>
              <a:p>
                <a:pPr>
                  <a:defRPr lang="en-US" sz="1200" b="0" i="0" u="none" strike="noStrike" kern="1200" baseline="0" smtClean="0">
                    <a:solidFill>
                      <a:sysClr val="windowText" lastClr="000000"/>
                    </a:solidFill>
                    <a:latin typeface="+mn-lt"/>
                    <a:ea typeface="+mn-ea"/>
                    <a:cs typeface="+mn-cs"/>
                  </a:defRPr>
                </a:pPr>
                <a:r>
                  <a:rPr lang="en-US" sz="1200">
                    <a:solidFill>
                      <a:sysClr val="windowText" lastClr="000000"/>
                    </a:solidFill>
                  </a:rPr>
                  <a:t>Cf. Payment duration</a:t>
                </a:r>
              </a:p>
            </c:rich>
          </c:tx>
          <c:layout>
            <c:manualLayout>
              <c:xMode val="edge"/>
              <c:yMode val="edge"/>
              <c:x val="0.80672080052493433"/>
              <c:y val="0.31538841476915391"/>
            </c:manualLayout>
          </c:layout>
          <c:overlay val="0"/>
          <c:spPr>
            <a:noFill/>
            <a:ln>
              <a:noFill/>
            </a:ln>
            <a:effectLst/>
          </c:spPr>
          <c:txPr>
            <a:bodyPr rot="-5400000" spcFirstLastPara="1" vertOverflow="ellipsis" vert="horz" wrap="square" anchor="ctr" anchorCtr="1"/>
            <a:lstStyle/>
            <a:p>
              <a:pPr>
                <a:defRPr lang="en-US" sz="1200" b="0" i="0" u="none" strike="noStrike" kern="1200" baseline="0" smtClean="0">
                  <a:solidFill>
                    <a:sysClr val="windowText" lastClr="000000"/>
                  </a:solidFill>
                  <a:latin typeface="+mn-lt"/>
                  <a:ea typeface="+mn-ea"/>
                  <a:cs typeface="+mn-cs"/>
                </a:defRPr>
              </a:pPr>
              <a:endParaRPr lang="ru-RU"/>
            </a:p>
          </c:txPr>
        </c:title>
        <c:numFmt formatCode="0" sourceLinked="1"/>
        <c:majorTickMark val="out"/>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ru-RU"/>
          </a:p>
        </c:txPr>
        <c:crossAx val="856622703"/>
        <c:crosses val="max"/>
        <c:crossBetween val="between"/>
      </c:valAx>
      <c:catAx>
        <c:axId val="856622703"/>
        <c:scaling>
          <c:orientation val="minMax"/>
        </c:scaling>
        <c:delete val="1"/>
        <c:axPos val="b"/>
        <c:numFmt formatCode="General" sourceLinked="1"/>
        <c:majorTickMark val="out"/>
        <c:minorTickMark val="none"/>
        <c:tickLblPos val="nextTo"/>
        <c:crossAx val="856622223"/>
        <c:crosses val="autoZero"/>
        <c:auto val="1"/>
        <c:lblAlgn val="ctr"/>
        <c:lblOffset val="100"/>
        <c:noMultiLvlLbl val="0"/>
      </c:cat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ru-RU"/>
    </a:p>
  </c:txPr>
  <c:externalData r:id="rId3">
    <c:autoUpdate val="0"/>
  </c:externalData>
  <c:extLst>
    <c:ext xmlns:c14="http://schemas.microsoft.com/office/drawing/2007/8/2/chart" uri="{781A3756-C4B2-4CAC-9D66-4F8BD8637D16}">
      <c14:pivotOptions>
        <c14:dropZoneFilter val="1"/>
        <c14:dropZoneCategories val="1"/>
        <c14:dropZoneData val="1"/>
      </c14:pivotOptions>
    </c:ext>
    <c:ext xmlns:c16="http://schemas.microsoft.com/office/drawing/2014/chart" uri="{E28EC0CA-F0BB-4C9C-879D-F8772B89E7AC}">
      <c16:pivotOptions16>
        <c16:showExpandCollapseFieldButtons val="1"/>
      </c16:pivotOptions16>
    </c:ext>
  </c:extLst>
</c:chartSpace>
</file>

<file path=ppt/charts/chart1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pivotSource>
    <c:name>[23 19_24_5466c8e206d4de68.59189473Воркшопexcel1_Асмандияров_РА.xlsx]Задание 2!Сводная таблица24</c:name>
    <c:fmtId val="5"/>
  </c:pivotSource>
  <c:chart>
    <c:autoTitleDeleted val="1"/>
    <c:pivotFmts>
      <c:pivotFmt>
        <c:idx val="0"/>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ru-RU"/>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ru-RU"/>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ru-RU"/>
            </a:p>
          </c:txPr>
          <c:showLegendKey val="0"/>
          <c:showVal val="0"/>
          <c:showCatName val="0"/>
          <c:showSerName val="0"/>
          <c:showPercent val="0"/>
          <c:showBubbleSize val="0"/>
          <c:extLst>
            <c:ext xmlns:c15="http://schemas.microsoft.com/office/drawing/2012/chart" uri="{CE6537A1-D6FC-4f65-9D91-7224C49458BB}"/>
          </c:extLst>
        </c:dLbl>
      </c:pivotFmt>
      <c:pivotFmt>
        <c:idx val="3"/>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ru-RU"/>
            </a:p>
          </c:txPr>
          <c:showLegendKey val="0"/>
          <c:showVal val="0"/>
          <c:showCatName val="0"/>
          <c:showSerName val="0"/>
          <c:showPercent val="0"/>
          <c:showBubbleSize val="0"/>
          <c:extLst>
            <c:ext xmlns:c15="http://schemas.microsoft.com/office/drawing/2012/chart" uri="{CE6537A1-D6FC-4f65-9D91-7224C49458BB}"/>
          </c:extLst>
        </c:dLbl>
      </c:pivotFmt>
      <c:pivotFmt>
        <c:idx val="4"/>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ru-RU"/>
            </a:p>
          </c:txPr>
          <c:showLegendKey val="0"/>
          <c:showVal val="0"/>
          <c:showCatName val="0"/>
          <c:showSerName val="0"/>
          <c:showPercent val="0"/>
          <c:showBubbleSize val="0"/>
          <c:extLst>
            <c:ext xmlns:c15="http://schemas.microsoft.com/office/drawing/2012/chart" uri="{CE6537A1-D6FC-4f65-9D91-7224C49458BB}"/>
          </c:extLst>
        </c:dLbl>
      </c:pivotFmt>
      <c:pivotFmt>
        <c:idx val="5"/>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ru-RU"/>
            </a:p>
          </c:txPr>
          <c:showLegendKey val="0"/>
          <c:showVal val="0"/>
          <c:showCatName val="0"/>
          <c:showSerName val="0"/>
          <c:showPercent val="0"/>
          <c:showBubbleSize val="0"/>
          <c:extLst>
            <c:ext xmlns:c15="http://schemas.microsoft.com/office/drawing/2012/chart" uri="{CE6537A1-D6FC-4f65-9D91-7224C49458BB}"/>
          </c:extLst>
        </c:dLbl>
      </c:pivotFmt>
    </c:pivotFmts>
    <c:plotArea>
      <c:layout>
        <c:manualLayout>
          <c:layoutTarget val="inner"/>
          <c:xMode val="edge"/>
          <c:yMode val="edge"/>
          <c:x val="0.1169765067333873"/>
          <c:y val="7.2690922512526845E-2"/>
          <c:w val="0.5963525952363431"/>
          <c:h val="0.81821164399904556"/>
        </c:manualLayout>
      </c:layout>
      <c:barChart>
        <c:barDir val="col"/>
        <c:grouping val="clustered"/>
        <c:varyColors val="0"/>
        <c:ser>
          <c:idx val="1"/>
          <c:order val="1"/>
          <c:tx>
            <c:strRef>
              <c:f>'Задание 2'!$C$3</c:f>
              <c:strCache>
                <c:ptCount val="1"/>
                <c:pt idx="0">
                  <c:v>Количество покупок</c:v>
                </c:pt>
              </c:strCache>
            </c:strRef>
          </c:tx>
          <c:spPr>
            <a:solidFill>
              <a:schemeClr val="accent2"/>
            </a:solidFill>
            <a:ln>
              <a:noFill/>
            </a:ln>
            <a:effectLst/>
          </c:spPr>
          <c:invertIfNegative val="0"/>
          <c:cat>
            <c:strRef>
              <c:f>'Задание 2'!$A$4:$A$6</c:f>
              <c:strCache>
                <c:ptCount val="3"/>
                <c:pt idx="0">
                  <c:v>5</c:v>
                </c:pt>
                <c:pt idx="1">
                  <c:v>6</c:v>
                </c:pt>
                <c:pt idx="2">
                  <c:v>7</c:v>
                </c:pt>
              </c:strCache>
            </c:strRef>
          </c:cat>
          <c:val>
            <c:numRef>
              <c:f>'Задание 2'!$C$4:$C$6</c:f>
              <c:numCache>
                <c:formatCode>General</c:formatCode>
                <c:ptCount val="3"/>
                <c:pt idx="0">
                  <c:v>10120</c:v>
                </c:pt>
                <c:pt idx="1">
                  <c:v>10217</c:v>
                </c:pt>
                <c:pt idx="2">
                  <c:v>10053</c:v>
                </c:pt>
              </c:numCache>
            </c:numRef>
          </c:val>
          <c:extLst>
            <c:ext xmlns:c16="http://schemas.microsoft.com/office/drawing/2014/chart" uri="{C3380CC4-5D6E-409C-BE32-E72D297353CC}">
              <c16:uniqueId val="{00000000-3E5C-4A32-AC69-8D0D4E9E0512}"/>
            </c:ext>
          </c:extLst>
        </c:ser>
        <c:dLbls>
          <c:showLegendKey val="0"/>
          <c:showVal val="0"/>
          <c:showCatName val="0"/>
          <c:showSerName val="0"/>
          <c:showPercent val="0"/>
          <c:showBubbleSize val="0"/>
        </c:dLbls>
        <c:gapWidth val="219"/>
        <c:overlap val="-27"/>
        <c:axId val="853034767"/>
        <c:axId val="853031887"/>
      </c:barChart>
      <c:lineChart>
        <c:grouping val="standard"/>
        <c:varyColors val="0"/>
        <c:ser>
          <c:idx val="0"/>
          <c:order val="0"/>
          <c:tx>
            <c:strRef>
              <c:f>'Задание 2'!$B$3</c:f>
              <c:strCache>
                <c:ptCount val="1"/>
                <c:pt idx="0">
                  <c:v>Средний чек</c:v>
                </c:pt>
              </c:strCache>
            </c:strRef>
          </c:tx>
          <c:spPr>
            <a:ln w="28575" cap="rnd">
              <a:solidFill>
                <a:schemeClr val="accent1"/>
              </a:solidFill>
              <a:round/>
            </a:ln>
            <a:effectLst/>
          </c:spPr>
          <c:marker>
            <c:symbol val="none"/>
          </c:marker>
          <c:cat>
            <c:strRef>
              <c:f>'Задание 2'!$A$4:$A$6</c:f>
              <c:strCache>
                <c:ptCount val="3"/>
                <c:pt idx="0">
                  <c:v>5</c:v>
                </c:pt>
                <c:pt idx="1">
                  <c:v>6</c:v>
                </c:pt>
                <c:pt idx="2">
                  <c:v>7</c:v>
                </c:pt>
              </c:strCache>
            </c:strRef>
          </c:cat>
          <c:val>
            <c:numRef>
              <c:f>'Задание 2'!$B$4:$B$6</c:f>
              <c:numCache>
                <c:formatCode>_-* #\ ##0\ "₽"_-;\-* #\ ##0\ "₽"_-;_-* "-"??\ "₽"_-;_-@_-</c:formatCode>
                <c:ptCount val="3"/>
                <c:pt idx="0">
                  <c:v>18518.769268774704</c:v>
                </c:pt>
                <c:pt idx="1">
                  <c:v>18358.344132328471</c:v>
                </c:pt>
                <c:pt idx="2">
                  <c:v>19769.976126529393</c:v>
                </c:pt>
              </c:numCache>
            </c:numRef>
          </c:val>
          <c:smooth val="0"/>
          <c:extLst>
            <c:ext xmlns:c16="http://schemas.microsoft.com/office/drawing/2014/chart" uri="{C3380CC4-5D6E-409C-BE32-E72D297353CC}">
              <c16:uniqueId val="{00000001-3E5C-4A32-AC69-8D0D4E9E0512}"/>
            </c:ext>
          </c:extLst>
        </c:ser>
        <c:dLbls>
          <c:showLegendKey val="0"/>
          <c:showVal val="0"/>
          <c:showCatName val="0"/>
          <c:showSerName val="0"/>
          <c:showPercent val="0"/>
          <c:showBubbleSize val="0"/>
        </c:dLbls>
        <c:marker val="1"/>
        <c:smooth val="0"/>
        <c:axId val="853031407"/>
        <c:axId val="853046287"/>
      </c:lineChart>
      <c:catAx>
        <c:axId val="853034767"/>
        <c:scaling>
          <c:orientation val="minMax"/>
        </c:scaling>
        <c:delete val="0"/>
        <c:axPos val="b"/>
        <c:title>
          <c:tx>
            <c:rich>
              <a:bodyPr rot="0" spcFirstLastPara="1" vertOverflow="ellipsis" vert="horz" wrap="square" anchor="ctr" anchorCtr="1"/>
              <a:lstStyle/>
              <a:p>
                <a:pPr>
                  <a:defRPr sz="1200" b="0" i="0" u="none" strike="noStrike" kern="1200" baseline="0">
                    <a:solidFill>
                      <a:schemeClr val="tx1"/>
                    </a:solidFill>
                    <a:latin typeface="+mn-lt"/>
                    <a:ea typeface="+mn-ea"/>
                    <a:cs typeface="+mn-cs"/>
                  </a:defRPr>
                </a:pPr>
                <a:r>
                  <a:rPr lang="ru-RU" sz="1200">
                    <a:solidFill>
                      <a:schemeClr val="tx1"/>
                    </a:solidFill>
                  </a:rPr>
                  <a:t>Дни</a:t>
                </a:r>
              </a:p>
            </c:rich>
          </c:tx>
          <c:layout>
            <c:manualLayout>
              <c:xMode val="edge"/>
              <c:yMode val="edge"/>
              <c:x val="0.3997347854002864"/>
              <c:y val="0.95292498061321884"/>
            </c:manualLayout>
          </c:layout>
          <c:overlay val="0"/>
          <c:spPr>
            <a:noFill/>
            <a:ln>
              <a:noFill/>
            </a:ln>
            <a:effectLst/>
          </c:spPr>
          <c:txPr>
            <a:bodyPr rot="0" spcFirstLastPara="1" vertOverflow="ellipsis" vert="horz" wrap="square" anchor="ctr" anchorCtr="1"/>
            <a:lstStyle/>
            <a:p>
              <a:pPr>
                <a:defRPr sz="1200" b="0" i="0" u="none" strike="noStrike" kern="1200" baseline="0">
                  <a:solidFill>
                    <a:schemeClr val="tx1"/>
                  </a:solidFill>
                  <a:latin typeface="+mn-lt"/>
                  <a:ea typeface="+mn-ea"/>
                  <a:cs typeface="+mn-cs"/>
                </a:defRPr>
              </a:pPr>
              <a:endParaRPr lang="ru-RU"/>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ru-RU"/>
          </a:p>
        </c:txPr>
        <c:crossAx val="853031887"/>
        <c:crosses val="autoZero"/>
        <c:auto val="1"/>
        <c:lblAlgn val="ctr"/>
        <c:lblOffset val="100"/>
        <c:noMultiLvlLbl val="0"/>
      </c:catAx>
      <c:valAx>
        <c:axId val="853031887"/>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200" b="0" i="0" u="none" strike="noStrike" kern="1200" baseline="0">
                    <a:solidFill>
                      <a:schemeClr val="tx1">
                        <a:lumMod val="65000"/>
                        <a:lumOff val="35000"/>
                      </a:schemeClr>
                    </a:solidFill>
                    <a:latin typeface="+mn-lt"/>
                    <a:ea typeface="+mn-ea"/>
                    <a:cs typeface="+mn-cs"/>
                  </a:defRPr>
                </a:pPr>
                <a:r>
                  <a:rPr lang="ru-RU" sz="1200">
                    <a:solidFill>
                      <a:sysClr val="windowText" lastClr="000000"/>
                    </a:solidFill>
                  </a:rPr>
                  <a:t>Количество</a:t>
                </a:r>
                <a:r>
                  <a:rPr lang="ru-RU" sz="1200" baseline="0">
                    <a:solidFill>
                      <a:sysClr val="windowText" lastClr="000000"/>
                    </a:solidFill>
                  </a:rPr>
                  <a:t> покупок</a:t>
                </a:r>
                <a:endParaRPr lang="ru-RU" sz="1200">
                  <a:solidFill>
                    <a:sysClr val="windowText" lastClr="000000"/>
                  </a:solidFill>
                </a:endParaRPr>
              </a:p>
            </c:rich>
          </c:tx>
          <c:layout>
            <c:manualLayout>
              <c:xMode val="edge"/>
              <c:yMode val="edge"/>
              <c:x val="2.5093480162805736E-2"/>
              <c:y val="0.36026492782152231"/>
            </c:manualLayout>
          </c:layout>
          <c:overlay val="0"/>
          <c:spPr>
            <a:noFill/>
            <a:ln>
              <a:noFill/>
            </a:ln>
            <a:effectLst/>
          </c:spPr>
          <c:txPr>
            <a:bodyPr rot="-5400000" spcFirstLastPara="1" vertOverflow="ellipsis" vert="horz" wrap="square" anchor="ctr" anchorCtr="1"/>
            <a:lstStyle/>
            <a:p>
              <a:pPr>
                <a:defRPr sz="1200" b="0" i="0" u="none" strike="noStrike" kern="1200" baseline="0">
                  <a:solidFill>
                    <a:schemeClr val="tx1">
                      <a:lumMod val="65000"/>
                      <a:lumOff val="35000"/>
                    </a:schemeClr>
                  </a:solidFill>
                  <a:latin typeface="+mn-lt"/>
                  <a:ea typeface="+mn-ea"/>
                  <a:cs typeface="+mn-cs"/>
                </a:defRPr>
              </a:pPr>
              <a:endParaRPr lang="ru-RU"/>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ru-RU"/>
          </a:p>
        </c:txPr>
        <c:crossAx val="853034767"/>
        <c:crosses val="autoZero"/>
        <c:crossBetween val="between"/>
      </c:valAx>
      <c:valAx>
        <c:axId val="853046287"/>
        <c:scaling>
          <c:orientation val="minMax"/>
        </c:scaling>
        <c:delete val="0"/>
        <c:axPos val="r"/>
        <c:title>
          <c:tx>
            <c:rich>
              <a:bodyPr rot="-5400000" spcFirstLastPara="1" vertOverflow="ellipsis" vert="horz" wrap="square" anchor="ctr" anchorCtr="1"/>
              <a:lstStyle/>
              <a:p>
                <a:pPr>
                  <a:defRPr sz="1200" b="0" i="0" u="none" strike="noStrike" kern="1200" baseline="0">
                    <a:solidFill>
                      <a:schemeClr val="tx1">
                        <a:lumMod val="65000"/>
                        <a:lumOff val="35000"/>
                      </a:schemeClr>
                    </a:solidFill>
                    <a:latin typeface="+mn-lt"/>
                    <a:ea typeface="+mn-ea"/>
                    <a:cs typeface="+mn-cs"/>
                  </a:defRPr>
                </a:pPr>
                <a:r>
                  <a:rPr lang="ru-RU" sz="1200">
                    <a:solidFill>
                      <a:sysClr val="windowText" lastClr="000000"/>
                    </a:solidFill>
                  </a:rPr>
                  <a:t>Средний чек</a:t>
                </a:r>
              </a:p>
            </c:rich>
          </c:tx>
          <c:layout>
            <c:manualLayout>
              <c:xMode val="edge"/>
              <c:yMode val="edge"/>
              <c:x val="0.79709003765833619"/>
              <c:y val="0.38325261721546167"/>
            </c:manualLayout>
          </c:layout>
          <c:overlay val="0"/>
          <c:spPr>
            <a:noFill/>
            <a:ln>
              <a:noFill/>
            </a:ln>
            <a:effectLst/>
          </c:spPr>
          <c:txPr>
            <a:bodyPr rot="-5400000" spcFirstLastPara="1" vertOverflow="ellipsis" vert="horz" wrap="square" anchor="ctr" anchorCtr="1"/>
            <a:lstStyle/>
            <a:p>
              <a:pPr>
                <a:defRPr sz="1200" b="0" i="0" u="none" strike="noStrike" kern="1200" baseline="0">
                  <a:solidFill>
                    <a:schemeClr val="tx1">
                      <a:lumMod val="65000"/>
                      <a:lumOff val="35000"/>
                    </a:schemeClr>
                  </a:solidFill>
                  <a:latin typeface="+mn-lt"/>
                  <a:ea typeface="+mn-ea"/>
                  <a:cs typeface="+mn-cs"/>
                </a:defRPr>
              </a:pPr>
              <a:endParaRPr lang="ru-RU"/>
            </a:p>
          </c:txPr>
        </c:title>
        <c:numFmt formatCode="_-* #\ ##0\ &quot;₽&quot;_-;\-* #\ ##0\ &quot;₽&quot;_-;_-* &quot;-&quot;??\ &quot;₽&quot;_-;_-@_-" sourceLinked="1"/>
        <c:majorTickMark val="out"/>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ru-RU"/>
          </a:p>
        </c:txPr>
        <c:crossAx val="853031407"/>
        <c:crosses val="max"/>
        <c:crossBetween val="between"/>
      </c:valAx>
      <c:catAx>
        <c:axId val="853031407"/>
        <c:scaling>
          <c:orientation val="minMax"/>
        </c:scaling>
        <c:delete val="1"/>
        <c:axPos val="b"/>
        <c:numFmt formatCode="General" sourceLinked="1"/>
        <c:majorTickMark val="out"/>
        <c:minorTickMark val="none"/>
        <c:tickLblPos val="nextTo"/>
        <c:crossAx val="853046287"/>
        <c:crosses val="autoZero"/>
        <c:auto val="1"/>
        <c:lblAlgn val="ctr"/>
        <c:lblOffset val="100"/>
        <c:noMultiLvlLbl val="0"/>
      </c:catAx>
      <c:spPr>
        <a:noFill/>
        <a:ln>
          <a:noFill/>
        </a:ln>
        <a:effectLst/>
      </c:spPr>
    </c:plotArea>
    <c:legend>
      <c:legendPos val="r"/>
      <c:layout>
        <c:manualLayout>
          <c:xMode val="edge"/>
          <c:yMode val="edge"/>
          <c:x val="0.85420235852075743"/>
          <c:y val="0.32382999086440156"/>
          <c:w val="0.13411545259808738"/>
          <c:h val="0.21378586554521595"/>
        </c:manualLayout>
      </c:layout>
      <c:overlay val="0"/>
      <c:spPr>
        <a:noFill/>
        <a:ln>
          <a:noFill/>
        </a:ln>
        <a:effectLst/>
      </c:spPr>
      <c:txPr>
        <a:bodyPr rot="0" spcFirstLastPara="1" vertOverflow="ellipsis" vert="horz" wrap="square" anchor="ctr" anchorCtr="1"/>
        <a:lstStyle/>
        <a:p>
          <a:pPr>
            <a:defRPr sz="1050" b="0" i="0" u="none" strike="noStrike" kern="1200" baseline="0">
              <a:solidFill>
                <a:schemeClr val="tx1">
                  <a:lumMod val="65000"/>
                  <a:lumOff val="35000"/>
                </a:schemeClr>
              </a:solidFill>
              <a:latin typeface="+mn-lt"/>
              <a:ea typeface="+mn-ea"/>
              <a:cs typeface="+mn-cs"/>
            </a:defRPr>
          </a:pPr>
          <a:endParaRPr lang="ru-RU"/>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ru-RU"/>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pivotOptions>
    </c:ext>
    <c:ext xmlns:c16="http://schemas.microsoft.com/office/drawing/2014/chart" uri="{E28EC0CA-F0BB-4C9C-879D-F8772B89E7AC}">
      <c16:pivotOptions16>
        <c16:showExpandCollapseFieldButtons val="1"/>
      </c16:pivotOptions16>
    </c:ext>
  </c:extLst>
</c:chartSpace>
</file>

<file path=ppt/charts/chart2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1"/>
          <c:order val="1"/>
          <c:tx>
            <c:strRef>
              <c:f>'Задание 2'!$H$45</c:f>
              <c:strCache>
                <c:ptCount val="1"/>
                <c:pt idx="0">
                  <c:v>Средняя сэкономленная клиентами сумма</c:v>
                </c:pt>
              </c:strCache>
            </c:strRef>
          </c:tx>
          <c:spPr>
            <a:solidFill>
              <a:schemeClr val="accent2"/>
            </a:solidFill>
            <a:ln>
              <a:noFill/>
            </a:ln>
            <a:effectLst/>
          </c:spPr>
          <c:invertIfNegative val="0"/>
          <c:val>
            <c:numRef>
              <c:f>'Задание 2'!$H$46:$H$49</c:f>
              <c:numCache>
                <c:formatCode>_-* #\ ##0\ "₽"_-;\-* #\ ##0\ "₽"_-;_-* "-"??\ "₽"_-;_-@_-</c:formatCode>
                <c:ptCount val="4"/>
                <c:pt idx="0">
                  <c:v>185.22174333204484</c:v>
                </c:pt>
                <c:pt idx="1">
                  <c:v>370.44348666408968</c:v>
                </c:pt>
                <c:pt idx="2">
                  <c:v>555.66522999613449</c:v>
                </c:pt>
                <c:pt idx="3">
                  <c:v>740.88697332817935</c:v>
                </c:pt>
              </c:numCache>
            </c:numRef>
          </c:val>
          <c:extLst>
            <c:ext xmlns:c16="http://schemas.microsoft.com/office/drawing/2014/chart" uri="{C3380CC4-5D6E-409C-BE32-E72D297353CC}">
              <c16:uniqueId val="{00000000-A815-43B4-B723-05703D8B10D1}"/>
            </c:ext>
          </c:extLst>
        </c:ser>
        <c:dLbls>
          <c:showLegendKey val="0"/>
          <c:showVal val="0"/>
          <c:showCatName val="0"/>
          <c:showSerName val="0"/>
          <c:showPercent val="0"/>
          <c:showBubbleSize val="0"/>
        </c:dLbls>
        <c:gapWidth val="219"/>
        <c:overlap val="-27"/>
        <c:axId val="1349341967"/>
        <c:axId val="1349331407"/>
      </c:barChart>
      <c:barChart>
        <c:barDir val="col"/>
        <c:grouping val="clustered"/>
        <c:varyColors val="0"/>
        <c:ser>
          <c:idx val="2"/>
          <c:order val="2"/>
          <c:tx>
            <c:strRef>
              <c:f>'Задание 2'!$I$45</c:f>
              <c:strCache>
                <c:ptCount val="1"/>
                <c:pt idx="0">
                  <c:v>Общая сэкономленная клиентами сумма</c:v>
                </c:pt>
              </c:strCache>
            </c:strRef>
          </c:tx>
          <c:spPr>
            <a:solidFill>
              <a:schemeClr val="accent3"/>
            </a:solidFill>
            <a:ln>
              <a:noFill/>
            </a:ln>
            <a:effectLst/>
          </c:spPr>
          <c:invertIfNegative val="0"/>
          <c:val>
            <c:numRef>
              <c:f>'Задание 2'!$I$46:$I$49</c:f>
              <c:numCache>
                <c:formatCode>_-* #\ ##0\ "₽"_-;\-* #\ ##0\ "₽"_-;_-* "-"??\ "₽"_-;_-@_-</c:formatCode>
                <c:ptCount val="4"/>
                <c:pt idx="0">
                  <c:v>479168.65</c:v>
                </c:pt>
                <c:pt idx="1">
                  <c:v>958337.3</c:v>
                </c:pt>
                <c:pt idx="2">
                  <c:v>1437505.95</c:v>
                </c:pt>
                <c:pt idx="3">
                  <c:v>1916674.6</c:v>
                </c:pt>
              </c:numCache>
            </c:numRef>
          </c:val>
          <c:extLst>
            <c:ext xmlns:c16="http://schemas.microsoft.com/office/drawing/2014/chart" uri="{C3380CC4-5D6E-409C-BE32-E72D297353CC}">
              <c16:uniqueId val="{00000001-A815-43B4-B723-05703D8B10D1}"/>
            </c:ext>
          </c:extLst>
        </c:ser>
        <c:dLbls>
          <c:showLegendKey val="0"/>
          <c:showVal val="0"/>
          <c:showCatName val="0"/>
          <c:showSerName val="0"/>
          <c:showPercent val="0"/>
          <c:showBubbleSize val="0"/>
        </c:dLbls>
        <c:gapWidth val="219"/>
        <c:overlap val="-27"/>
        <c:axId val="1349329967"/>
        <c:axId val="1349338127"/>
      </c:barChart>
      <c:lineChart>
        <c:grouping val="standard"/>
        <c:varyColors val="0"/>
        <c:ser>
          <c:idx val="0"/>
          <c:order val="0"/>
          <c:tx>
            <c:strRef>
              <c:f>'Задание 2'!$G$45</c:f>
              <c:strCache>
                <c:ptCount val="1"/>
                <c:pt idx="0">
                  <c:v>Бины</c:v>
                </c:pt>
              </c:strCache>
            </c:strRef>
          </c:tx>
          <c:spPr>
            <a:ln w="28575" cap="rnd">
              <a:solidFill>
                <a:schemeClr val="accent1"/>
              </a:solidFill>
              <a:round/>
            </a:ln>
            <a:effectLst/>
          </c:spPr>
          <c:marker>
            <c:symbol val="none"/>
          </c:marker>
          <c:val>
            <c:numRef>
              <c:f>'Задание 2'!$G$46:$G$49</c:f>
              <c:numCache>
                <c:formatCode>0.00%</c:formatCode>
                <c:ptCount val="4"/>
                <c:pt idx="0">
                  <c:v>0.01</c:v>
                </c:pt>
                <c:pt idx="1">
                  <c:v>0.02</c:v>
                </c:pt>
                <c:pt idx="2">
                  <c:v>0.03</c:v>
                </c:pt>
                <c:pt idx="3">
                  <c:v>0.04</c:v>
                </c:pt>
              </c:numCache>
            </c:numRef>
          </c:val>
          <c:smooth val="0"/>
          <c:extLst>
            <c:ext xmlns:c16="http://schemas.microsoft.com/office/drawing/2014/chart" uri="{C3380CC4-5D6E-409C-BE32-E72D297353CC}">
              <c16:uniqueId val="{00000002-A815-43B4-B723-05703D8B10D1}"/>
            </c:ext>
          </c:extLst>
        </c:ser>
        <c:dLbls>
          <c:showLegendKey val="0"/>
          <c:showVal val="0"/>
          <c:showCatName val="0"/>
          <c:showSerName val="0"/>
          <c:showPercent val="0"/>
          <c:showBubbleSize val="0"/>
        </c:dLbls>
        <c:marker val="1"/>
        <c:smooth val="0"/>
        <c:axId val="1349341967"/>
        <c:axId val="1349331407"/>
      </c:lineChart>
      <c:catAx>
        <c:axId val="1349341967"/>
        <c:scaling>
          <c:orientation val="minMax"/>
        </c:scaling>
        <c:delete val="0"/>
        <c:axPos val="b"/>
        <c:title>
          <c:tx>
            <c:rich>
              <a:bodyPr rot="0" spcFirstLastPara="1" vertOverflow="ellipsis" vert="horz" wrap="square" anchor="ctr" anchorCtr="1"/>
              <a:lstStyle/>
              <a:p>
                <a:pPr>
                  <a:defRPr lang="en-US" sz="1100" b="0" i="0" u="none" strike="noStrike" kern="1200" baseline="0" smtClean="0">
                    <a:solidFill>
                      <a:sysClr val="windowText" lastClr="000000"/>
                    </a:solidFill>
                    <a:latin typeface="+mn-lt"/>
                    <a:ea typeface="+mn-ea"/>
                    <a:cs typeface="+mn-cs"/>
                  </a:defRPr>
                </a:pPr>
                <a:r>
                  <a:rPr lang="en-US" sz="1100">
                    <a:solidFill>
                      <a:sysClr val="windowText" lastClr="000000"/>
                    </a:solidFill>
                  </a:rPr>
                  <a:t>Bins</a:t>
                </a:r>
              </a:p>
            </c:rich>
          </c:tx>
          <c:overlay val="0"/>
          <c:spPr>
            <a:noFill/>
            <a:ln>
              <a:noFill/>
            </a:ln>
            <a:effectLst/>
          </c:spPr>
          <c:txPr>
            <a:bodyPr rot="0" spcFirstLastPara="1" vertOverflow="ellipsis" vert="horz" wrap="square" anchor="ctr" anchorCtr="1"/>
            <a:lstStyle/>
            <a:p>
              <a:pPr>
                <a:defRPr lang="en-US" sz="1100" b="0" i="0" u="none" strike="noStrike" kern="1200" baseline="0" smtClean="0">
                  <a:solidFill>
                    <a:sysClr val="windowText" lastClr="000000"/>
                  </a:solidFill>
                  <a:latin typeface="+mn-lt"/>
                  <a:ea typeface="+mn-ea"/>
                  <a:cs typeface="+mn-cs"/>
                </a:defRPr>
              </a:pPr>
              <a:endParaRPr lang="ru-RU"/>
            </a:p>
          </c:txPr>
        </c:title>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ru-RU"/>
          </a:p>
        </c:txPr>
        <c:crossAx val="1349331407"/>
        <c:crosses val="autoZero"/>
        <c:auto val="1"/>
        <c:lblAlgn val="ctr"/>
        <c:lblOffset val="100"/>
        <c:noMultiLvlLbl val="0"/>
      </c:catAx>
      <c:valAx>
        <c:axId val="1349331407"/>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lang="en-US" sz="1200" b="0" i="0" u="none" strike="noStrike" kern="1200" baseline="0" smtClean="0">
                    <a:solidFill>
                      <a:sysClr val="windowText" lastClr="000000"/>
                    </a:solidFill>
                    <a:latin typeface="+mn-lt"/>
                    <a:ea typeface="+mn-ea"/>
                    <a:cs typeface="+mn-cs"/>
                  </a:defRPr>
                </a:pPr>
                <a:r>
                  <a:rPr lang="en-US" sz="1200">
                    <a:solidFill>
                      <a:sysClr val="windowText" lastClr="000000"/>
                    </a:solidFill>
                  </a:rPr>
                  <a:t>Average amount saved by customers</a:t>
                </a:r>
              </a:p>
            </c:rich>
          </c:tx>
          <c:layout>
            <c:manualLayout>
              <c:xMode val="edge"/>
              <c:yMode val="edge"/>
              <c:x val="3.6473692750781765E-3"/>
              <c:y val="0.15777648583039597"/>
            </c:manualLayout>
          </c:layout>
          <c:overlay val="0"/>
          <c:spPr>
            <a:noFill/>
            <a:ln>
              <a:noFill/>
            </a:ln>
            <a:effectLst/>
          </c:spPr>
          <c:txPr>
            <a:bodyPr rot="-5400000" spcFirstLastPara="1" vertOverflow="ellipsis" vert="horz" wrap="square" anchor="ctr" anchorCtr="1"/>
            <a:lstStyle/>
            <a:p>
              <a:pPr>
                <a:defRPr lang="en-US" sz="1200" b="0" i="0" u="none" strike="noStrike" kern="1200" baseline="0" smtClean="0">
                  <a:solidFill>
                    <a:sysClr val="windowText" lastClr="000000"/>
                  </a:solidFill>
                  <a:latin typeface="+mn-lt"/>
                  <a:ea typeface="+mn-ea"/>
                  <a:cs typeface="+mn-cs"/>
                </a:defRPr>
              </a:pPr>
              <a:endParaRPr lang="ru-RU"/>
            </a:p>
          </c:txPr>
        </c:title>
        <c:numFmt formatCode="_-* #\ ##0\ &quot;₽&quot;_-;\-* #\ ##0\ &quot;₽&quot;_-;_-* &quot;-&quot;??\ &quot;₽&quot;_-;_-@_-"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ru-RU"/>
          </a:p>
        </c:txPr>
        <c:crossAx val="1349341967"/>
        <c:crosses val="autoZero"/>
        <c:crossBetween val="between"/>
        <c:majorUnit val="80"/>
      </c:valAx>
      <c:valAx>
        <c:axId val="1349338127"/>
        <c:scaling>
          <c:orientation val="minMax"/>
        </c:scaling>
        <c:delete val="0"/>
        <c:axPos val="r"/>
        <c:title>
          <c:tx>
            <c:rich>
              <a:bodyPr rot="-5400000" spcFirstLastPara="1" vertOverflow="ellipsis" vert="horz" wrap="square" anchor="ctr" anchorCtr="1"/>
              <a:lstStyle/>
              <a:p>
                <a:pPr>
                  <a:defRPr lang="en-US" sz="1200" b="0" i="0" u="none" strike="noStrike" kern="1200" baseline="0" smtClean="0">
                    <a:solidFill>
                      <a:sysClr val="windowText" lastClr="000000"/>
                    </a:solidFill>
                    <a:latin typeface="+mn-lt"/>
                    <a:ea typeface="+mn-ea"/>
                    <a:cs typeface="+mn-cs"/>
                  </a:defRPr>
                </a:pPr>
                <a:r>
                  <a:rPr lang="en-US" sz="1200">
                    <a:solidFill>
                      <a:sysClr val="windowText" lastClr="000000"/>
                    </a:solidFill>
                  </a:rPr>
                  <a:t>Total amount saved by customers</a:t>
                </a:r>
              </a:p>
            </c:rich>
          </c:tx>
          <c:layout>
            <c:manualLayout>
              <c:xMode val="edge"/>
              <c:yMode val="edge"/>
              <c:x val="0.97610973124823797"/>
              <c:y val="0.16636064197806555"/>
            </c:manualLayout>
          </c:layout>
          <c:overlay val="0"/>
          <c:spPr>
            <a:noFill/>
            <a:ln>
              <a:noFill/>
            </a:ln>
            <a:effectLst/>
          </c:spPr>
          <c:txPr>
            <a:bodyPr rot="-5400000" spcFirstLastPara="1" vertOverflow="ellipsis" vert="horz" wrap="square" anchor="ctr" anchorCtr="1"/>
            <a:lstStyle/>
            <a:p>
              <a:pPr>
                <a:defRPr lang="en-US" sz="1200" b="0" i="0" u="none" strike="noStrike" kern="1200" baseline="0" smtClean="0">
                  <a:solidFill>
                    <a:sysClr val="windowText" lastClr="000000"/>
                  </a:solidFill>
                  <a:latin typeface="+mn-lt"/>
                  <a:ea typeface="+mn-ea"/>
                  <a:cs typeface="+mn-cs"/>
                </a:defRPr>
              </a:pPr>
              <a:endParaRPr lang="ru-RU"/>
            </a:p>
          </c:txPr>
        </c:title>
        <c:numFmt formatCode="_-* #\ ##0\ &quot;₽&quot;_-;\-* #\ ##0\ &quot;₽&quot;_-;_-* &quot;-&quot;??\ &quot;₽&quot;_-;_-@_-" sourceLinked="1"/>
        <c:majorTickMark val="out"/>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ru-RU"/>
          </a:p>
        </c:txPr>
        <c:crossAx val="1349329967"/>
        <c:crosses val="max"/>
        <c:crossBetween val="between"/>
        <c:majorUnit val="250000"/>
      </c:valAx>
      <c:catAx>
        <c:axId val="1349329967"/>
        <c:scaling>
          <c:orientation val="minMax"/>
        </c:scaling>
        <c:delete val="1"/>
        <c:axPos val="b"/>
        <c:majorTickMark val="out"/>
        <c:minorTickMark val="none"/>
        <c:tickLblPos val="nextTo"/>
        <c:crossAx val="1349338127"/>
        <c:crosses val="autoZero"/>
        <c:auto val="1"/>
        <c:lblAlgn val="ctr"/>
        <c:lblOffset val="100"/>
        <c:noMultiLvlLbl val="0"/>
      </c:catAx>
      <c:spPr>
        <a:noFill/>
        <a:ln>
          <a:noFill/>
        </a:ln>
        <a:effectLst/>
      </c:spPr>
    </c:plotArea>
    <c:legend>
      <c:legendPos val="b"/>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ru-RU"/>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ru-RU"/>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0.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0.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7.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8.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9.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0.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1.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2.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3.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4.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5.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6.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7.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8.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9.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0.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Титульный слайд">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D14BA762-3991-3832-779A-E7752EDB3454}"/>
              </a:ext>
            </a:extLst>
          </p:cNvPr>
          <p:cNvSpPr>
            <a:spLocks noGrp="1"/>
          </p:cNvSpPr>
          <p:nvPr>
            <p:ph type="ctrTitle"/>
          </p:nvPr>
        </p:nvSpPr>
        <p:spPr>
          <a:xfrm>
            <a:off x="1524000" y="1122363"/>
            <a:ext cx="9144000" cy="2387600"/>
          </a:xfrm>
        </p:spPr>
        <p:txBody>
          <a:bodyPr anchor="b"/>
          <a:lstStyle>
            <a:lvl1pPr algn="ctr">
              <a:defRPr sz="6000"/>
            </a:lvl1pPr>
          </a:lstStyle>
          <a:p>
            <a:r>
              <a:rPr lang="ru-RU"/>
              <a:t>Образец заголовка</a:t>
            </a:r>
          </a:p>
        </p:txBody>
      </p:sp>
      <p:sp>
        <p:nvSpPr>
          <p:cNvPr id="3" name="Подзаголовок 2">
            <a:extLst>
              <a:ext uri="{FF2B5EF4-FFF2-40B4-BE49-F238E27FC236}">
                <a16:creationId xmlns:a16="http://schemas.microsoft.com/office/drawing/2014/main" id="{8230045B-A1A3-3498-49B1-711FE772989B}"/>
              </a:ext>
            </a:extLst>
          </p:cNvPr>
          <p:cNvSpPr>
            <a:spLocks noGrp="1"/>
          </p:cNvSpPr>
          <p:nvPr>
            <p:ph type="subTitle" idx="1"/>
          </p:nvPr>
        </p:nvSpPr>
        <p:spPr>
          <a:xfrm>
            <a:off x="1524000" y="3602038"/>
            <a:ext cx="9144000" cy="1655762"/>
          </a:xfrm>
        </p:spPr>
        <p:txBody>
          <a:bodyPr/>
          <a:lstStyle>
            <a:lvl1pPr marL="0" indent="0" algn="ctr">
              <a:buNone/>
              <a:defRPr sz="2400"/>
            </a:lvl1pPr>
            <a:lvl2pPr marL="457206" indent="0" algn="ctr">
              <a:buNone/>
              <a:defRPr sz="2000"/>
            </a:lvl2pPr>
            <a:lvl3pPr marL="914411" indent="0" algn="ctr">
              <a:buNone/>
              <a:defRPr sz="1801"/>
            </a:lvl3pPr>
            <a:lvl4pPr marL="1371617" indent="0" algn="ctr">
              <a:buNone/>
              <a:defRPr sz="1600"/>
            </a:lvl4pPr>
            <a:lvl5pPr marL="1828823" indent="0" algn="ctr">
              <a:buNone/>
              <a:defRPr sz="1600"/>
            </a:lvl5pPr>
            <a:lvl6pPr marL="2286029" indent="0" algn="ctr">
              <a:buNone/>
              <a:defRPr sz="1600"/>
            </a:lvl6pPr>
            <a:lvl7pPr marL="2743234" indent="0" algn="ctr">
              <a:buNone/>
              <a:defRPr sz="1600"/>
            </a:lvl7pPr>
            <a:lvl8pPr marL="3200440" indent="0" algn="ctr">
              <a:buNone/>
              <a:defRPr sz="1600"/>
            </a:lvl8pPr>
            <a:lvl9pPr marL="3657646" indent="0" algn="ctr">
              <a:buNone/>
              <a:defRPr sz="1600"/>
            </a:lvl9pPr>
          </a:lstStyle>
          <a:p>
            <a:r>
              <a:rPr lang="ru-RU"/>
              <a:t>Образец подзаголовка</a:t>
            </a:r>
          </a:p>
        </p:txBody>
      </p:sp>
      <p:sp>
        <p:nvSpPr>
          <p:cNvPr id="4" name="Дата 3">
            <a:extLst>
              <a:ext uri="{FF2B5EF4-FFF2-40B4-BE49-F238E27FC236}">
                <a16:creationId xmlns:a16="http://schemas.microsoft.com/office/drawing/2014/main" id="{639AB802-DE34-A20A-27C5-F231D4D61496}"/>
              </a:ext>
            </a:extLst>
          </p:cNvPr>
          <p:cNvSpPr>
            <a:spLocks noGrp="1"/>
          </p:cNvSpPr>
          <p:nvPr>
            <p:ph type="dt" sz="half" idx="10"/>
          </p:nvPr>
        </p:nvSpPr>
        <p:spPr/>
        <p:txBody>
          <a:bodyPr/>
          <a:lstStyle/>
          <a:p>
            <a:fld id="{02EF281E-5119-4EE1-87A1-FE5CB68252C5}" type="datetimeFigureOut">
              <a:rPr lang="ru-RU" smtClean="0"/>
              <a:t>18.12.2025</a:t>
            </a:fld>
            <a:endParaRPr lang="ru-RU"/>
          </a:p>
        </p:txBody>
      </p:sp>
      <p:sp>
        <p:nvSpPr>
          <p:cNvPr id="5" name="Нижний колонтитул 4">
            <a:extLst>
              <a:ext uri="{FF2B5EF4-FFF2-40B4-BE49-F238E27FC236}">
                <a16:creationId xmlns:a16="http://schemas.microsoft.com/office/drawing/2014/main" id="{3D8A9583-B562-30CA-17B1-E6D137DDA5F3}"/>
              </a:ext>
            </a:extLst>
          </p:cNvPr>
          <p:cNvSpPr>
            <a:spLocks noGrp="1"/>
          </p:cNvSpPr>
          <p:nvPr>
            <p:ph type="ftr" sz="quarter" idx="11"/>
          </p:nvPr>
        </p:nvSpPr>
        <p:spPr/>
        <p:txBody>
          <a:bodyPr/>
          <a:lstStyle/>
          <a:p>
            <a:endParaRPr lang="ru-RU"/>
          </a:p>
        </p:txBody>
      </p:sp>
      <p:sp>
        <p:nvSpPr>
          <p:cNvPr id="6" name="Номер слайда 5">
            <a:extLst>
              <a:ext uri="{FF2B5EF4-FFF2-40B4-BE49-F238E27FC236}">
                <a16:creationId xmlns:a16="http://schemas.microsoft.com/office/drawing/2014/main" id="{AAC58933-7FFE-21C8-1120-4A516B6B536C}"/>
              </a:ext>
            </a:extLst>
          </p:cNvPr>
          <p:cNvSpPr>
            <a:spLocks noGrp="1"/>
          </p:cNvSpPr>
          <p:nvPr>
            <p:ph type="sldNum" sz="quarter" idx="12"/>
          </p:nvPr>
        </p:nvSpPr>
        <p:spPr/>
        <p:txBody>
          <a:bodyPr/>
          <a:lstStyle/>
          <a:p>
            <a:fld id="{044D6A02-9020-469A-A64A-01A49BF5CA24}" type="slidenum">
              <a:rPr lang="ru-RU" smtClean="0"/>
              <a:t>‹#›</a:t>
            </a:fld>
            <a:endParaRPr lang="ru-RU"/>
          </a:p>
        </p:txBody>
      </p:sp>
    </p:spTree>
    <p:extLst>
      <p:ext uri="{BB962C8B-B14F-4D97-AF65-F5344CB8AC3E}">
        <p14:creationId xmlns:p14="http://schemas.microsoft.com/office/powerpoint/2010/main" val="231964920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6159BAAD-C2C4-5047-D56A-3576B3CEB9F8}"/>
              </a:ext>
            </a:extLst>
          </p:cNvPr>
          <p:cNvSpPr>
            <a:spLocks noGrp="1"/>
          </p:cNvSpPr>
          <p:nvPr>
            <p:ph type="title"/>
          </p:nvPr>
        </p:nvSpPr>
        <p:spPr/>
        <p:txBody>
          <a:bodyPr/>
          <a:lstStyle/>
          <a:p>
            <a:r>
              <a:rPr lang="ru-RU"/>
              <a:t>Образец заголовка</a:t>
            </a:r>
          </a:p>
        </p:txBody>
      </p:sp>
      <p:sp>
        <p:nvSpPr>
          <p:cNvPr id="3" name="Объект 2">
            <a:extLst>
              <a:ext uri="{FF2B5EF4-FFF2-40B4-BE49-F238E27FC236}">
                <a16:creationId xmlns:a16="http://schemas.microsoft.com/office/drawing/2014/main" id="{E62AB5B9-7355-E87D-FCD3-4A6DC86C8808}"/>
              </a:ext>
            </a:extLst>
          </p:cNvPr>
          <p:cNvSpPr>
            <a:spLocks noGrp="1"/>
          </p:cNvSpPr>
          <p:nvPr>
            <p:ph idx="1"/>
          </p:nvPr>
        </p:nvSpPr>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a:extLst>
              <a:ext uri="{FF2B5EF4-FFF2-40B4-BE49-F238E27FC236}">
                <a16:creationId xmlns:a16="http://schemas.microsoft.com/office/drawing/2014/main" id="{05D15AAF-D9B2-6658-1395-3CEE3BDACB87}"/>
              </a:ext>
            </a:extLst>
          </p:cNvPr>
          <p:cNvSpPr>
            <a:spLocks noGrp="1"/>
          </p:cNvSpPr>
          <p:nvPr>
            <p:ph type="dt" sz="half" idx="10"/>
          </p:nvPr>
        </p:nvSpPr>
        <p:spPr/>
        <p:txBody>
          <a:bodyPr/>
          <a:lstStyle/>
          <a:p>
            <a:fld id="{02EF281E-5119-4EE1-87A1-FE5CB68252C5}" type="datetimeFigureOut">
              <a:rPr lang="ru-RU" smtClean="0"/>
              <a:t>18.12.2025</a:t>
            </a:fld>
            <a:endParaRPr lang="ru-RU"/>
          </a:p>
        </p:txBody>
      </p:sp>
      <p:sp>
        <p:nvSpPr>
          <p:cNvPr id="5" name="Нижний колонтитул 4">
            <a:extLst>
              <a:ext uri="{FF2B5EF4-FFF2-40B4-BE49-F238E27FC236}">
                <a16:creationId xmlns:a16="http://schemas.microsoft.com/office/drawing/2014/main" id="{89D6FE13-3804-267C-7B0B-10B1BFEE38D0}"/>
              </a:ext>
            </a:extLst>
          </p:cNvPr>
          <p:cNvSpPr>
            <a:spLocks noGrp="1"/>
          </p:cNvSpPr>
          <p:nvPr>
            <p:ph type="ftr" sz="quarter" idx="11"/>
          </p:nvPr>
        </p:nvSpPr>
        <p:spPr/>
        <p:txBody>
          <a:bodyPr/>
          <a:lstStyle/>
          <a:p>
            <a:endParaRPr lang="ru-RU"/>
          </a:p>
        </p:txBody>
      </p:sp>
      <p:sp>
        <p:nvSpPr>
          <p:cNvPr id="6" name="Номер слайда 5">
            <a:extLst>
              <a:ext uri="{FF2B5EF4-FFF2-40B4-BE49-F238E27FC236}">
                <a16:creationId xmlns:a16="http://schemas.microsoft.com/office/drawing/2014/main" id="{0859F86E-D63A-3FD9-F633-95E3F64932E5}"/>
              </a:ext>
            </a:extLst>
          </p:cNvPr>
          <p:cNvSpPr>
            <a:spLocks noGrp="1"/>
          </p:cNvSpPr>
          <p:nvPr>
            <p:ph type="sldNum" sz="quarter" idx="12"/>
          </p:nvPr>
        </p:nvSpPr>
        <p:spPr/>
        <p:txBody>
          <a:bodyPr/>
          <a:lstStyle/>
          <a:p>
            <a:fld id="{044D6A02-9020-469A-A64A-01A49BF5CA24}" type="slidenum">
              <a:rPr lang="ru-RU" smtClean="0"/>
              <a:t>‹#›</a:t>
            </a:fld>
            <a:endParaRPr lang="ru-RU"/>
          </a:p>
        </p:txBody>
      </p:sp>
    </p:spTree>
    <p:extLst>
      <p:ext uri="{BB962C8B-B14F-4D97-AF65-F5344CB8AC3E}">
        <p14:creationId xmlns:p14="http://schemas.microsoft.com/office/powerpoint/2010/main" val="325809564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Заголовок раздела">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3BFB924B-9D0B-6737-4373-B0F62BE7AC46}"/>
              </a:ext>
            </a:extLst>
          </p:cNvPr>
          <p:cNvSpPr>
            <a:spLocks noGrp="1"/>
          </p:cNvSpPr>
          <p:nvPr>
            <p:ph type="title"/>
          </p:nvPr>
        </p:nvSpPr>
        <p:spPr>
          <a:xfrm>
            <a:off x="831852" y="1709738"/>
            <a:ext cx="10515600" cy="2852737"/>
          </a:xfrm>
        </p:spPr>
        <p:txBody>
          <a:bodyPr anchor="b"/>
          <a:lstStyle>
            <a:lvl1pPr>
              <a:defRPr sz="6000"/>
            </a:lvl1pPr>
          </a:lstStyle>
          <a:p>
            <a:r>
              <a:rPr lang="ru-RU"/>
              <a:t>Образец заголовка</a:t>
            </a:r>
          </a:p>
        </p:txBody>
      </p:sp>
      <p:sp>
        <p:nvSpPr>
          <p:cNvPr id="3" name="Текст 2">
            <a:extLst>
              <a:ext uri="{FF2B5EF4-FFF2-40B4-BE49-F238E27FC236}">
                <a16:creationId xmlns:a16="http://schemas.microsoft.com/office/drawing/2014/main" id="{BA3E6E6B-0A3D-1371-A77F-744A44AE4D69}"/>
              </a:ext>
            </a:extLst>
          </p:cNvPr>
          <p:cNvSpPr>
            <a:spLocks noGrp="1"/>
          </p:cNvSpPr>
          <p:nvPr>
            <p:ph type="body" idx="1"/>
          </p:nvPr>
        </p:nvSpPr>
        <p:spPr>
          <a:xfrm>
            <a:off x="831852" y="4589464"/>
            <a:ext cx="10515600" cy="1500187"/>
          </a:xfrm>
        </p:spPr>
        <p:txBody>
          <a:bodyPr/>
          <a:lstStyle>
            <a:lvl1pPr marL="0" indent="0">
              <a:buNone/>
              <a:defRPr sz="2400">
                <a:solidFill>
                  <a:schemeClr val="tx1">
                    <a:tint val="75000"/>
                  </a:schemeClr>
                </a:solidFill>
              </a:defRPr>
            </a:lvl1pPr>
            <a:lvl2pPr marL="457206" indent="0">
              <a:buNone/>
              <a:defRPr sz="2000">
                <a:solidFill>
                  <a:schemeClr val="tx1">
                    <a:tint val="75000"/>
                  </a:schemeClr>
                </a:solidFill>
              </a:defRPr>
            </a:lvl2pPr>
            <a:lvl3pPr marL="914411" indent="0">
              <a:buNone/>
              <a:defRPr sz="1801">
                <a:solidFill>
                  <a:schemeClr val="tx1">
                    <a:tint val="75000"/>
                  </a:schemeClr>
                </a:solidFill>
              </a:defRPr>
            </a:lvl3pPr>
            <a:lvl4pPr marL="1371617" indent="0">
              <a:buNone/>
              <a:defRPr sz="1600">
                <a:solidFill>
                  <a:schemeClr val="tx1">
                    <a:tint val="75000"/>
                  </a:schemeClr>
                </a:solidFill>
              </a:defRPr>
            </a:lvl4pPr>
            <a:lvl5pPr marL="1828823" indent="0">
              <a:buNone/>
              <a:defRPr sz="1600">
                <a:solidFill>
                  <a:schemeClr val="tx1">
                    <a:tint val="75000"/>
                  </a:schemeClr>
                </a:solidFill>
              </a:defRPr>
            </a:lvl5pPr>
            <a:lvl6pPr marL="2286029" indent="0">
              <a:buNone/>
              <a:defRPr sz="1600">
                <a:solidFill>
                  <a:schemeClr val="tx1">
                    <a:tint val="75000"/>
                  </a:schemeClr>
                </a:solidFill>
              </a:defRPr>
            </a:lvl6pPr>
            <a:lvl7pPr marL="2743234" indent="0">
              <a:buNone/>
              <a:defRPr sz="1600">
                <a:solidFill>
                  <a:schemeClr val="tx1">
                    <a:tint val="75000"/>
                  </a:schemeClr>
                </a:solidFill>
              </a:defRPr>
            </a:lvl7pPr>
            <a:lvl8pPr marL="3200440" indent="0">
              <a:buNone/>
              <a:defRPr sz="1600">
                <a:solidFill>
                  <a:schemeClr val="tx1">
                    <a:tint val="75000"/>
                  </a:schemeClr>
                </a:solidFill>
              </a:defRPr>
            </a:lvl8pPr>
            <a:lvl9pPr marL="3657646" indent="0">
              <a:buNone/>
              <a:defRPr sz="1600">
                <a:solidFill>
                  <a:schemeClr val="tx1">
                    <a:tint val="75000"/>
                  </a:schemeClr>
                </a:solidFill>
              </a:defRPr>
            </a:lvl9pPr>
          </a:lstStyle>
          <a:p>
            <a:pPr lvl="0"/>
            <a:r>
              <a:rPr lang="ru-RU"/>
              <a:t>Образец текста</a:t>
            </a:r>
          </a:p>
        </p:txBody>
      </p:sp>
      <p:sp>
        <p:nvSpPr>
          <p:cNvPr id="4" name="Дата 3">
            <a:extLst>
              <a:ext uri="{FF2B5EF4-FFF2-40B4-BE49-F238E27FC236}">
                <a16:creationId xmlns:a16="http://schemas.microsoft.com/office/drawing/2014/main" id="{1348B5EE-7333-E7DD-1A01-D22C2F74F257}"/>
              </a:ext>
            </a:extLst>
          </p:cNvPr>
          <p:cNvSpPr>
            <a:spLocks noGrp="1"/>
          </p:cNvSpPr>
          <p:nvPr>
            <p:ph type="dt" sz="half" idx="10"/>
          </p:nvPr>
        </p:nvSpPr>
        <p:spPr/>
        <p:txBody>
          <a:bodyPr/>
          <a:lstStyle/>
          <a:p>
            <a:fld id="{02EF281E-5119-4EE1-87A1-FE5CB68252C5}" type="datetimeFigureOut">
              <a:rPr lang="ru-RU" smtClean="0"/>
              <a:t>18.12.2025</a:t>
            </a:fld>
            <a:endParaRPr lang="ru-RU"/>
          </a:p>
        </p:txBody>
      </p:sp>
      <p:sp>
        <p:nvSpPr>
          <p:cNvPr id="5" name="Нижний колонтитул 4">
            <a:extLst>
              <a:ext uri="{FF2B5EF4-FFF2-40B4-BE49-F238E27FC236}">
                <a16:creationId xmlns:a16="http://schemas.microsoft.com/office/drawing/2014/main" id="{82811ADB-6864-0CB8-D015-ED06B2EEF13F}"/>
              </a:ext>
            </a:extLst>
          </p:cNvPr>
          <p:cNvSpPr>
            <a:spLocks noGrp="1"/>
          </p:cNvSpPr>
          <p:nvPr>
            <p:ph type="ftr" sz="quarter" idx="11"/>
          </p:nvPr>
        </p:nvSpPr>
        <p:spPr/>
        <p:txBody>
          <a:bodyPr/>
          <a:lstStyle/>
          <a:p>
            <a:endParaRPr lang="ru-RU"/>
          </a:p>
        </p:txBody>
      </p:sp>
      <p:sp>
        <p:nvSpPr>
          <p:cNvPr id="6" name="Номер слайда 5">
            <a:extLst>
              <a:ext uri="{FF2B5EF4-FFF2-40B4-BE49-F238E27FC236}">
                <a16:creationId xmlns:a16="http://schemas.microsoft.com/office/drawing/2014/main" id="{1A2F79C4-96CB-810A-F5AD-7CCAAB1C9D71}"/>
              </a:ext>
            </a:extLst>
          </p:cNvPr>
          <p:cNvSpPr>
            <a:spLocks noGrp="1"/>
          </p:cNvSpPr>
          <p:nvPr>
            <p:ph type="sldNum" sz="quarter" idx="12"/>
          </p:nvPr>
        </p:nvSpPr>
        <p:spPr/>
        <p:txBody>
          <a:bodyPr/>
          <a:lstStyle/>
          <a:p>
            <a:fld id="{044D6A02-9020-469A-A64A-01A49BF5CA24}" type="slidenum">
              <a:rPr lang="ru-RU" smtClean="0"/>
              <a:t>‹#›</a:t>
            </a:fld>
            <a:endParaRPr lang="ru-RU"/>
          </a:p>
        </p:txBody>
      </p:sp>
    </p:spTree>
    <p:extLst>
      <p:ext uri="{BB962C8B-B14F-4D97-AF65-F5344CB8AC3E}">
        <p14:creationId xmlns:p14="http://schemas.microsoft.com/office/powerpoint/2010/main" val="94795985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Два объекта">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C1BD70D3-D8AA-C029-34FA-D6659AB47C11}"/>
              </a:ext>
            </a:extLst>
          </p:cNvPr>
          <p:cNvSpPr>
            <a:spLocks noGrp="1"/>
          </p:cNvSpPr>
          <p:nvPr>
            <p:ph type="title"/>
          </p:nvPr>
        </p:nvSpPr>
        <p:spPr/>
        <p:txBody>
          <a:bodyPr/>
          <a:lstStyle/>
          <a:p>
            <a:r>
              <a:rPr lang="ru-RU"/>
              <a:t>Образец заголовка</a:t>
            </a:r>
          </a:p>
        </p:txBody>
      </p:sp>
      <p:sp>
        <p:nvSpPr>
          <p:cNvPr id="3" name="Объект 2">
            <a:extLst>
              <a:ext uri="{FF2B5EF4-FFF2-40B4-BE49-F238E27FC236}">
                <a16:creationId xmlns:a16="http://schemas.microsoft.com/office/drawing/2014/main" id="{F001E3A2-C6E8-3722-AE8F-5B074D6819D4}"/>
              </a:ext>
            </a:extLst>
          </p:cNvPr>
          <p:cNvSpPr>
            <a:spLocks noGrp="1"/>
          </p:cNvSpPr>
          <p:nvPr>
            <p:ph sz="half" idx="1"/>
          </p:nvPr>
        </p:nvSpPr>
        <p:spPr>
          <a:xfrm>
            <a:off x="838201" y="1825625"/>
            <a:ext cx="5181600" cy="435133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Объект 3">
            <a:extLst>
              <a:ext uri="{FF2B5EF4-FFF2-40B4-BE49-F238E27FC236}">
                <a16:creationId xmlns:a16="http://schemas.microsoft.com/office/drawing/2014/main" id="{780AF45B-6CDD-9B6E-FAB1-BF49D9F321DA}"/>
              </a:ext>
            </a:extLst>
          </p:cNvPr>
          <p:cNvSpPr>
            <a:spLocks noGrp="1"/>
          </p:cNvSpPr>
          <p:nvPr>
            <p:ph sz="half" idx="2"/>
          </p:nvPr>
        </p:nvSpPr>
        <p:spPr>
          <a:xfrm>
            <a:off x="6172201" y="1825625"/>
            <a:ext cx="5181600" cy="435133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5" name="Дата 4">
            <a:extLst>
              <a:ext uri="{FF2B5EF4-FFF2-40B4-BE49-F238E27FC236}">
                <a16:creationId xmlns:a16="http://schemas.microsoft.com/office/drawing/2014/main" id="{324B9C96-061B-92D1-E7C2-FA1EF7804D7C}"/>
              </a:ext>
            </a:extLst>
          </p:cNvPr>
          <p:cNvSpPr>
            <a:spLocks noGrp="1"/>
          </p:cNvSpPr>
          <p:nvPr>
            <p:ph type="dt" sz="half" idx="10"/>
          </p:nvPr>
        </p:nvSpPr>
        <p:spPr/>
        <p:txBody>
          <a:bodyPr/>
          <a:lstStyle/>
          <a:p>
            <a:fld id="{02EF281E-5119-4EE1-87A1-FE5CB68252C5}" type="datetimeFigureOut">
              <a:rPr lang="ru-RU" smtClean="0"/>
              <a:t>18.12.2025</a:t>
            </a:fld>
            <a:endParaRPr lang="ru-RU"/>
          </a:p>
        </p:txBody>
      </p:sp>
      <p:sp>
        <p:nvSpPr>
          <p:cNvPr id="6" name="Нижний колонтитул 5">
            <a:extLst>
              <a:ext uri="{FF2B5EF4-FFF2-40B4-BE49-F238E27FC236}">
                <a16:creationId xmlns:a16="http://schemas.microsoft.com/office/drawing/2014/main" id="{A1B9B192-7A4F-3C68-3450-2D71094D0AB8}"/>
              </a:ext>
            </a:extLst>
          </p:cNvPr>
          <p:cNvSpPr>
            <a:spLocks noGrp="1"/>
          </p:cNvSpPr>
          <p:nvPr>
            <p:ph type="ftr" sz="quarter" idx="11"/>
          </p:nvPr>
        </p:nvSpPr>
        <p:spPr/>
        <p:txBody>
          <a:bodyPr/>
          <a:lstStyle/>
          <a:p>
            <a:endParaRPr lang="ru-RU"/>
          </a:p>
        </p:txBody>
      </p:sp>
      <p:sp>
        <p:nvSpPr>
          <p:cNvPr id="7" name="Номер слайда 6">
            <a:extLst>
              <a:ext uri="{FF2B5EF4-FFF2-40B4-BE49-F238E27FC236}">
                <a16:creationId xmlns:a16="http://schemas.microsoft.com/office/drawing/2014/main" id="{47E2094E-33DC-1419-505A-2D89E3EFF500}"/>
              </a:ext>
            </a:extLst>
          </p:cNvPr>
          <p:cNvSpPr>
            <a:spLocks noGrp="1"/>
          </p:cNvSpPr>
          <p:nvPr>
            <p:ph type="sldNum" sz="quarter" idx="12"/>
          </p:nvPr>
        </p:nvSpPr>
        <p:spPr/>
        <p:txBody>
          <a:bodyPr/>
          <a:lstStyle/>
          <a:p>
            <a:fld id="{044D6A02-9020-469A-A64A-01A49BF5CA24}" type="slidenum">
              <a:rPr lang="ru-RU" smtClean="0"/>
              <a:t>‹#›</a:t>
            </a:fld>
            <a:endParaRPr lang="ru-RU"/>
          </a:p>
        </p:txBody>
      </p:sp>
    </p:spTree>
    <p:extLst>
      <p:ext uri="{BB962C8B-B14F-4D97-AF65-F5344CB8AC3E}">
        <p14:creationId xmlns:p14="http://schemas.microsoft.com/office/powerpoint/2010/main" val="129303869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Сравнение">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B5405B42-2EAA-CABB-83CA-25ADBFE397D2}"/>
              </a:ext>
            </a:extLst>
          </p:cNvPr>
          <p:cNvSpPr>
            <a:spLocks noGrp="1"/>
          </p:cNvSpPr>
          <p:nvPr>
            <p:ph type="title"/>
          </p:nvPr>
        </p:nvSpPr>
        <p:spPr>
          <a:xfrm>
            <a:off x="839789" y="365125"/>
            <a:ext cx="10515600" cy="1325563"/>
          </a:xfrm>
        </p:spPr>
        <p:txBody>
          <a:bodyPr/>
          <a:lstStyle/>
          <a:p>
            <a:r>
              <a:rPr lang="ru-RU"/>
              <a:t>Образец заголовка</a:t>
            </a:r>
          </a:p>
        </p:txBody>
      </p:sp>
      <p:sp>
        <p:nvSpPr>
          <p:cNvPr id="3" name="Текст 2">
            <a:extLst>
              <a:ext uri="{FF2B5EF4-FFF2-40B4-BE49-F238E27FC236}">
                <a16:creationId xmlns:a16="http://schemas.microsoft.com/office/drawing/2014/main" id="{C0AED54B-0696-BF02-7ED5-1A4110B7B6D1}"/>
              </a:ext>
            </a:extLst>
          </p:cNvPr>
          <p:cNvSpPr>
            <a:spLocks noGrp="1"/>
          </p:cNvSpPr>
          <p:nvPr>
            <p:ph type="body" idx="1"/>
          </p:nvPr>
        </p:nvSpPr>
        <p:spPr>
          <a:xfrm>
            <a:off x="839789" y="1681163"/>
            <a:ext cx="5157787" cy="823912"/>
          </a:xfrm>
        </p:spPr>
        <p:txBody>
          <a:bodyPr anchor="b"/>
          <a:lstStyle>
            <a:lvl1pPr marL="0" indent="0">
              <a:buNone/>
              <a:defRPr sz="2400" b="1"/>
            </a:lvl1pPr>
            <a:lvl2pPr marL="457206" indent="0">
              <a:buNone/>
              <a:defRPr sz="2000" b="1"/>
            </a:lvl2pPr>
            <a:lvl3pPr marL="914411" indent="0">
              <a:buNone/>
              <a:defRPr sz="1801" b="1"/>
            </a:lvl3pPr>
            <a:lvl4pPr marL="1371617" indent="0">
              <a:buNone/>
              <a:defRPr sz="1600" b="1"/>
            </a:lvl4pPr>
            <a:lvl5pPr marL="1828823" indent="0">
              <a:buNone/>
              <a:defRPr sz="1600" b="1"/>
            </a:lvl5pPr>
            <a:lvl6pPr marL="2286029" indent="0">
              <a:buNone/>
              <a:defRPr sz="1600" b="1"/>
            </a:lvl6pPr>
            <a:lvl7pPr marL="2743234" indent="0">
              <a:buNone/>
              <a:defRPr sz="1600" b="1"/>
            </a:lvl7pPr>
            <a:lvl8pPr marL="3200440" indent="0">
              <a:buNone/>
              <a:defRPr sz="1600" b="1"/>
            </a:lvl8pPr>
            <a:lvl9pPr marL="3657646" indent="0">
              <a:buNone/>
              <a:defRPr sz="1600" b="1"/>
            </a:lvl9pPr>
          </a:lstStyle>
          <a:p>
            <a:pPr lvl="0"/>
            <a:r>
              <a:rPr lang="ru-RU"/>
              <a:t>Образец текста</a:t>
            </a:r>
          </a:p>
        </p:txBody>
      </p:sp>
      <p:sp>
        <p:nvSpPr>
          <p:cNvPr id="4" name="Объект 3">
            <a:extLst>
              <a:ext uri="{FF2B5EF4-FFF2-40B4-BE49-F238E27FC236}">
                <a16:creationId xmlns:a16="http://schemas.microsoft.com/office/drawing/2014/main" id="{B76CBB4F-B92B-AFDF-9622-958CF7C1F1CD}"/>
              </a:ext>
            </a:extLst>
          </p:cNvPr>
          <p:cNvSpPr>
            <a:spLocks noGrp="1"/>
          </p:cNvSpPr>
          <p:nvPr>
            <p:ph sz="half" idx="2"/>
          </p:nvPr>
        </p:nvSpPr>
        <p:spPr>
          <a:xfrm>
            <a:off x="839789" y="2505076"/>
            <a:ext cx="5157787" cy="368458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5" name="Текст 4">
            <a:extLst>
              <a:ext uri="{FF2B5EF4-FFF2-40B4-BE49-F238E27FC236}">
                <a16:creationId xmlns:a16="http://schemas.microsoft.com/office/drawing/2014/main" id="{B0863DD2-B6EC-38EC-1454-FE27C06EEE7B}"/>
              </a:ext>
            </a:extLst>
          </p:cNvPr>
          <p:cNvSpPr>
            <a:spLocks noGrp="1"/>
          </p:cNvSpPr>
          <p:nvPr>
            <p:ph type="body" sz="quarter" idx="3"/>
          </p:nvPr>
        </p:nvSpPr>
        <p:spPr>
          <a:xfrm>
            <a:off x="6172202" y="1681163"/>
            <a:ext cx="5183188" cy="823912"/>
          </a:xfrm>
        </p:spPr>
        <p:txBody>
          <a:bodyPr anchor="b"/>
          <a:lstStyle>
            <a:lvl1pPr marL="0" indent="0">
              <a:buNone/>
              <a:defRPr sz="2400" b="1"/>
            </a:lvl1pPr>
            <a:lvl2pPr marL="457206" indent="0">
              <a:buNone/>
              <a:defRPr sz="2000" b="1"/>
            </a:lvl2pPr>
            <a:lvl3pPr marL="914411" indent="0">
              <a:buNone/>
              <a:defRPr sz="1801" b="1"/>
            </a:lvl3pPr>
            <a:lvl4pPr marL="1371617" indent="0">
              <a:buNone/>
              <a:defRPr sz="1600" b="1"/>
            </a:lvl4pPr>
            <a:lvl5pPr marL="1828823" indent="0">
              <a:buNone/>
              <a:defRPr sz="1600" b="1"/>
            </a:lvl5pPr>
            <a:lvl6pPr marL="2286029" indent="0">
              <a:buNone/>
              <a:defRPr sz="1600" b="1"/>
            </a:lvl6pPr>
            <a:lvl7pPr marL="2743234" indent="0">
              <a:buNone/>
              <a:defRPr sz="1600" b="1"/>
            </a:lvl7pPr>
            <a:lvl8pPr marL="3200440" indent="0">
              <a:buNone/>
              <a:defRPr sz="1600" b="1"/>
            </a:lvl8pPr>
            <a:lvl9pPr marL="3657646" indent="0">
              <a:buNone/>
              <a:defRPr sz="1600" b="1"/>
            </a:lvl9pPr>
          </a:lstStyle>
          <a:p>
            <a:pPr lvl="0"/>
            <a:r>
              <a:rPr lang="ru-RU"/>
              <a:t>Образец текста</a:t>
            </a:r>
          </a:p>
        </p:txBody>
      </p:sp>
      <p:sp>
        <p:nvSpPr>
          <p:cNvPr id="6" name="Объект 5">
            <a:extLst>
              <a:ext uri="{FF2B5EF4-FFF2-40B4-BE49-F238E27FC236}">
                <a16:creationId xmlns:a16="http://schemas.microsoft.com/office/drawing/2014/main" id="{80898302-CDF4-5512-B507-34A8A51B073A}"/>
              </a:ext>
            </a:extLst>
          </p:cNvPr>
          <p:cNvSpPr>
            <a:spLocks noGrp="1"/>
          </p:cNvSpPr>
          <p:nvPr>
            <p:ph sz="quarter" idx="4"/>
          </p:nvPr>
        </p:nvSpPr>
        <p:spPr>
          <a:xfrm>
            <a:off x="6172202" y="2505076"/>
            <a:ext cx="5183188" cy="368458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7" name="Дата 6">
            <a:extLst>
              <a:ext uri="{FF2B5EF4-FFF2-40B4-BE49-F238E27FC236}">
                <a16:creationId xmlns:a16="http://schemas.microsoft.com/office/drawing/2014/main" id="{7676CC88-324D-6FB9-737A-79B92A9D53C1}"/>
              </a:ext>
            </a:extLst>
          </p:cNvPr>
          <p:cNvSpPr>
            <a:spLocks noGrp="1"/>
          </p:cNvSpPr>
          <p:nvPr>
            <p:ph type="dt" sz="half" idx="10"/>
          </p:nvPr>
        </p:nvSpPr>
        <p:spPr/>
        <p:txBody>
          <a:bodyPr/>
          <a:lstStyle/>
          <a:p>
            <a:fld id="{02EF281E-5119-4EE1-87A1-FE5CB68252C5}" type="datetimeFigureOut">
              <a:rPr lang="ru-RU" smtClean="0"/>
              <a:t>18.12.2025</a:t>
            </a:fld>
            <a:endParaRPr lang="ru-RU"/>
          </a:p>
        </p:txBody>
      </p:sp>
      <p:sp>
        <p:nvSpPr>
          <p:cNvPr id="8" name="Нижний колонтитул 7">
            <a:extLst>
              <a:ext uri="{FF2B5EF4-FFF2-40B4-BE49-F238E27FC236}">
                <a16:creationId xmlns:a16="http://schemas.microsoft.com/office/drawing/2014/main" id="{170BABBF-94C3-485A-B697-BF5AF81FEF5B}"/>
              </a:ext>
            </a:extLst>
          </p:cNvPr>
          <p:cNvSpPr>
            <a:spLocks noGrp="1"/>
          </p:cNvSpPr>
          <p:nvPr>
            <p:ph type="ftr" sz="quarter" idx="11"/>
          </p:nvPr>
        </p:nvSpPr>
        <p:spPr/>
        <p:txBody>
          <a:bodyPr/>
          <a:lstStyle/>
          <a:p>
            <a:endParaRPr lang="ru-RU"/>
          </a:p>
        </p:txBody>
      </p:sp>
      <p:sp>
        <p:nvSpPr>
          <p:cNvPr id="9" name="Номер слайда 8">
            <a:extLst>
              <a:ext uri="{FF2B5EF4-FFF2-40B4-BE49-F238E27FC236}">
                <a16:creationId xmlns:a16="http://schemas.microsoft.com/office/drawing/2014/main" id="{BD081659-C681-BA8B-07DF-06E10FE9C233}"/>
              </a:ext>
            </a:extLst>
          </p:cNvPr>
          <p:cNvSpPr>
            <a:spLocks noGrp="1"/>
          </p:cNvSpPr>
          <p:nvPr>
            <p:ph type="sldNum" sz="quarter" idx="12"/>
          </p:nvPr>
        </p:nvSpPr>
        <p:spPr/>
        <p:txBody>
          <a:bodyPr/>
          <a:lstStyle/>
          <a:p>
            <a:fld id="{044D6A02-9020-469A-A64A-01A49BF5CA24}" type="slidenum">
              <a:rPr lang="ru-RU" smtClean="0"/>
              <a:t>‹#›</a:t>
            </a:fld>
            <a:endParaRPr lang="ru-RU"/>
          </a:p>
        </p:txBody>
      </p:sp>
    </p:spTree>
    <p:extLst>
      <p:ext uri="{BB962C8B-B14F-4D97-AF65-F5344CB8AC3E}">
        <p14:creationId xmlns:p14="http://schemas.microsoft.com/office/powerpoint/2010/main" val="225381841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1787526D-DCEA-9826-41CC-B193D33C3C17}"/>
              </a:ext>
            </a:extLst>
          </p:cNvPr>
          <p:cNvSpPr>
            <a:spLocks noGrp="1"/>
          </p:cNvSpPr>
          <p:nvPr>
            <p:ph type="title"/>
          </p:nvPr>
        </p:nvSpPr>
        <p:spPr/>
        <p:txBody>
          <a:bodyPr/>
          <a:lstStyle/>
          <a:p>
            <a:r>
              <a:rPr lang="ru-RU"/>
              <a:t>Образец заголовка</a:t>
            </a:r>
          </a:p>
        </p:txBody>
      </p:sp>
      <p:sp>
        <p:nvSpPr>
          <p:cNvPr id="3" name="Дата 2">
            <a:extLst>
              <a:ext uri="{FF2B5EF4-FFF2-40B4-BE49-F238E27FC236}">
                <a16:creationId xmlns:a16="http://schemas.microsoft.com/office/drawing/2014/main" id="{96D5CA31-9439-E35D-8AB4-CE180142A445}"/>
              </a:ext>
            </a:extLst>
          </p:cNvPr>
          <p:cNvSpPr>
            <a:spLocks noGrp="1"/>
          </p:cNvSpPr>
          <p:nvPr>
            <p:ph type="dt" sz="half" idx="10"/>
          </p:nvPr>
        </p:nvSpPr>
        <p:spPr/>
        <p:txBody>
          <a:bodyPr/>
          <a:lstStyle/>
          <a:p>
            <a:fld id="{02EF281E-5119-4EE1-87A1-FE5CB68252C5}" type="datetimeFigureOut">
              <a:rPr lang="ru-RU" smtClean="0"/>
              <a:t>18.12.2025</a:t>
            </a:fld>
            <a:endParaRPr lang="ru-RU"/>
          </a:p>
        </p:txBody>
      </p:sp>
      <p:sp>
        <p:nvSpPr>
          <p:cNvPr id="4" name="Нижний колонтитул 3">
            <a:extLst>
              <a:ext uri="{FF2B5EF4-FFF2-40B4-BE49-F238E27FC236}">
                <a16:creationId xmlns:a16="http://schemas.microsoft.com/office/drawing/2014/main" id="{6BC8E35B-E6F6-91D2-663D-255D31A45C25}"/>
              </a:ext>
            </a:extLst>
          </p:cNvPr>
          <p:cNvSpPr>
            <a:spLocks noGrp="1"/>
          </p:cNvSpPr>
          <p:nvPr>
            <p:ph type="ftr" sz="quarter" idx="11"/>
          </p:nvPr>
        </p:nvSpPr>
        <p:spPr/>
        <p:txBody>
          <a:bodyPr/>
          <a:lstStyle/>
          <a:p>
            <a:endParaRPr lang="ru-RU"/>
          </a:p>
        </p:txBody>
      </p:sp>
      <p:sp>
        <p:nvSpPr>
          <p:cNvPr id="5" name="Номер слайда 4">
            <a:extLst>
              <a:ext uri="{FF2B5EF4-FFF2-40B4-BE49-F238E27FC236}">
                <a16:creationId xmlns:a16="http://schemas.microsoft.com/office/drawing/2014/main" id="{827A316A-99CC-DD90-02A5-B52B0237A876}"/>
              </a:ext>
            </a:extLst>
          </p:cNvPr>
          <p:cNvSpPr>
            <a:spLocks noGrp="1"/>
          </p:cNvSpPr>
          <p:nvPr>
            <p:ph type="sldNum" sz="quarter" idx="12"/>
          </p:nvPr>
        </p:nvSpPr>
        <p:spPr/>
        <p:txBody>
          <a:bodyPr/>
          <a:lstStyle/>
          <a:p>
            <a:fld id="{044D6A02-9020-469A-A64A-01A49BF5CA24}" type="slidenum">
              <a:rPr lang="ru-RU" smtClean="0"/>
              <a:t>‹#›</a:t>
            </a:fld>
            <a:endParaRPr lang="ru-RU"/>
          </a:p>
        </p:txBody>
      </p:sp>
    </p:spTree>
    <p:extLst>
      <p:ext uri="{BB962C8B-B14F-4D97-AF65-F5344CB8AC3E}">
        <p14:creationId xmlns:p14="http://schemas.microsoft.com/office/powerpoint/2010/main" val="132408966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Пустой слайд">
    <p:spTree>
      <p:nvGrpSpPr>
        <p:cNvPr id="1" name=""/>
        <p:cNvGrpSpPr/>
        <p:nvPr/>
      </p:nvGrpSpPr>
      <p:grpSpPr>
        <a:xfrm>
          <a:off x="0" y="0"/>
          <a:ext cx="0" cy="0"/>
          <a:chOff x="0" y="0"/>
          <a:chExt cx="0" cy="0"/>
        </a:xfrm>
      </p:grpSpPr>
      <p:sp>
        <p:nvSpPr>
          <p:cNvPr id="2" name="Дата 1">
            <a:extLst>
              <a:ext uri="{FF2B5EF4-FFF2-40B4-BE49-F238E27FC236}">
                <a16:creationId xmlns:a16="http://schemas.microsoft.com/office/drawing/2014/main" id="{211A9EB9-C447-7DCB-1F74-E89A1120BBD7}"/>
              </a:ext>
            </a:extLst>
          </p:cNvPr>
          <p:cNvSpPr>
            <a:spLocks noGrp="1"/>
          </p:cNvSpPr>
          <p:nvPr>
            <p:ph type="dt" sz="half" idx="10"/>
          </p:nvPr>
        </p:nvSpPr>
        <p:spPr/>
        <p:txBody>
          <a:bodyPr/>
          <a:lstStyle/>
          <a:p>
            <a:fld id="{02EF281E-5119-4EE1-87A1-FE5CB68252C5}" type="datetimeFigureOut">
              <a:rPr lang="ru-RU" smtClean="0"/>
              <a:t>18.12.2025</a:t>
            </a:fld>
            <a:endParaRPr lang="ru-RU"/>
          </a:p>
        </p:txBody>
      </p:sp>
      <p:sp>
        <p:nvSpPr>
          <p:cNvPr id="3" name="Нижний колонтитул 2">
            <a:extLst>
              <a:ext uri="{FF2B5EF4-FFF2-40B4-BE49-F238E27FC236}">
                <a16:creationId xmlns:a16="http://schemas.microsoft.com/office/drawing/2014/main" id="{BA454CE1-D4F7-55AE-F455-53D45D90E041}"/>
              </a:ext>
            </a:extLst>
          </p:cNvPr>
          <p:cNvSpPr>
            <a:spLocks noGrp="1"/>
          </p:cNvSpPr>
          <p:nvPr>
            <p:ph type="ftr" sz="quarter" idx="11"/>
          </p:nvPr>
        </p:nvSpPr>
        <p:spPr/>
        <p:txBody>
          <a:bodyPr/>
          <a:lstStyle/>
          <a:p>
            <a:endParaRPr lang="ru-RU"/>
          </a:p>
        </p:txBody>
      </p:sp>
      <p:sp>
        <p:nvSpPr>
          <p:cNvPr id="4" name="Номер слайда 3">
            <a:extLst>
              <a:ext uri="{FF2B5EF4-FFF2-40B4-BE49-F238E27FC236}">
                <a16:creationId xmlns:a16="http://schemas.microsoft.com/office/drawing/2014/main" id="{23AA4160-6E34-0CB8-E055-7D96BC18646E}"/>
              </a:ext>
            </a:extLst>
          </p:cNvPr>
          <p:cNvSpPr>
            <a:spLocks noGrp="1"/>
          </p:cNvSpPr>
          <p:nvPr>
            <p:ph type="sldNum" sz="quarter" idx="12"/>
          </p:nvPr>
        </p:nvSpPr>
        <p:spPr/>
        <p:txBody>
          <a:bodyPr/>
          <a:lstStyle/>
          <a:p>
            <a:fld id="{044D6A02-9020-469A-A64A-01A49BF5CA24}" type="slidenum">
              <a:rPr lang="ru-RU" smtClean="0"/>
              <a:t>‹#›</a:t>
            </a:fld>
            <a:endParaRPr lang="ru-RU"/>
          </a:p>
        </p:txBody>
      </p:sp>
    </p:spTree>
    <p:extLst>
      <p:ext uri="{BB962C8B-B14F-4D97-AF65-F5344CB8AC3E}">
        <p14:creationId xmlns:p14="http://schemas.microsoft.com/office/powerpoint/2010/main" val="30132065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Объект с подписью">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5379BCC0-69A9-F6CE-76A7-CE93F7BB58B4}"/>
              </a:ext>
            </a:extLst>
          </p:cNvPr>
          <p:cNvSpPr>
            <a:spLocks noGrp="1"/>
          </p:cNvSpPr>
          <p:nvPr>
            <p:ph type="title"/>
          </p:nvPr>
        </p:nvSpPr>
        <p:spPr>
          <a:xfrm>
            <a:off x="839790" y="457200"/>
            <a:ext cx="3932236" cy="1600200"/>
          </a:xfrm>
        </p:spPr>
        <p:txBody>
          <a:bodyPr anchor="b"/>
          <a:lstStyle>
            <a:lvl1pPr>
              <a:defRPr sz="3200"/>
            </a:lvl1pPr>
          </a:lstStyle>
          <a:p>
            <a:r>
              <a:rPr lang="ru-RU"/>
              <a:t>Образец заголовка</a:t>
            </a:r>
          </a:p>
        </p:txBody>
      </p:sp>
      <p:sp>
        <p:nvSpPr>
          <p:cNvPr id="3" name="Объект 2">
            <a:extLst>
              <a:ext uri="{FF2B5EF4-FFF2-40B4-BE49-F238E27FC236}">
                <a16:creationId xmlns:a16="http://schemas.microsoft.com/office/drawing/2014/main" id="{F908C6FF-48D5-12B6-1372-ABA53278D5C2}"/>
              </a:ext>
            </a:extLst>
          </p:cNvPr>
          <p:cNvSpPr>
            <a:spLocks noGrp="1"/>
          </p:cNvSpPr>
          <p:nvPr>
            <p:ph idx="1"/>
          </p:nvPr>
        </p:nvSpPr>
        <p:spPr>
          <a:xfrm>
            <a:off x="5183188" y="987425"/>
            <a:ext cx="6172201"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Текст 3">
            <a:extLst>
              <a:ext uri="{FF2B5EF4-FFF2-40B4-BE49-F238E27FC236}">
                <a16:creationId xmlns:a16="http://schemas.microsoft.com/office/drawing/2014/main" id="{47A6F2FD-7421-85B9-39F6-68C1639A3E8C}"/>
              </a:ext>
            </a:extLst>
          </p:cNvPr>
          <p:cNvSpPr>
            <a:spLocks noGrp="1"/>
          </p:cNvSpPr>
          <p:nvPr>
            <p:ph type="body" sz="half" idx="2"/>
          </p:nvPr>
        </p:nvSpPr>
        <p:spPr>
          <a:xfrm>
            <a:off x="839790" y="2057400"/>
            <a:ext cx="3932236" cy="3811588"/>
          </a:xfrm>
        </p:spPr>
        <p:txBody>
          <a:bodyPr/>
          <a:lstStyle>
            <a:lvl1pPr marL="0" indent="0">
              <a:buNone/>
              <a:defRPr sz="1600"/>
            </a:lvl1pPr>
            <a:lvl2pPr marL="457206" indent="0">
              <a:buNone/>
              <a:defRPr sz="1401"/>
            </a:lvl2pPr>
            <a:lvl3pPr marL="914411" indent="0">
              <a:buNone/>
              <a:defRPr sz="1200"/>
            </a:lvl3pPr>
            <a:lvl4pPr marL="1371617" indent="0">
              <a:buNone/>
              <a:defRPr sz="1001"/>
            </a:lvl4pPr>
            <a:lvl5pPr marL="1828823" indent="0">
              <a:buNone/>
              <a:defRPr sz="1001"/>
            </a:lvl5pPr>
            <a:lvl6pPr marL="2286029" indent="0">
              <a:buNone/>
              <a:defRPr sz="1001"/>
            </a:lvl6pPr>
            <a:lvl7pPr marL="2743234" indent="0">
              <a:buNone/>
              <a:defRPr sz="1001"/>
            </a:lvl7pPr>
            <a:lvl8pPr marL="3200440" indent="0">
              <a:buNone/>
              <a:defRPr sz="1001"/>
            </a:lvl8pPr>
            <a:lvl9pPr marL="3657646" indent="0">
              <a:buNone/>
              <a:defRPr sz="1001"/>
            </a:lvl9pPr>
          </a:lstStyle>
          <a:p>
            <a:pPr lvl="0"/>
            <a:r>
              <a:rPr lang="ru-RU"/>
              <a:t>Образец текста</a:t>
            </a:r>
          </a:p>
        </p:txBody>
      </p:sp>
      <p:sp>
        <p:nvSpPr>
          <p:cNvPr id="5" name="Дата 4">
            <a:extLst>
              <a:ext uri="{FF2B5EF4-FFF2-40B4-BE49-F238E27FC236}">
                <a16:creationId xmlns:a16="http://schemas.microsoft.com/office/drawing/2014/main" id="{4F53560B-E38C-D495-AE6A-FAF18881D39C}"/>
              </a:ext>
            </a:extLst>
          </p:cNvPr>
          <p:cNvSpPr>
            <a:spLocks noGrp="1"/>
          </p:cNvSpPr>
          <p:nvPr>
            <p:ph type="dt" sz="half" idx="10"/>
          </p:nvPr>
        </p:nvSpPr>
        <p:spPr/>
        <p:txBody>
          <a:bodyPr/>
          <a:lstStyle/>
          <a:p>
            <a:fld id="{02EF281E-5119-4EE1-87A1-FE5CB68252C5}" type="datetimeFigureOut">
              <a:rPr lang="ru-RU" smtClean="0"/>
              <a:t>18.12.2025</a:t>
            </a:fld>
            <a:endParaRPr lang="ru-RU"/>
          </a:p>
        </p:txBody>
      </p:sp>
      <p:sp>
        <p:nvSpPr>
          <p:cNvPr id="6" name="Нижний колонтитул 5">
            <a:extLst>
              <a:ext uri="{FF2B5EF4-FFF2-40B4-BE49-F238E27FC236}">
                <a16:creationId xmlns:a16="http://schemas.microsoft.com/office/drawing/2014/main" id="{803FC662-870B-D6DE-3D45-1BD42308DA8F}"/>
              </a:ext>
            </a:extLst>
          </p:cNvPr>
          <p:cNvSpPr>
            <a:spLocks noGrp="1"/>
          </p:cNvSpPr>
          <p:nvPr>
            <p:ph type="ftr" sz="quarter" idx="11"/>
          </p:nvPr>
        </p:nvSpPr>
        <p:spPr/>
        <p:txBody>
          <a:bodyPr/>
          <a:lstStyle/>
          <a:p>
            <a:endParaRPr lang="ru-RU"/>
          </a:p>
        </p:txBody>
      </p:sp>
      <p:sp>
        <p:nvSpPr>
          <p:cNvPr id="7" name="Номер слайда 6">
            <a:extLst>
              <a:ext uri="{FF2B5EF4-FFF2-40B4-BE49-F238E27FC236}">
                <a16:creationId xmlns:a16="http://schemas.microsoft.com/office/drawing/2014/main" id="{FF959201-7BDB-BFE7-1F3A-AB5A228311F7}"/>
              </a:ext>
            </a:extLst>
          </p:cNvPr>
          <p:cNvSpPr>
            <a:spLocks noGrp="1"/>
          </p:cNvSpPr>
          <p:nvPr>
            <p:ph type="sldNum" sz="quarter" idx="12"/>
          </p:nvPr>
        </p:nvSpPr>
        <p:spPr/>
        <p:txBody>
          <a:bodyPr/>
          <a:lstStyle/>
          <a:p>
            <a:fld id="{044D6A02-9020-469A-A64A-01A49BF5CA24}" type="slidenum">
              <a:rPr lang="ru-RU" smtClean="0"/>
              <a:t>‹#›</a:t>
            </a:fld>
            <a:endParaRPr lang="ru-RU"/>
          </a:p>
        </p:txBody>
      </p:sp>
    </p:spTree>
    <p:extLst>
      <p:ext uri="{BB962C8B-B14F-4D97-AF65-F5344CB8AC3E}">
        <p14:creationId xmlns:p14="http://schemas.microsoft.com/office/powerpoint/2010/main" val="134996127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Рисунок с подписью">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8759FEE0-AAA7-6A2B-DE72-F62EC1FAAA91}"/>
              </a:ext>
            </a:extLst>
          </p:cNvPr>
          <p:cNvSpPr>
            <a:spLocks noGrp="1"/>
          </p:cNvSpPr>
          <p:nvPr>
            <p:ph type="title"/>
          </p:nvPr>
        </p:nvSpPr>
        <p:spPr>
          <a:xfrm>
            <a:off x="839790" y="457200"/>
            <a:ext cx="3932236" cy="1600200"/>
          </a:xfrm>
        </p:spPr>
        <p:txBody>
          <a:bodyPr anchor="b"/>
          <a:lstStyle>
            <a:lvl1pPr>
              <a:defRPr sz="3200"/>
            </a:lvl1pPr>
          </a:lstStyle>
          <a:p>
            <a:r>
              <a:rPr lang="ru-RU"/>
              <a:t>Образец заголовка</a:t>
            </a:r>
          </a:p>
        </p:txBody>
      </p:sp>
      <p:sp>
        <p:nvSpPr>
          <p:cNvPr id="3" name="Рисунок 2">
            <a:extLst>
              <a:ext uri="{FF2B5EF4-FFF2-40B4-BE49-F238E27FC236}">
                <a16:creationId xmlns:a16="http://schemas.microsoft.com/office/drawing/2014/main" id="{C9F758C7-2BD5-5AC4-81CC-7BEEDC5A9231}"/>
              </a:ext>
            </a:extLst>
          </p:cNvPr>
          <p:cNvSpPr>
            <a:spLocks noGrp="1"/>
          </p:cNvSpPr>
          <p:nvPr>
            <p:ph type="pic" idx="1"/>
          </p:nvPr>
        </p:nvSpPr>
        <p:spPr>
          <a:xfrm>
            <a:off x="5183188" y="987425"/>
            <a:ext cx="6172201" cy="4873625"/>
          </a:xfrm>
        </p:spPr>
        <p:txBody>
          <a:bodyPr/>
          <a:lstStyle>
            <a:lvl1pPr marL="0" indent="0">
              <a:buNone/>
              <a:defRPr sz="3200"/>
            </a:lvl1pPr>
            <a:lvl2pPr marL="457206" indent="0">
              <a:buNone/>
              <a:defRPr sz="2800"/>
            </a:lvl2pPr>
            <a:lvl3pPr marL="914411" indent="0">
              <a:buNone/>
              <a:defRPr sz="2400"/>
            </a:lvl3pPr>
            <a:lvl4pPr marL="1371617" indent="0">
              <a:buNone/>
              <a:defRPr sz="2000"/>
            </a:lvl4pPr>
            <a:lvl5pPr marL="1828823" indent="0">
              <a:buNone/>
              <a:defRPr sz="2000"/>
            </a:lvl5pPr>
            <a:lvl6pPr marL="2286029" indent="0">
              <a:buNone/>
              <a:defRPr sz="2000"/>
            </a:lvl6pPr>
            <a:lvl7pPr marL="2743234" indent="0">
              <a:buNone/>
              <a:defRPr sz="2000"/>
            </a:lvl7pPr>
            <a:lvl8pPr marL="3200440" indent="0">
              <a:buNone/>
              <a:defRPr sz="2000"/>
            </a:lvl8pPr>
            <a:lvl9pPr marL="3657646" indent="0">
              <a:buNone/>
              <a:defRPr sz="2000"/>
            </a:lvl9pPr>
          </a:lstStyle>
          <a:p>
            <a:endParaRPr lang="ru-RU"/>
          </a:p>
        </p:txBody>
      </p:sp>
      <p:sp>
        <p:nvSpPr>
          <p:cNvPr id="4" name="Текст 3">
            <a:extLst>
              <a:ext uri="{FF2B5EF4-FFF2-40B4-BE49-F238E27FC236}">
                <a16:creationId xmlns:a16="http://schemas.microsoft.com/office/drawing/2014/main" id="{53ACC9E9-552F-F9EB-B5EB-46C5EFB3E582}"/>
              </a:ext>
            </a:extLst>
          </p:cNvPr>
          <p:cNvSpPr>
            <a:spLocks noGrp="1"/>
          </p:cNvSpPr>
          <p:nvPr>
            <p:ph type="body" sz="half" idx="2"/>
          </p:nvPr>
        </p:nvSpPr>
        <p:spPr>
          <a:xfrm>
            <a:off x="839790" y="2057400"/>
            <a:ext cx="3932236" cy="3811588"/>
          </a:xfrm>
        </p:spPr>
        <p:txBody>
          <a:bodyPr/>
          <a:lstStyle>
            <a:lvl1pPr marL="0" indent="0">
              <a:buNone/>
              <a:defRPr sz="1600"/>
            </a:lvl1pPr>
            <a:lvl2pPr marL="457206" indent="0">
              <a:buNone/>
              <a:defRPr sz="1401"/>
            </a:lvl2pPr>
            <a:lvl3pPr marL="914411" indent="0">
              <a:buNone/>
              <a:defRPr sz="1200"/>
            </a:lvl3pPr>
            <a:lvl4pPr marL="1371617" indent="0">
              <a:buNone/>
              <a:defRPr sz="1001"/>
            </a:lvl4pPr>
            <a:lvl5pPr marL="1828823" indent="0">
              <a:buNone/>
              <a:defRPr sz="1001"/>
            </a:lvl5pPr>
            <a:lvl6pPr marL="2286029" indent="0">
              <a:buNone/>
              <a:defRPr sz="1001"/>
            </a:lvl6pPr>
            <a:lvl7pPr marL="2743234" indent="0">
              <a:buNone/>
              <a:defRPr sz="1001"/>
            </a:lvl7pPr>
            <a:lvl8pPr marL="3200440" indent="0">
              <a:buNone/>
              <a:defRPr sz="1001"/>
            </a:lvl8pPr>
            <a:lvl9pPr marL="3657646" indent="0">
              <a:buNone/>
              <a:defRPr sz="1001"/>
            </a:lvl9pPr>
          </a:lstStyle>
          <a:p>
            <a:pPr lvl="0"/>
            <a:r>
              <a:rPr lang="ru-RU"/>
              <a:t>Образец текста</a:t>
            </a:r>
          </a:p>
        </p:txBody>
      </p:sp>
      <p:sp>
        <p:nvSpPr>
          <p:cNvPr id="5" name="Дата 4">
            <a:extLst>
              <a:ext uri="{FF2B5EF4-FFF2-40B4-BE49-F238E27FC236}">
                <a16:creationId xmlns:a16="http://schemas.microsoft.com/office/drawing/2014/main" id="{2F167B60-CEE2-0E5C-307D-696EF4CBF740}"/>
              </a:ext>
            </a:extLst>
          </p:cNvPr>
          <p:cNvSpPr>
            <a:spLocks noGrp="1"/>
          </p:cNvSpPr>
          <p:nvPr>
            <p:ph type="dt" sz="half" idx="10"/>
          </p:nvPr>
        </p:nvSpPr>
        <p:spPr/>
        <p:txBody>
          <a:bodyPr/>
          <a:lstStyle/>
          <a:p>
            <a:fld id="{02EF281E-5119-4EE1-87A1-FE5CB68252C5}" type="datetimeFigureOut">
              <a:rPr lang="ru-RU" smtClean="0"/>
              <a:t>18.12.2025</a:t>
            </a:fld>
            <a:endParaRPr lang="ru-RU"/>
          </a:p>
        </p:txBody>
      </p:sp>
      <p:sp>
        <p:nvSpPr>
          <p:cNvPr id="6" name="Нижний колонтитул 5">
            <a:extLst>
              <a:ext uri="{FF2B5EF4-FFF2-40B4-BE49-F238E27FC236}">
                <a16:creationId xmlns:a16="http://schemas.microsoft.com/office/drawing/2014/main" id="{B991F02C-F62C-8EE6-9EA1-B6F39A6D5D78}"/>
              </a:ext>
            </a:extLst>
          </p:cNvPr>
          <p:cNvSpPr>
            <a:spLocks noGrp="1"/>
          </p:cNvSpPr>
          <p:nvPr>
            <p:ph type="ftr" sz="quarter" idx="11"/>
          </p:nvPr>
        </p:nvSpPr>
        <p:spPr/>
        <p:txBody>
          <a:bodyPr/>
          <a:lstStyle/>
          <a:p>
            <a:endParaRPr lang="ru-RU"/>
          </a:p>
        </p:txBody>
      </p:sp>
      <p:sp>
        <p:nvSpPr>
          <p:cNvPr id="7" name="Номер слайда 6">
            <a:extLst>
              <a:ext uri="{FF2B5EF4-FFF2-40B4-BE49-F238E27FC236}">
                <a16:creationId xmlns:a16="http://schemas.microsoft.com/office/drawing/2014/main" id="{8F6B7FDC-E688-A152-B05F-3BC8FC5F00D0}"/>
              </a:ext>
            </a:extLst>
          </p:cNvPr>
          <p:cNvSpPr>
            <a:spLocks noGrp="1"/>
          </p:cNvSpPr>
          <p:nvPr>
            <p:ph type="sldNum" sz="quarter" idx="12"/>
          </p:nvPr>
        </p:nvSpPr>
        <p:spPr/>
        <p:txBody>
          <a:bodyPr/>
          <a:lstStyle/>
          <a:p>
            <a:fld id="{044D6A02-9020-469A-A64A-01A49BF5CA24}" type="slidenum">
              <a:rPr lang="ru-RU" smtClean="0"/>
              <a:t>‹#›</a:t>
            </a:fld>
            <a:endParaRPr lang="ru-RU"/>
          </a:p>
        </p:txBody>
      </p:sp>
    </p:spTree>
    <p:extLst>
      <p:ext uri="{BB962C8B-B14F-4D97-AF65-F5344CB8AC3E}">
        <p14:creationId xmlns:p14="http://schemas.microsoft.com/office/powerpoint/2010/main" val="135428683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альный текст">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FD7EE9FA-2478-48C4-0BC2-53750EDE2706}"/>
              </a:ext>
            </a:extLst>
          </p:cNvPr>
          <p:cNvSpPr>
            <a:spLocks noGrp="1"/>
          </p:cNvSpPr>
          <p:nvPr>
            <p:ph type="title"/>
          </p:nvPr>
        </p:nvSpPr>
        <p:spPr/>
        <p:txBody>
          <a:bodyPr/>
          <a:lstStyle/>
          <a:p>
            <a:r>
              <a:rPr lang="ru-RU"/>
              <a:t>Образец заголовка</a:t>
            </a:r>
          </a:p>
        </p:txBody>
      </p:sp>
      <p:sp>
        <p:nvSpPr>
          <p:cNvPr id="3" name="Вертикальный текст 2">
            <a:extLst>
              <a:ext uri="{FF2B5EF4-FFF2-40B4-BE49-F238E27FC236}">
                <a16:creationId xmlns:a16="http://schemas.microsoft.com/office/drawing/2014/main" id="{83D60FE4-BB62-E0E3-42ED-4E6AA52CC3C8}"/>
              </a:ext>
            </a:extLst>
          </p:cNvPr>
          <p:cNvSpPr>
            <a:spLocks noGrp="1"/>
          </p:cNvSpPr>
          <p:nvPr>
            <p:ph type="body" orient="vert" idx="1"/>
          </p:nvPr>
        </p:nvSpPr>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a:extLst>
              <a:ext uri="{FF2B5EF4-FFF2-40B4-BE49-F238E27FC236}">
                <a16:creationId xmlns:a16="http://schemas.microsoft.com/office/drawing/2014/main" id="{65708E90-0839-2016-B175-36C19D017230}"/>
              </a:ext>
            </a:extLst>
          </p:cNvPr>
          <p:cNvSpPr>
            <a:spLocks noGrp="1"/>
          </p:cNvSpPr>
          <p:nvPr>
            <p:ph type="dt" sz="half" idx="10"/>
          </p:nvPr>
        </p:nvSpPr>
        <p:spPr/>
        <p:txBody>
          <a:bodyPr/>
          <a:lstStyle/>
          <a:p>
            <a:fld id="{02EF281E-5119-4EE1-87A1-FE5CB68252C5}" type="datetimeFigureOut">
              <a:rPr lang="ru-RU" smtClean="0"/>
              <a:t>18.12.2025</a:t>
            </a:fld>
            <a:endParaRPr lang="ru-RU"/>
          </a:p>
        </p:txBody>
      </p:sp>
      <p:sp>
        <p:nvSpPr>
          <p:cNvPr id="5" name="Нижний колонтитул 4">
            <a:extLst>
              <a:ext uri="{FF2B5EF4-FFF2-40B4-BE49-F238E27FC236}">
                <a16:creationId xmlns:a16="http://schemas.microsoft.com/office/drawing/2014/main" id="{BC006981-AAD4-CE5F-9558-BF3FC24FEFD8}"/>
              </a:ext>
            </a:extLst>
          </p:cNvPr>
          <p:cNvSpPr>
            <a:spLocks noGrp="1"/>
          </p:cNvSpPr>
          <p:nvPr>
            <p:ph type="ftr" sz="quarter" idx="11"/>
          </p:nvPr>
        </p:nvSpPr>
        <p:spPr/>
        <p:txBody>
          <a:bodyPr/>
          <a:lstStyle/>
          <a:p>
            <a:endParaRPr lang="ru-RU"/>
          </a:p>
        </p:txBody>
      </p:sp>
      <p:sp>
        <p:nvSpPr>
          <p:cNvPr id="6" name="Номер слайда 5">
            <a:extLst>
              <a:ext uri="{FF2B5EF4-FFF2-40B4-BE49-F238E27FC236}">
                <a16:creationId xmlns:a16="http://schemas.microsoft.com/office/drawing/2014/main" id="{FDD60EDE-D608-0B45-88AA-557DCD44D8A0}"/>
              </a:ext>
            </a:extLst>
          </p:cNvPr>
          <p:cNvSpPr>
            <a:spLocks noGrp="1"/>
          </p:cNvSpPr>
          <p:nvPr>
            <p:ph type="sldNum" sz="quarter" idx="12"/>
          </p:nvPr>
        </p:nvSpPr>
        <p:spPr/>
        <p:txBody>
          <a:bodyPr/>
          <a:lstStyle/>
          <a:p>
            <a:fld id="{044D6A02-9020-469A-A64A-01A49BF5CA24}" type="slidenum">
              <a:rPr lang="ru-RU" smtClean="0"/>
              <a:t>‹#›</a:t>
            </a:fld>
            <a:endParaRPr lang="ru-RU"/>
          </a:p>
        </p:txBody>
      </p:sp>
    </p:spTree>
    <p:extLst>
      <p:ext uri="{BB962C8B-B14F-4D97-AF65-F5344CB8AC3E}">
        <p14:creationId xmlns:p14="http://schemas.microsoft.com/office/powerpoint/2010/main" val="358791971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Вертикальный заголовок и текст">
    <p:spTree>
      <p:nvGrpSpPr>
        <p:cNvPr id="1" name=""/>
        <p:cNvGrpSpPr/>
        <p:nvPr/>
      </p:nvGrpSpPr>
      <p:grpSpPr>
        <a:xfrm>
          <a:off x="0" y="0"/>
          <a:ext cx="0" cy="0"/>
          <a:chOff x="0" y="0"/>
          <a:chExt cx="0" cy="0"/>
        </a:xfrm>
      </p:grpSpPr>
      <p:sp>
        <p:nvSpPr>
          <p:cNvPr id="2" name="Вертикальный заголовок 1">
            <a:extLst>
              <a:ext uri="{FF2B5EF4-FFF2-40B4-BE49-F238E27FC236}">
                <a16:creationId xmlns:a16="http://schemas.microsoft.com/office/drawing/2014/main" id="{7FD97CD0-73A0-4F2E-0533-7D25B82FB48F}"/>
              </a:ext>
            </a:extLst>
          </p:cNvPr>
          <p:cNvSpPr>
            <a:spLocks noGrp="1"/>
          </p:cNvSpPr>
          <p:nvPr>
            <p:ph type="title" orient="vert"/>
          </p:nvPr>
        </p:nvSpPr>
        <p:spPr>
          <a:xfrm>
            <a:off x="8724899" y="365125"/>
            <a:ext cx="2628900" cy="5811838"/>
          </a:xfrm>
        </p:spPr>
        <p:txBody>
          <a:bodyPr vert="eaVert"/>
          <a:lstStyle/>
          <a:p>
            <a:r>
              <a:rPr lang="ru-RU"/>
              <a:t>Образец заголовка</a:t>
            </a:r>
          </a:p>
        </p:txBody>
      </p:sp>
      <p:sp>
        <p:nvSpPr>
          <p:cNvPr id="3" name="Вертикальный текст 2">
            <a:extLst>
              <a:ext uri="{FF2B5EF4-FFF2-40B4-BE49-F238E27FC236}">
                <a16:creationId xmlns:a16="http://schemas.microsoft.com/office/drawing/2014/main" id="{36C9619C-7522-7CC8-868F-569267438432}"/>
              </a:ext>
            </a:extLst>
          </p:cNvPr>
          <p:cNvSpPr>
            <a:spLocks noGrp="1"/>
          </p:cNvSpPr>
          <p:nvPr>
            <p:ph type="body" orient="vert" idx="1"/>
          </p:nvPr>
        </p:nvSpPr>
        <p:spPr>
          <a:xfrm>
            <a:off x="838199" y="365125"/>
            <a:ext cx="7734300" cy="5811838"/>
          </a:xfrm>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a:extLst>
              <a:ext uri="{FF2B5EF4-FFF2-40B4-BE49-F238E27FC236}">
                <a16:creationId xmlns:a16="http://schemas.microsoft.com/office/drawing/2014/main" id="{1F0DD059-0B98-0427-C563-19C4138CBE88}"/>
              </a:ext>
            </a:extLst>
          </p:cNvPr>
          <p:cNvSpPr>
            <a:spLocks noGrp="1"/>
          </p:cNvSpPr>
          <p:nvPr>
            <p:ph type="dt" sz="half" idx="10"/>
          </p:nvPr>
        </p:nvSpPr>
        <p:spPr/>
        <p:txBody>
          <a:bodyPr/>
          <a:lstStyle/>
          <a:p>
            <a:fld id="{02EF281E-5119-4EE1-87A1-FE5CB68252C5}" type="datetimeFigureOut">
              <a:rPr lang="ru-RU" smtClean="0"/>
              <a:t>18.12.2025</a:t>
            </a:fld>
            <a:endParaRPr lang="ru-RU"/>
          </a:p>
        </p:txBody>
      </p:sp>
      <p:sp>
        <p:nvSpPr>
          <p:cNvPr id="5" name="Нижний колонтитул 4">
            <a:extLst>
              <a:ext uri="{FF2B5EF4-FFF2-40B4-BE49-F238E27FC236}">
                <a16:creationId xmlns:a16="http://schemas.microsoft.com/office/drawing/2014/main" id="{17162FFF-D855-C06B-961F-6B518F064BBD}"/>
              </a:ext>
            </a:extLst>
          </p:cNvPr>
          <p:cNvSpPr>
            <a:spLocks noGrp="1"/>
          </p:cNvSpPr>
          <p:nvPr>
            <p:ph type="ftr" sz="quarter" idx="11"/>
          </p:nvPr>
        </p:nvSpPr>
        <p:spPr/>
        <p:txBody>
          <a:bodyPr/>
          <a:lstStyle/>
          <a:p>
            <a:endParaRPr lang="ru-RU"/>
          </a:p>
        </p:txBody>
      </p:sp>
      <p:sp>
        <p:nvSpPr>
          <p:cNvPr id="6" name="Номер слайда 5">
            <a:extLst>
              <a:ext uri="{FF2B5EF4-FFF2-40B4-BE49-F238E27FC236}">
                <a16:creationId xmlns:a16="http://schemas.microsoft.com/office/drawing/2014/main" id="{554A2847-BB81-5FFE-1998-9DF1C0CDE414}"/>
              </a:ext>
            </a:extLst>
          </p:cNvPr>
          <p:cNvSpPr>
            <a:spLocks noGrp="1"/>
          </p:cNvSpPr>
          <p:nvPr>
            <p:ph type="sldNum" sz="quarter" idx="12"/>
          </p:nvPr>
        </p:nvSpPr>
        <p:spPr/>
        <p:txBody>
          <a:bodyPr/>
          <a:lstStyle/>
          <a:p>
            <a:fld id="{044D6A02-9020-469A-A64A-01A49BF5CA24}" type="slidenum">
              <a:rPr lang="ru-RU" smtClean="0"/>
              <a:t>‹#›</a:t>
            </a:fld>
            <a:endParaRPr lang="ru-RU"/>
          </a:p>
        </p:txBody>
      </p:sp>
    </p:spTree>
    <p:extLst>
      <p:ext uri="{BB962C8B-B14F-4D97-AF65-F5344CB8AC3E}">
        <p14:creationId xmlns:p14="http://schemas.microsoft.com/office/powerpoint/2010/main" val="6166968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DCBA3D05-97B8-26CE-A431-D67A380C98B6}"/>
              </a:ext>
            </a:extLst>
          </p:cNvPr>
          <p:cNvSpPr>
            <a:spLocks noGrp="1"/>
          </p:cNvSpPr>
          <p:nvPr>
            <p:ph type="title"/>
          </p:nvPr>
        </p:nvSpPr>
        <p:spPr>
          <a:xfrm>
            <a:off x="838202" y="365125"/>
            <a:ext cx="10515600" cy="1325563"/>
          </a:xfrm>
          <a:prstGeom prst="rect">
            <a:avLst/>
          </a:prstGeom>
        </p:spPr>
        <p:txBody>
          <a:bodyPr vert="horz" lIns="91440" tIns="45720" rIns="91440" bIns="45720" rtlCol="0" anchor="ctr">
            <a:normAutofit/>
          </a:bodyPr>
          <a:lstStyle/>
          <a:p>
            <a:r>
              <a:rPr lang="ru-RU"/>
              <a:t>Образец заголовка</a:t>
            </a:r>
          </a:p>
        </p:txBody>
      </p:sp>
      <p:sp>
        <p:nvSpPr>
          <p:cNvPr id="3" name="Текст 2">
            <a:extLst>
              <a:ext uri="{FF2B5EF4-FFF2-40B4-BE49-F238E27FC236}">
                <a16:creationId xmlns:a16="http://schemas.microsoft.com/office/drawing/2014/main" id="{3917FB2A-71E6-20AC-2361-87246AB2272C}"/>
              </a:ext>
            </a:extLst>
          </p:cNvPr>
          <p:cNvSpPr>
            <a:spLocks noGrp="1"/>
          </p:cNvSpPr>
          <p:nvPr>
            <p:ph type="body" idx="1"/>
          </p:nvPr>
        </p:nvSpPr>
        <p:spPr>
          <a:xfrm>
            <a:off x="838202" y="1825625"/>
            <a:ext cx="10515600" cy="4351338"/>
          </a:xfrm>
          <a:prstGeom prst="rect">
            <a:avLst/>
          </a:prstGeom>
        </p:spPr>
        <p:txBody>
          <a:bodyPr vert="horz" lIns="91440" tIns="45720" rIns="91440" bIns="45720" rtlCol="0">
            <a:normAutofit/>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a:extLst>
              <a:ext uri="{FF2B5EF4-FFF2-40B4-BE49-F238E27FC236}">
                <a16:creationId xmlns:a16="http://schemas.microsoft.com/office/drawing/2014/main" id="{CCC607F9-0214-07D0-8407-EF7A808D49BF}"/>
              </a:ext>
            </a:extLst>
          </p:cNvPr>
          <p:cNvSpPr>
            <a:spLocks noGrp="1"/>
          </p:cNvSpPr>
          <p:nvPr>
            <p:ph type="dt" sz="half" idx="2"/>
          </p:nvPr>
        </p:nvSpPr>
        <p:spPr>
          <a:xfrm>
            <a:off x="838201" y="6356351"/>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2EF281E-5119-4EE1-87A1-FE5CB68252C5}" type="datetimeFigureOut">
              <a:rPr lang="ru-RU" smtClean="0"/>
              <a:t>18.12.2025</a:t>
            </a:fld>
            <a:endParaRPr lang="ru-RU"/>
          </a:p>
        </p:txBody>
      </p:sp>
      <p:sp>
        <p:nvSpPr>
          <p:cNvPr id="5" name="Нижний колонтитул 4">
            <a:extLst>
              <a:ext uri="{FF2B5EF4-FFF2-40B4-BE49-F238E27FC236}">
                <a16:creationId xmlns:a16="http://schemas.microsoft.com/office/drawing/2014/main" id="{CBD51481-C085-04E6-449B-79E04F9FD7F6}"/>
              </a:ext>
            </a:extLst>
          </p:cNvPr>
          <p:cNvSpPr>
            <a:spLocks noGrp="1"/>
          </p:cNvSpPr>
          <p:nvPr>
            <p:ph type="ftr" sz="quarter" idx="3"/>
          </p:nvPr>
        </p:nvSpPr>
        <p:spPr>
          <a:xfrm>
            <a:off x="4038602" y="6356351"/>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ru-RU"/>
          </a:p>
        </p:txBody>
      </p:sp>
      <p:sp>
        <p:nvSpPr>
          <p:cNvPr id="6" name="Номер слайда 5">
            <a:extLst>
              <a:ext uri="{FF2B5EF4-FFF2-40B4-BE49-F238E27FC236}">
                <a16:creationId xmlns:a16="http://schemas.microsoft.com/office/drawing/2014/main" id="{E7B2DFE1-871A-E0D3-4EEC-99D8CCBB304E}"/>
              </a:ext>
            </a:extLst>
          </p:cNvPr>
          <p:cNvSpPr>
            <a:spLocks noGrp="1"/>
          </p:cNvSpPr>
          <p:nvPr>
            <p:ph type="sldNum" sz="quarter" idx="4"/>
          </p:nvPr>
        </p:nvSpPr>
        <p:spPr>
          <a:xfrm>
            <a:off x="8610601" y="6356351"/>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44D6A02-9020-469A-A64A-01A49BF5CA24}" type="slidenum">
              <a:rPr lang="ru-RU" smtClean="0"/>
              <a:t>‹#›</a:t>
            </a:fld>
            <a:endParaRPr lang="ru-RU"/>
          </a:p>
        </p:txBody>
      </p:sp>
    </p:spTree>
    <p:extLst>
      <p:ext uri="{BB962C8B-B14F-4D97-AF65-F5344CB8AC3E}">
        <p14:creationId xmlns:p14="http://schemas.microsoft.com/office/powerpoint/2010/main" val="117038232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11"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4" indent="-228604" algn="l" defTabSz="914411" rtl="0" eaLnBrk="1" latinLnBrk="0" hangingPunct="1">
        <a:lnSpc>
          <a:spcPct val="90000"/>
        </a:lnSpc>
        <a:spcBef>
          <a:spcPts val="1001"/>
        </a:spcBef>
        <a:buFont typeface="Arial" panose="020B0604020202020204" pitchFamily="34" charset="0"/>
        <a:buChar char="•"/>
        <a:defRPr sz="2800" kern="1200">
          <a:solidFill>
            <a:schemeClr val="tx1"/>
          </a:solidFill>
          <a:latin typeface="+mn-lt"/>
          <a:ea typeface="+mn-ea"/>
          <a:cs typeface="+mn-cs"/>
        </a:defRPr>
      </a:lvl1pPr>
      <a:lvl2pPr marL="685809" indent="-228604" algn="l" defTabSz="914411"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15" indent="-228604" algn="l" defTabSz="914411"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21" indent="-228604" algn="l" defTabSz="914411"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4pPr>
      <a:lvl5pPr marL="2057427" indent="-228604" algn="l" defTabSz="914411"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5pPr>
      <a:lvl6pPr marL="2514632" indent="-228604" algn="l" defTabSz="914411"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6pPr>
      <a:lvl7pPr marL="2971838" indent="-228604" algn="l" defTabSz="914411"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7pPr>
      <a:lvl8pPr marL="3429044" indent="-228604" algn="l" defTabSz="914411"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8pPr>
      <a:lvl9pPr marL="3886249" indent="-228604" algn="l" defTabSz="914411"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9pPr>
    </p:bodyStyle>
    <p:otherStyle>
      <a:defPPr>
        <a:defRPr lang="ru-RU"/>
      </a:defPPr>
      <a:lvl1pPr marL="0" algn="l" defTabSz="914411" rtl="0" eaLnBrk="1" latinLnBrk="0" hangingPunct="1">
        <a:defRPr sz="1801" kern="1200">
          <a:solidFill>
            <a:schemeClr val="tx1"/>
          </a:solidFill>
          <a:latin typeface="+mn-lt"/>
          <a:ea typeface="+mn-ea"/>
          <a:cs typeface="+mn-cs"/>
        </a:defRPr>
      </a:lvl1pPr>
      <a:lvl2pPr marL="457206" algn="l" defTabSz="914411" rtl="0" eaLnBrk="1" latinLnBrk="0" hangingPunct="1">
        <a:defRPr sz="1801" kern="1200">
          <a:solidFill>
            <a:schemeClr val="tx1"/>
          </a:solidFill>
          <a:latin typeface="+mn-lt"/>
          <a:ea typeface="+mn-ea"/>
          <a:cs typeface="+mn-cs"/>
        </a:defRPr>
      </a:lvl2pPr>
      <a:lvl3pPr marL="914411" algn="l" defTabSz="914411" rtl="0" eaLnBrk="1" latinLnBrk="0" hangingPunct="1">
        <a:defRPr sz="1801" kern="1200">
          <a:solidFill>
            <a:schemeClr val="tx1"/>
          </a:solidFill>
          <a:latin typeface="+mn-lt"/>
          <a:ea typeface="+mn-ea"/>
          <a:cs typeface="+mn-cs"/>
        </a:defRPr>
      </a:lvl3pPr>
      <a:lvl4pPr marL="1371617" algn="l" defTabSz="914411" rtl="0" eaLnBrk="1" latinLnBrk="0" hangingPunct="1">
        <a:defRPr sz="1801" kern="1200">
          <a:solidFill>
            <a:schemeClr val="tx1"/>
          </a:solidFill>
          <a:latin typeface="+mn-lt"/>
          <a:ea typeface="+mn-ea"/>
          <a:cs typeface="+mn-cs"/>
        </a:defRPr>
      </a:lvl4pPr>
      <a:lvl5pPr marL="1828823" algn="l" defTabSz="914411" rtl="0" eaLnBrk="1" latinLnBrk="0" hangingPunct="1">
        <a:defRPr sz="1801" kern="1200">
          <a:solidFill>
            <a:schemeClr val="tx1"/>
          </a:solidFill>
          <a:latin typeface="+mn-lt"/>
          <a:ea typeface="+mn-ea"/>
          <a:cs typeface="+mn-cs"/>
        </a:defRPr>
      </a:lvl5pPr>
      <a:lvl6pPr marL="2286029" algn="l" defTabSz="914411" rtl="0" eaLnBrk="1" latinLnBrk="0" hangingPunct="1">
        <a:defRPr sz="1801" kern="1200">
          <a:solidFill>
            <a:schemeClr val="tx1"/>
          </a:solidFill>
          <a:latin typeface="+mn-lt"/>
          <a:ea typeface="+mn-ea"/>
          <a:cs typeface="+mn-cs"/>
        </a:defRPr>
      </a:lvl6pPr>
      <a:lvl7pPr marL="2743234" algn="l" defTabSz="914411" rtl="0" eaLnBrk="1" latinLnBrk="0" hangingPunct="1">
        <a:defRPr sz="1801" kern="1200">
          <a:solidFill>
            <a:schemeClr val="tx1"/>
          </a:solidFill>
          <a:latin typeface="+mn-lt"/>
          <a:ea typeface="+mn-ea"/>
          <a:cs typeface="+mn-cs"/>
        </a:defRPr>
      </a:lvl7pPr>
      <a:lvl8pPr marL="3200440" algn="l" defTabSz="914411" rtl="0" eaLnBrk="1" latinLnBrk="0" hangingPunct="1">
        <a:defRPr sz="1801" kern="1200">
          <a:solidFill>
            <a:schemeClr val="tx1"/>
          </a:solidFill>
          <a:latin typeface="+mn-lt"/>
          <a:ea typeface="+mn-ea"/>
          <a:cs typeface="+mn-cs"/>
        </a:defRPr>
      </a:lvl8pPr>
      <a:lvl9pPr marL="3657646" algn="l" defTabSz="914411" rtl="0" eaLnBrk="1" latinLnBrk="0" hangingPunct="1">
        <a:defRPr sz="1801"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chart" Target="../charts/chart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chart" Target="../charts/chart3.xml"/><Relationship Id="rId1" Type="http://schemas.openxmlformats.org/officeDocument/2006/relationships/slideLayout" Target="../slideLayouts/slideLayout7.xml"/><Relationship Id="rId5" Type="http://schemas.openxmlformats.org/officeDocument/2006/relationships/chart" Target="../charts/chart6.xml"/><Relationship Id="rId4" Type="http://schemas.openxmlformats.org/officeDocument/2006/relationships/chart" Target="../charts/chart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chart" Target="../charts/chart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chart" Target="../charts/chart9.xml"/><Relationship Id="rId2" Type="http://schemas.openxmlformats.org/officeDocument/2006/relationships/chart" Target="../charts/chart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chart" Target="../charts/chart10.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chart" Target="../charts/chart11.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chart" Target="../charts/chart12.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chart" Target="../charts/chart13.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chart" Target="../charts/chart14.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chart" Target="../charts/chart15.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chart" Target="../charts/chart16.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3" Type="http://schemas.openxmlformats.org/officeDocument/2006/relationships/chart" Target="../charts/chart18.xml"/><Relationship Id="rId2" Type="http://schemas.openxmlformats.org/officeDocument/2006/relationships/chart" Target="../charts/chart17.xml"/><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2" Type="http://schemas.openxmlformats.org/officeDocument/2006/relationships/chart" Target="../charts/chart19.xml"/><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2" Type="http://schemas.openxmlformats.org/officeDocument/2006/relationships/chart" Target="../charts/chart20.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0D6E2A6A-3CCE-E3DE-7D9D-4FD1ABBD8336}"/>
              </a:ext>
            </a:extLst>
          </p:cNvPr>
          <p:cNvSpPr>
            <a:spLocks noGrp="1"/>
          </p:cNvSpPr>
          <p:nvPr>
            <p:ph type="ctrTitle"/>
          </p:nvPr>
        </p:nvSpPr>
        <p:spPr>
          <a:xfrm>
            <a:off x="1524000" y="389106"/>
            <a:ext cx="9144000" cy="1054571"/>
          </a:xfrm>
        </p:spPr>
        <p:txBody>
          <a:bodyPr>
            <a:normAutofit fontScale="90000"/>
          </a:bodyPr>
          <a:lstStyle/>
          <a:p>
            <a:r>
              <a:rPr lang="en-US" sz="3600" b="1">
                <a:solidFill>
                  <a:schemeClr val="accent1"/>
                </a:solidFill>
              </a:rPr>
              <a:t>A study of data from a large retail retailer for the period from September 1 to September 7, 2023.</a:t>
            </a:r>
            <a:endParaRPr lang="ru-RU" sz="3600" dirty="0">
              <a:solidFill>
                <a:schemeClr val="accent1"/>
              </a:solidFill>
            </a:endParaRPr>
          </a:p>
        </p:txBody>
      </p:sp>
      <p:sp>
        <p:nvSpPr>
          <p:cNvPr id="3" name="Подзаголовок 2">
            <a:extLst>
              <a:ext uri="{FF2B5EF4-FFF2-40B4-BE49-F238E27FC236}">
                <a16:creationId xmlns:a16="http://schemas.microsoft.com/office/drawing/2014/main" id="{110EFA61-5C84-50E7-EE7E-6C8E2D8A0679}"/>
              </a:ext>
            </a:extLst>
          </p:cNvPr>
          <p:cNvSpPr>
            <a:spLocks noGrp="1"/>
          </p:cNvSpPr>
          <p:nvPr>
            <p:ph type="subTitle" idx="1"/>
          </p:nvPr>
        </p:nvSpPr>
        <p:spPr>
          <a:xfrm>
            <a:off x="1524000" y="2464001"/>
            <a:ext cx="9144000" cy="1929997"/>
          </a:xfrm>
        </p:spPr>
        <p:txBody>
          <a:bodyPr>
            <a:normAutofit/>
          </a:bodyPr>
          <a:lstStyle/>
          <a:p>
            <a:r>
              <a:rPr lang="en-US" sz="1800" i="1" u="sng" dirty="0"/>
              <a:t>Reason for the study:
</a:t>
            </a:r>
            <a:r>
              <a:rPr lang="en-US" sz="1800" dirty="0">
                <a:latin typeface="+mj-lt"/>
              </a:rPr>
              <a:t>In the first 4 days of September, there was an increase in the number of transactions. </a:t>
            </a:r>
            <a:r>
              <a:rPr lang="en-US" sz="1800" i="1" u="sng" dirty="0"/>
              <a:t>
Hypothesis to be tested:
</a:t>
            </a:r>
            <a:r>
              <a:rPr lang="en-US" sz="1800" dirty="0">
                <a:latin typeface="+mj-lt"/>
              </a:rPr>
              <a:t>The growth driver is one or more specific outlets. If so, it will also be necessary to check whether the "driver" has "devoured" other outlets.</a:t>
            </a:r>
            <a:endParaRPr lang="ru-RU" sz="1800" dirty="0">
              <a:latin typeface="+mj-lt"/>
            </a:endParaRPr>
          </a:p>
        </p:txBody>
      </p:sp>
    </p:spTree>
    <p:extLst>
      <p:ext uri="{BB962C8B-B14F-4D97-AF65-F5344CB8AC3E}">
        <p14:creationId xmlns:p14="http://schemas.microsoft.com/office/powerpoint/2010/main" val="257461478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9D2CE7C2-B996-5073-1934-17A98197ECDB}"/>
              </a:ext>
            </a:extLst>
          </p:cNvPr>
          <p:cNvSpPr>
            <a:spLocks noGrp="1"/>
          </p:cNvSpPr>
          <p:nvPr>
            <p:ph type="title"/>
          </p:nvPr>
        </p:nvSpPr>
        <p:spPr>
          <a:xfrm>
            <a:off x="3127014" y="431707"/>
            <a:ext cx="6080212" cy="443567"/>
          </a:xfrm>
        </p:spPr>
        <p:txBody>
          <a:bodyPr>
            <a:noAutofit/>
          </a:bodyPr>
          <a:lstStyle/>
          <a:p>
            <a:r>
              <a:rPr lang="en-US" sz="2800" i="1"/>
              <a:t>Number of transactions (absolute values)</a:t>
            </a:r>
            <a:endParaRPr lang="ru-RU" sz="2800" dirty="0"/>
          </a:p>
        </p:txBody>
      </p:sp>
      <p:graphicFrame>
        <p:nvGraphicFramePr>
          <p:cNvPr id="10" name="Объект 9">
            <a:extLst>
              <a:ext uri="{FF2B5EF4-FFF2-40B4-BE49-F238E27FC236}">
                <a16:creationId xmlns:a16="http://schemas.microsoft.com/office/drawing/2014/main" id="{18DCF9EB-7C75-151A-F2B9-C0577722DB62}"/>
              </a:ext>
            </a:extLst>
          </p:cNvPr>
          <p:cNvGraphicFramePr>
            <a:graphicFrameLocks noGrp="1"/>
          </p:cNvGraphicFramePr>
          <p:nvPr>
            <p:ph idx="1"/>
            <p:extLst>
              <p:ext uri="{D42A27DB-BD31-4B8C-83A1-F6EECF244321}">
                <p14:modId xmlns:p14="http://schemas.microsoft.com/office/powerpoint/2010/main" val="216149310"/>
              </p:ext>
            </p:extLst>
          </p:nvPr>
        </p:nvGraphicFramePr>
        <p:xfrm>
          <a:off x="518160" y="1245141"/>
          <a:ext cx="11297920" cy="5247733"/>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309335067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BDC36027-2BE1-9656-C9A8-20EF44D13622}"/>
              </a:ext>
            </a:extLst>
          </p:cNvPr>
          <p:cNvSpPr>
            <a:spLocks noGrp="1"/>
          </p:cNvSpPr>
          <p:nvPr>
            <p:ph type="title"/>
          </p:nvPr>
        </p:nvSpPr>
        <p:spPr>
          <a:xfrm>
            <a:off x="3331521" y="483372"/>
            <a:ext cx="5528958" cy="490908"/>
          </a:xfrm>
        </p:spPr>
        <p:txBody>
          <a:bodyPr>
            <a:noAutofit/>
          </a:bodyPr>
          <a:lstStyle/>
          <a:p>
            <a:r>
              <a:rPr lang="en-US" sz="2800" i="1"/>
              <a:t>Number of transactions (normalized)</a:t>
            </a:r>
            <a:endParaRPr lang="ru-RU" sz="2800" dirty="0"/>
          </a:p>
        </p:txBody>
      </p:sp>
      <p:graphicFrame>
        <p:nvGraphicFramePr>
          <p:cNvPr id="4" name="Объект 3">
            <a:extLst>
              <a:ext uri="{FF2B5EF4-FFF2-40B4-BE49-F238E27FC236}">
                <a16:creationId xmlns:a16="http://schemas.microsoft.com/office/drawing/2014/main" id="{196E30A3-D5AB-8FA6-F583-AF233B34332C}"/>
              </a:ext>
            </a:extLst>
          </p:cNvPr>
          <p:cNvGraphicFramePr>
            <a:graphicFrameLocks noGrp="1"/>
          </p:cNvGraphicFramePr>
          <p:nvPr>
            <p:ph idx="1"/>
            <p:extLst>
              <p:ext uri="{D42A27DB-BD31-4B8C-83A1-F6EECF244321}">
                <p14:modId xmlns:p14="http://schemas.microsoft.com/office/powerpoint/2010/main" val="1972791184"/>
              </p:ext>
            </p:extLst>
          </p:nvPr>
        </p:nvGraphicFramePr>
        <p:xfrm>
          <a:off x="838202" y="1300480"/>
          <a:ext cx="10515600" cy="5192395"/>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384838560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8FD85D74-A7A3-70AD-C278-39F85A5ECFDF}"/>
              </a:ext>
            </a:extLst>
          </p:cNvPr>
          <p:cNvSpPr>
            <a:spLocks noGrp="1"/>
          </p:cNvSpPr>
          <p:nvPr>
            <p:ph type="title"/>
          </p:nvPr>
        </p:nvSpPr>
        <p:spPr>
          <a:xfrm>
            <a:off x="838200" y="1536970"/>
            <a:ext cx="10515600" cy="3482503"/>
          </a:xfrm>
        </p:spPr>
        <p:txBody>
          <a:bodyPr>
            <a:noAutofit/>
          </a:bodyPr>
          <a:lstStyle/>
          <a:p>
            <a:pPr algn="ctr">
              <a:lnSpc>
                <a:spcPct val="150000"/>
              </a:lnSpc>
            </a:pPr>
            <a:r>
              <a:rPr lang="en-US" sz="1800" i="1" u="sng" dirty="0">
                <a:latin typeface="+mn-lt"/>
              </a:rPr>
              <a:t>Reason for the study:</a:t>
            </a:r>
            <a:br>
              <a:rPr lang="en-US" sz="1800" i="1" u="sng" dirty="0">
                <a:latin typeface="+mn-lt"/>
              </a:rPr>
            </a:br>
            <a:r>
              <a:rPr lang="en-US" sz="1800" dirty="0"/>
              <a:t>We notice that we have problems with distributing the load on the servers. It is necessary to study the dynamics of the load and find solutions to the problem.</a:t>
            </a:r>
            <a:br>
              <a:rPr lang="en-US" sz="1800" dirty="0"/>
            </a:br>
            <a:br>
              <a:rPr lang="en-US" sz="1800" i="1" u="sng" dirty="0">
                <a:latin typeface="+mn-lt"/>
              </a:rPr>
            </a:br>
            <a:r>
              <a:rPr lang="en-US" sz="1800" i="1" u="sng" dirty="0">
                <a:latin typeface="+mn-lt"/>
              </a:rPr>
              <a:t>Hypothesis to be tested:</a:t>
            </a:r>
            <a:br>
              <a:rPr lang="en-US" sz="1800" i="1" u="sng" dirty="0">
                <a:latin typeface="+mn-lt"/>
              </a:rPr>
            </a:br>
            <a:r>
              <a:rPr lang="en-US" sz="1800" dirty="0"/>
              <a:t>The increase in load is associated with an increase in the number of transactions, and the uniformity of the load can be "cured" if you "rebind" retail outlets to other servers.</a:t>
            </a:r>
            <a:endParaRPr lang="ru-RU" sz="1800" dirty="0"/>
          </a:p>
        </p:txBody>
      </p:sp>
    </p:spTree>
    <p:extLst>
      <p:ext uri="{BB962C8B-B14F-4D97-AF65-F5344CB8AC3E}">
        <p14:creationId xmlns:p14="http://schemas.microsoft.com/office/powerpoint/2010/main" val="73984167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Диаграмма 1">
            <a:extLst>
              <a:ext uri="{FF2B5EF4-FFF2-40B4-BE49-F238E27FC236}">
                <a16:creationId xmlns:a16="http://schemas.microsoft.com/office/drawing/2014/main" id="{1726F9F4-26E6-F08E-8211-B309E9ED2068}"/>
              </a:ext>
            </a:extLst>
          </p:cNvPr>
          <p:cNvGraphicFramePr>
            <a:graphicFrameLocks/>
          </p:cNvGraphicFramePr>
          <p:nvPr>
            <p:extLst>
              <p:ext uri="{D42A27DB-BD31-4B8C-83A1-F6EECF244321}">
                <p14:modId xmlns:p14="http://schemas.microsoft.com/office/powerpoint/2010/main" val="259310636"/>
              </p:ext>
            </p:extLst>
          </p:nvPr>
        </p:nvGraphicFramePr>
        <p:xfrm>
          <a:off x="562273" y="640736"/>
          <a:ext cx="5533727" cy="2261438"/>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3" name="Диаграмма 2">
            <a:extLst>
              <a:ext uri="{FF2B5EF4-FFF2-40B4-BE49-F238E27FC236}">
                <a16:creationId xmlns:a16="http://schemas.microsoft.com/office/drawing/2014/main" id="{3B90C377-C88B-BF16-DEBD-6C5F2724FD0E}"/>
              </a:ext>
            </a:extLst>
          </p:cNvPr>
          <p:cNvGraphicFramePr>
            <a:graphicFrameLocks/>
          </p:cNvGraphicFramePr>
          <p:nvPr>
            <p:extLst>
              <p:ext uri="{D42A27DB-BD31-4B8C-83A1-F6EECF244321}">
                <p14:modId xmlns:p14="http://schemas.microsoft.com/office/powerpoint/2010/main" val="990616788"/>
              </p:ext>
            </p:extLst>
          </p:nvPr>
        </p:nvGraphicFramePr>
        <p:xfrm>
          <a:off x="684222" y="3753792"/>
          <a:ext cx="5642705" cy="2941648"/>
        </p:xfrm>
        <a:graphic>
          <a:graphicData uri="http://schemas.openxmlformats.org/drawingml/2006/chart">
            <c:chart xmlns:c="http://schemas.openxmlformats.org/drawingml/2006/chart" xmlns:r="http://schemas.openxmlformats.org/officeDocument/2006/relationships" r:id="rId3"/>
          </a:graphicData>
        </a:graphic>
      </p:graphicFrame>
      <p:sp>
        <p:nvSpPr>
          <p:cNvPr id="4" name="TextBox 3">
            <a:extLst>
              <a:ext uri="{FF2B5EF4-FFF2-40B4-BE49-F238E27FC236}">
                <a16:creationId xmlns:a16="http://schemas.microsoft.com/office/drawing/2014/main" id="{92C4237C-ED29-FAF7-4246-B298CC9B0740}"/>
              </a:ext>
            </a:extLst>
          </p:cNvPr>
          <p:cNvSpPr txBox="1"/>
          <p:nvPr/>
        </p:nvSpPr>
        <p:spPr>
          <a:xfrm>
            <a:off x="2130711" y="240625"/>
            <a:ext cx="8161506" cy="400110"/>
          </a:xfrm>
          <a:prstGeom prst="rect">
            <a:avLst/>
          </a:prstGeom>
          <a:noFill/>
        </p:spPr>
        <p:txBody>
          <a:bodyPr wrap="square" rtlCol="0">
            <a:spAutoFit/>
          </a:bodyPr>
          <a:lstStyle/>
          <a:p>
            <a:pPr algn="ctr"/>
            <a:r>
              <a:rPr lang="en-US" sz="2000" i="1"/>
              <a:t>Server load growth rate before/after load balancing</a:t>
            </a:r>
            <a:endParaRPr lang="ru-RU" sz="2000" i="1" dirty="0"/>
          </a:p>
        </p:txBody>
      </p:sp>
      <p:graphicFrame>
        <p:nvGraphicFramePr>
          <p:cNvPr id="5" name="Диаграмма 4">
            <a:extLst>
              <a:ext uri="{FF2B5EF4-FFF2-40B4-BE49-F238E27FC236}">
                <a16:creationId xmlns:a16="http://schemas.microsoft.com/office/drawing/2014/main" id="{953B1CD7-3B4A-0F30-BDA5-AE96E45981CB}"/>
              </a:ext>
            </a:extLst>
          </p:cNvPr>
          <p:cNvGraphicFramePr>
            <a:graphicFrameLocks/>
          </p:cNvGraphicFramePr>
          <p:nvPr>
            <p:extLst>
              <p:ext uri="{D42A27DB-BD31-4B8C-83A1-F6EECF244321}">
                <p14:modId xmlns:p14="http://schemas.microsoft.com/office/powerpoint/2010/main" val="3735038419"/>
              </p:ext>
            </p:extLst>
          </p:nvPr>
        </p:nvGraphicFramePr>
        <p:xfrm>
          <a:off x="6450217" y="3751812"/>
          <a:ext cx="5288488" cy="2941648"/>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6" name="Диаграмма 5">
            <a:extLst>
              <a:ext uri="{FF2B5EF4-FFF2-40B4-BE49-F238E27FC236}">
                <a16:creationId xmlns:a16="http://schemas.microsoft.com/office/drawing/2014/main" id="{508DFD35-D194-F515-C337-ABA95D0530A4}"/>
              </a:ext>
            </a:extLst>
          </p:cNvPr>
          <p:cNvGraphicFramePr>
            <a:graphicFrameLocks/>
          </p:cNvGraphicFramePr>
          <p:nvPr>
            <p:extLst>
              <p:ext uri="{D42A27DB-BD31-4B8C-83A1-F6EECF244321}">
                <p14:modId xmlns:p14="http://schemas.microsoft.com/office/powerpoint/2010/main" val="3080909117"/>
              </p:ext>
            </p:extLst>
          </p:nvPr>
        </p:nvGraphicFramePr>
        <p:xfrm>
          <a:off x="6326927" y="640735"/>
          <a:ext cx="5535068" cy="2261439"/>
        </p:xfrm>
        <a:graphic>
          <a:graphicData uri="http://schemas.openxmlformats.org/drawingml/2006/chart">
            <c:chart xmlns:c="http://schemas.openxmlformats.org/drawingml/2006/chart" xmlns:r="http://schemas.openxmlformats.org/officeDocument/2006/relationships" r:id="rId5"/>
          </a:graphicData>
        </a:graphic>
      </p:graphicFrame>
      <p:sp>
        <p:nvSpPr>
          <p:cNvPr id="8" name="TextBox 7">
            <a:extLst>
              <a:ext uri="{FF2B5EF4-FFF2-40B4-BE49-F238E27FC236}">
                <a16:creationId xmlns:a16="http://schemas.microsoft.com/office/drawing/2014/main" id="{1FBBE6C0-84A7-1747-115A-D14609A335EC}"/>
              </a:ext>
            </a:extLst>
          </p:cNvPr>
          <p:cNvSpPr txBox="1"/>
          <p:nvPr/>
        </p:nvSpPr>
        <p:spPr>
          <a:xfrm>
            <a:off x="3964935" y="3228945"/>
            <a:ext cx="4262129" cy="400110"/>
          </a:xfrm>
          <a:prstGeom prst="rect">
            <a:avLst/>
          </a:prstGeom>
          <a:noFill/>
        </p:spPr>
        <p:txBody>
          <a:bodyPr wrap="none" rtlCol="0">
            <a:spAutoFit/>
          </a:bodyPr>
          <a:lstStyle/>
          <a:p>
            <a:r>
              <a:rPr lang="en-US" sz="2000" i="1">
                <a:solidFill>
                  <a:sysClr val="windowText" lastClr="000000"/>
                </a:solidFill>
              </a:rPr>
              <a:t>Server load before/after load balancing</a:t>
            </a:r>
            <a:endParaRPr lang="ru-RU" sz="2000" dirty="0"/>
          </a:p>
        </p:txBody>
      </p:sp>
    </p:spTree>
    <p:extLst>
      <p:ext uri="{BB962C8B-B14F-4D97-AF65-F5344CB8AC3E}">
        <p14:creationId xmlns:p14="http://schemas.microsoft.com/office/powerpoint/2010/main" val="282578548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1675BB23-CCD9-6769-F331-411A6D5C396F}"/>
              </a:ext>
            </a:extLst>
          </p:cNvPr>
          <p:cNvSpPr>
            <a:spLocks noGrp="1"/>
          </p:cNvSpPr>
          <p:nvPr>
            <p:ph type="title"/>
          </p:nvPr>
        </p:nvSpPr>
        <p:spPr>
          <a:xfrm>
            <a:off x="838200" y="1481969"/>
            <a:ext cx="10515600" cy="3894062"/>
          </a:xfrm>
        </p:spPr>
        <p:txBody>
          <a:bodyPr>
            <a:normAutofit/>
          </a:bodyPr>
          <a:lstStyle/>
          <a:p>
            <a:pPr algn="ctr">
              <a:lnSpc>
                <a:spcPct val="150000"/>
              </a:lnSpc>
            </a:pPr>
            <a:r>
              <a:rPr lang="en-US" sz="1800" i="1" u="sng" dirty="0">
                <a:latin typeface="+mn-lt"/>
              </a:rPr>
              <a:t>Reason for the study:</a:t>
            </a:r>
            <a:br>
              <a:rPr lang="en-US" sz="1800" i="1" u="sng" dirty="0">
                <a:latin typeface="+mn-lt"/>
              </a:rPr>
            </a:br>
            <a:r>
              <a:rPr lang="en-US" sz="1800" dirty="0"/>
              <a:t>It is necessary to calculate at which points what percentage of transactions are performed using self-service checkouts. It is also necessary to study the dynamics of the share of transactions at self-service checkouts and correlate this information with the dynamics of the distribution of transactions at retail outlets.</a:t>
            </a:r>
            <a:br>
              <a:rPr lang="en-US" sz="1800" i="1" u="sng" dirty="0">
                <a:latin typeface="+mn-lt"/>
              </a:rPr>
            </a:br>
            <a:br>
              <a:rPr lang="en-US" sz="1800" i="1" u="sng" dirty="0">
                <a:latin typeface="+mn-lt"/>
              </a:rPr>
            </a:br>
            <a:r>
              <a:rPr lang="en-US" sz="1800" i="1" u="sng" dirty="0">
                <a:latin typeface="+mn-lt"/>
              </a:rPr>
              <a:t>Hypothesis to be tested:</a:t>
            </a:r>
            <a:br>
              <a:rPr lang="en-US" sz="1800" i="1" u="sng" dirty="0">
                <a:latin typeface="+mn-lt"/>
              </a:rPr>
            </a:br>
            <a:r>
              <a:rPr lang="en-US" sz="1800" dirty="0"/>
              <a:t>A strong increase in the number of transactions from self-service checkouts increases the average duration of the transaction.</a:t>
            </a:r>
            <a:endParaRPr lang="ru-RU" sz="1800" dirty="0"/>
          </a:p>
        </p:txBody>
      </p:sp>
    </p:spTree>
    <p:extLst>
      <p:ext uri="{BB962C8B-B14F-4D97-AF65-F5344CB8AC3E}">
        <p14:creationId xmlns:p14="http://schemas.microsoft.com/office/powerpoint/2010/main" val="390951483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EC6F00B4-E7DC-6B74-05D1-6512D45D3103}"/>
              </a:ext>
            </a:extLst>
          </p:cNvPr>
          <p:cNvSpPr>
            <a:spLocks noGrp="1"/>
          </p:cNvSpPr>
          <p:nvPr>
            <p:ph type="title"/>
          </p:nvPr>
        </p:nvSpPr>
        <p:spPr>
          <a:xfrm>
            <a:off x="838200" y="418289"/>
            <a:ext cx="10515600" cy="729575"/>
          </a:xfrm>
        </p:spPr>
        <p:txBody>
          <a:bodyPr>
            <a:normAutofit/>
          </a:bodyPr>
          <a:lstStyle/>
          <a:p>
            <a:pPr algn="ctr"/>
            <a:r>
              <a:rPr lang="en-US" sz="3100" i="1">
                <a:solidFill>
                  <a:sysClr val="windowText" lastClr="000000"/>
                </a:solidFill>
              </a:rPr>
              <a:t>Number of transactions at checkouts with a cashier/self-service</a:t>
            </a:r>
            <a:endParaRPr lang="ru-RU" sz="3200" dirty="0"/>
          </a:p>
        </p:txBody>
      </p:sp>
      <p:graphicFrame>
        <p:nvGraphicFramePr>
          <p:cNvPr id="4" name="Диаграмма 3">
            <a:extLst>
              <a:ext uri="{FF2B5EF4-FFF2-40B4-BE49-F238E27FC236}">
                <a16:creationId xmlns:a16="http://schemas.microsoft.com/office/drawing/2014/main" id="{5FA1C1B0-9733-4C9D-9FC7-4D5EB72882E9}"/>
              </a:ext>
            </a:extLst>
          </p:cNvPr>
          <p:cNvGraphicFramePr>
            <a:graphicFrameLocks/>
          </p:cNvGraphicFramePr>
          <p:nvPr>
            <p:extLst>
              <p:ext uri="{D42A27DB-BD31-4B8C-83A1-F6EECF244321}">
                <p14:modId xmlns:p14="http://schemas.microsoft.com/office/powerpoint/2010/main" val="4045547979"/>
              </p:ext>
            </p:extLst>
          </p:nvPr>
        </p:nvGraphicFramePr>
        <p:xfrm>
          <a:off x="838200" y="1001950"/>
          <a:ext cx="10515600" cy="5603131"/>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417884939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Диаграмма 2">
            <a:extLst>
              <a:ext uri="{FF2B5EF4-FFF2-40B4-BE49-F238E27FC236}">
                <a16:creationId xmlns:a16="http://schemas.microsoft.com/office/drawing/2014/main" id="{04B065B0-EB62-57C4-88F8-DB973825C945}"/>
              </a:ext>
            </a:extLst>
          </p:cNvPr>
          <p:cNvGraphicFramePr>
            <a:graphicFrameLocks/>
          </p:cNvGraphicFramePr>
          <p:nvPr>
            <p:extLst>
              <p:ext uri="{D42A27DB-BD31-4B8C-83A1-F6EECF244321}">
                <p14:modId xmlns:p14="http://schemas.microsoft.com/office/powerpoint/2010/main" val="3728425728"/>
              </p:ext>
            </p:extLst>
          </p:nvPr>
        </p:nvGraphicFramePr>
        <p:xfrm>
          <a:off x="436548" y="1330332"/>
          <a:ext cx="5528272" cy="4792676"/>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4" name="Диаграмма 3">
            <a:extLst>
              <a:ext uri="{FF2B5EF4-FFF2-40B4-BE49-F238E27FC236}">
                <a16:creationId xmlns:a16="http://schemas.microsoft.com/office/drawing/2014/main" id="{BE088F6C-F01B-0919-AFF6-D3DED6A6A95F}"/>
              </a:ext>
            </a:extLst>
          </p:cNvPr>
          <p:cNvGraphicFramePr>
            <a:graphicFrameLocks/>
          </p:cNvGraphicFramePr>
          <p:nvPr>
            <p:extLst>
              <p:ext uri="{D42A27DB-BD31-4B8C-83A1-F6EECF244321}">
                <p14:modId xmlns:p14="http://schemas.microsoft.com/office/powerpoint/2010/main" val="1672315761"/>
              </p:ext>
            </p:extLst>
          </p:nvPr>
        </p:nvGraphicFramePr>
        <p:xfrm>
          <a:off x="6227180" y="1330332"/>
          <a:ext cx="5528272" cy="4792675"/>
        </p:xfrm>
        <a:graphic>
          <a:graphicData uri="http://schemas.openxmlformats.org/drawingml/2006/chart">
            <c:chart xmlns:c="http://schemas.openxmlformats.org/drawingml/2006/chart" xmlns:r="http://schemas.openxmlformats.org/officeDocument/2006/relationships" r:id="rId3"/>
          </a:graphicData>
        </a:graphic>
      </p:graphicFrame>
      <p:sp>
        <p:nvSpPr>
          <p:cNvPr id="5" name="TextBox 4">
            <a:extLst>
              <a:ext uri="{FF2B5EF4-FFF2-40B4-BE49-F238E27FC236}">
                <a16:creationId xmlns:a16="http://schemas.microsoft.com/office/drawing/2014/main" id="{E3D3ECA6-6111-5844-CF05-5E03F6D3FB78}"/>
              </a:ext>
            </a:extLst>
          </p:cNvPr>
          <p:cNvSpPr txBox="1"/>
          <p:nvPr/>
        </p:nvSpPr>
        <p:spPr>
          <a:xfrm>
            <a:off x="1253229" y="611881"/>
            <a:ext cx="3590214" cy="400110"/>
          </a:xfrm>
          <a:prstGeom prst="rect">
            <a:avLst/>
          </a:prstGeom>
          <a:noFill/>
        </p:spPr>
        <p:txBody>
          <a:bodyPr wrap="none" rtlCol="0">
            <a:spAutoFit/>
          </a:bodyPr>
          <a:lstStyle/>
          <a:p>
            <a:r>
              <a:rPr lang="en-US" sz="2000" i="1">
                <a:solidFill>
                  <a:sysClr val="windowText" lastClr="000000"/>
                </a:solidFill>
              </a:rPr>
              <a:t>Share of self-service transactions</a:t>
            </a:r>
            <a:endParaRPr lang="ru-RU" sz="2000" i="1" dirty="0">
              <a:solidFill>
                <a:sysClr val="windowText" lastClr="000000"/>
              </a:solidFill>
            </a:endParaRPr>
          </a:p>
        </p:txBody>
      </p:sp>
      <p:sp>
        <p:nvSpPr>
          <p:cNvPr id="6" name="TextBox 5">
            <a:extLst>
              <a:ext uri="{FF2B5EF4-FFF2-40B4-BE49-F238E27FC236}">
                <a16:creationId xmlns:a16="http://schemas.microsoft.com/office/drawing/2014/main" id="{5EEDC56A-3563-2138-0762-24A8328591A5}"/>
              </a:ext>
            </a:extLst>
          </p:cNvPr>
          <p:cNvSpPr txBox="1"/>
          <p:nvPr/>
        </p:nvSpPr>
        <p:spPr>
          <a:xfrm>
            <a:off x="7348558" y="611881"/>
            <a:ext cx="4008598" cy="400110"/>
          </a:xfrm>
          <a:prstGeom prst="rect">
            <a:avLst/>
          </a:prstGeom>
          <a:noFill/>
        </p:spPr>
        <p:txBody>
          <a:bodyPr wrap="none" rtlCol="0">
            <a:spAutoFit/>
          </a:bodyPr>
          <a:lstStyle/>
          <a:p>
            <a:r>
              <a:rPr lang="en-US" sz="2000" i="1">
                <a:solidFill>
                  <a:sysClr val="windowText" lastClr="000000"/>
                </a:solidFill>
              </a:rPr>
              <a:t>Service time at self-service checkouts</a:t>
            </a:r>
            <a:endParaRPr lang="ru-RU" sz="2000" i="1" dirty="0">
              <a:solidFill>
                <a:sysClr val="windowText" lastClr="000000"/>
              </a:solidFill>
            </a:endParaRPr>
          </a:p>
        </p:txBody>
      </p:sp>
    </p:spTree>
    <p:extLst>
      <p:ext uri="{BB962C8B-B14F-4D97-AF65-F5344CB8AC3E}">
        <p14:creationId xmlns:p14="http://schemas.microsoft.com/office/powerpoint/2010/main" val="259981457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645E9313-15C1-FBBB-0E22-7A86D4E4FC08}"/>
              </a:ext>
            </a:extLst>
          </p:cNvPr>
          <p:cNvSpPr>
            <a:spLocks noGrp="1"/>
          </p:cNvSpPr>
          <p:nvPr>
            <p:ph type="title"/>
          </p:nvPr>
        </p:nvSpPr>
        <p:spPr>
          <a:xfrm>
            <a:off x="838200" y="1845992"/>
            <a:ext cx="10515600" cy="3166015"/>
          </a:xfrm>
        </p:spPr>
        <p:txBody>
          <a:bodyPr>
            <a:normAutofit/>
          </a:bodyPr>
          <a:lstStyle/>
          <a:p>
            <a:pPr algn="ctr">
              <a:lnSpc>
                <a:spcPct val="150000"/>
              </a:lnSpc>
            </a:pPr>
            <a:r>
              <a:rPr lang="en-US" sz="1800" i="1" u="sng" dirty="0">
                <a:latin typeface="+mn-lt"/>
              </a:rPr>
              <a:t>Reason for the study:</a:t>
            </a:r>
            <a:br>
              <a:rPr lang="en-US" sz="1800" i="1" u="sng" dirty="0">
                <a:latin typeface="+mn-lt"/>
              </a:rPr>
            </a:br>
            <a:r>
              <a:rPr lang="en-US" sz="1800" dirty="0"/>
              <a:t>It is necessary to investigate September 1 and determine the reasons for the increased average duration of operations.</a:t>
            </a:r>
            <a:endParaRPr lang="ru-RU" sz="1800" dirty="0"/>
          </a:p>
        </p:txBody>
      </p:sp>
    </p:spTree>
    <p:extLst>
      <p:ext uri="{BB962C8B-B14F-4D97-AF65-F5344CB8AC3E}">
        <p14:creationId xmlns:p14="http://schemas.microsoft.com/office/powerpoint/2010/main" val="247068539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6A437D05-6200-7D69-F3C2-3721FD4927E5}"/>
              </a:ext>
            </a:extLst>
          </p:cNvPr>
          <p:cNvSpPr>
            <a:spLocks noGrp="1"/>
          </p:cNvSpPr>
          <p:nvPr>
            <p:ph type="title"/>
          </p:nvPr>
        </p:nvSpPr>
        <p:spPr>
          <a:xfrm>
            <a:off x="838202" y="289453"/>
            <a:ext cx="10515600" cy="823595"/>
          </a:xfrm>
        </p:spPr>
        <p:txBody>
          <a:bodyPr>
            <a:normAutofit/>
          </a:bodyPr>
          <a:lstStyle/>
          <a:p>
            <a:pPr algn="ctr"/>
            <a:r>
              <a:rPr lang="en-US" sz="3200" i="1">
                <a:solidFill>
                  <a:sysClr val="windowText" lastClr="000000"/>
                </a:solidFill>
              </a:rPr>
              <a:t>Average server transaction duration on September 1</a:t>
            </a:r>
            <a:endParaRPr lang="ru-RU" sz="3200" dirty="0"/>
          </a:p>
        </p:txBody>
      </p:sp>
      <p:graphicFrame>
        <p:nvGraphicFramePr>
          <p:cNvPr id="3" name="Диаграмма 2">
            <a:extLst>
              <a:ext uri="{FF2B5EF4-FFF2-40B4-BE49-F238E27FC236}">
                <a16:creationId xmlns:a16="http://schemas.microsoft.com/office/drawing/2014/main" id="{3065C560-605D-B1EC-E85A-5AC629AC9D77}"/>
              </a:ext>
            </a:extLst>
          </p:cNvPr>
          <p:cNvGraphicFramePr>
            <a:graphicFrameLocks/>
          </p:cNvGraphicFramePr>
          <p:nvPr>
            <p:extLst>
              <p:ext uri="{D42A27DB-BD31-4B8C-83A1-F6EECF244321}">
                <p14:modId xmlns:p14="http://schemas.microsoft.com/office/powerpoint/2010/main" val="381324333"/>
              </p:ext>
            </p:extLst>
          </p:nvPr>
        </p:nvGraphicFramePr>
        <p:xfrm>
          <a:off x="838202" y="1371600"/>
          <a:ext cx="10515600" cy="5196947"/>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352219455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129049D3-AC55-EDDF-AA20-62B3AB364EC5}"/>
              </a:ext>
            </a:extLst>
          </p:cNvPr>
          <p:cNvSpPr>
            <a:spLocks noGrp="1"/>
          </p:cNvSpPr>
          <p:nvPr>
            <p:ph type="title"/>
          </p:nvPr>
        </p:nvSpPr>
        <p:spPr>
          <a:xfrm>
            <a:off x="838202" y="365125"/>
            <a:ext cx="10515600" cy="986155"/>
          </a:xfrm>
        </p:spPr>
        <p:txBody>
          <a:bodyPr>
            <a:noAutofit/>
          </a:bodyPr>
          <a:lstStyle/>
          <a:p>
            <a:pPr algn="ctr"/>
            <a:r>
              <a:rPr lang="en-US" sz="3200" i="1">
                <a:solidFill>
                  <a:sysClr val="windowText" lastClr="000000"/>
                </a:solidFill>
              </a:rPr>
              <a:t>Average server transaction time on September 1</a:t>
            </a:r>
            <a:endParaRPr lang="ru-RU" sz="3200" dirty="0"/>
          </a:p>
        </p:txBody>
      </p:sp>
      <p:graphicFrame>
        <p:nvGraphicFramePr>
          <p:cNvPr id="3" name="Диаграмма 2">
            <a:extLst>
              <a:ext uri="{FF2B5EF4-FFF2-40B4-BE49-F238E27FC236}">
                <a16:creationId xmlns:a16="http://schemas.microsoft.com/office/drawing/2014/main" id="{857A56EA-73E2-7342-E02B-29D768F96A80}"/>
              </a:ext>
            </a:extLst>
          </p:cNvPr>
          <p:cNvGraphicFramePr>
            <a:graphicFrameLocks/>
          </p:cNvGraphicFramePr>
          <p:nvPr>
            <p:extLst>
              <p:ext uri="{D42A27DB-BD31-4B8C-83A1-F6EECF244321}">
                <p14:modId xmlns:p14="http://schemas.microsoft.com/office/powerpoint/2010/main" val="1648182606"/>
              </p:ext>
            </p:extLst>
          </p:nvPr>
        </p:nvGraphicFramePr>
        <p:xfrm>
          <a:off x="838202" y="1534160"/>
          <a:ext cx="10699421" cy="4693259"/>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310767028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9FEA5263-D3CC-88CD-4E90-EB4D171C8D19}"/>
              </a:ext>
            </a:extLst>
          </p:cNvPr>
          <p:cNvSpPr>
            <a:spLocks noGrp="1"/>
          </p:cNvSpPr>
          <p:nvPr>
            <p:ph type="title"/>
          </p:nvPr>
        </p:nvSpPr>
        <p:spPr>
          <a:xfrm>
            <a:off x="838200" y="238665"/>
            <a:ext cx="10515600" cy="704918"/>
          </a:xfrm>
        </p:spPr>
        <p:txBody>
          <a:bodyPr>
            <a:normAutofit/>
          </a:bodyPr>
          <a:lstStyle/>
          <a:p>
            <a:pPr algn="ctr"/>
            <a:r>
              <a:rPr lang="en-US" sz="3200" i="1">
                <a:solidFill>
                  <a:sysClr val="windowText" lastClr="000000"/>
                </a:solidFill>
              </a:rPr>
              <a:t>Server load on September 1</a:t>
            </a:r>
            <a:endParaRPr lang="ru-RU" sz="3200" dirty="0"/>
          </a:p>
        </p:txBody>
      </p:sp>
      <p:graphicFrame>
        <p:nvGraphicFramePr>
          <p:cNvPr id="3" name="Диаграмма 2">
            <a:extLst>
              <a:ext uri="{FF2B5EF4-FFF2-40B4-BE49-F238E27FC236}">
                <a16:creationId xmlns:a16="http://schemas.microsoft.com/office/drawing/2014/main" id="{30D73CB2-0845-B961-41EF-3DD04C16AE80}"/>
              </a:ext>
            </a:extLst>
          </p:cNvPr>
          <p:cNvGraphicFramePr>
            <a:graphicFrameLocks/>
          </p:cNvGraphicFramePr>
          <p:nvPr>
            <p:extLst>
              <p:ext uri="{D42A27DB-BD31-4B8C-83A1-F6EECF244321}">
                <p14:modId xmlns:p14="http://schemas.microsoft.com/office/powerpoint/2010/main" val="4277490947"/>
              </p:ext>
            </p:extLst>
          </p:nvPr>
        </p:nvGraphicFramePr>
        <p:xfrm>
          <a:off x="838200" y="1060315"/>
          <a:ext cx="10515600" cy="5440606"/>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252660227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06F83C23-7855-E855-3CC0-43C46F9C5B27}"/>
              </a:ext>
            </a:extLst>
          </p:cNvPr>
          <p:cNvSpPr>
            <a:spLocks noGrp="1"/>
          </p:cNvSpPr>
          <p:nvPr>
            <p:ph type="title"/>
          </p:nvPr>
        </p:nvSpPr>
        <p:spPr>
          <a:xfrm>
            <a:off x="838202" y="365126"/>
            <a:ext cx="10515600" cy="682378"/>
          </a:xfrm>
        </p:spPr>
        <p:txBody>
          <a:bodyPr>
            <a:normAutofit/>
          </a:bodyPr>
          <a:lstStyle/>
          <a:p>
            <a:pPr algn="ctr"/>
            <a:r>
              <a:rPr lang="en-US" sz="3200" i="1">
                <a:solidFill>
                  <a:sysClr val="windowText" lastClr="000000"/>
                </a:solidFill>
              </a:rPr>
              <a:t>Load on September 1 at retail outlets</a:t>
            </a:r>
            <a:endParaRPr lang="ru-RU" sz="3200" dirty="0"/>
          </a:p>
        </p:txBody>
      </p:sp>
      <p:graphicFrame>
        <p:nvGraphicFramePr>
          <p:cNvPr id="3" name="Диаграмма 2">
            <a:extLst>
              <a:ext uri="{FF2B5EF4-FFF2-40B4-BE49-F238E27FC236}">
                <a16:creationId xmlns:a16="http://schemas.microsoft.com/office/drawing/2014/main" id="{3079B29A-7CBE-2036-AF9D-DF05EC2745EC}"/>
              </a:ext>
            </a:extLst>
          </p:cNvPr>
          <p:cNvGraphicFramePr>
            <a:graphicFrameLocks/>
          </p:cNvGraphicFramePr>
          <p:nvPr>
            <p:extLst>
              <p:ext uri="{D42A27DB-BD31-4B8C-83A1-F6EECF244321}">
                <p14:modId xmlns:p14="http://schemas.microsoft.com/office/powerpoint/2010/main" val="1831004103"/>
              </p:ext>
            </p:extLst>
          </p:nvPr>
        </p:nvGraphicFramePr>
        <p:xfrm>
          <a:off x="544749" y="1047503"/>
          <a:ext cx="11459183" cy="5445372"/>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240839218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68E8778E-6C90-16B1-E17F-2B9521F0511A}"/>
              </a:ext>
            </a:extLst>
          </p:cNvPr>
          <p:cNvSpPr>
            <a:spLocks noGrp="1"/>
          </p:cNvSpPr>
          <p:nvPr>
            <p:ph type="title"/>
          </p:nvPr>
        </p:nvSpPr>
        <p:spPr>
          <a:xfrm>
            <a:off x="838200" y="741680"/>
            <a:ext cx="10515600" cy="400246"/>
          </a:xfrm>
        </p:spPr>
        <p:txBody>
          <a:bodyPr>
            <a:noAutofit/>
          </a:bodyPr>
          <a:lstStyle/>
          <a:p>
            <a:pPr algn="ctr"/>
            <a:r>
              <a:rPr lang="en-US" sz="2800" i="1">
                <a:solidFill>
                  <a:sysClr val="windowText" lastClr="000000"/>
                </a:solidFill>
              </a:rPr>
              <a:t>Average duration of transactions by payment systems on September 1</a:t>
            </a:r>
            <a:endParaRPr lang="ru-RU" sz="2800" dirty="0"/>
          </a:p>
        </p:txBody>
      </p:sp>
      <p:graphicFrame>
        <p:nvGraphicFramePr>
          <p:cNvPr id="3" name="Диаграмма 2">
            <a:extLst>
              <a:ext uri="{FF2B5EF4-FFF2-40B4-BE49-F238E27FC236}">
                <a16:creationId xmlns:a16="http://schemas.microsoft.com/office/drawing/2014/main" id="{A0D831B2-38A5-B2C2-BE3B-A1E61AC5906E}"/>
              </a:ext>
            </a:extLst>
          </p:cNvPr>
          <p:cNvGraphicFramePr>
            <a:graphicFrameLocks/>
          </p:cNvGraphicFramePr>
          <p:nvPr>
            <p:extLst>
              <p:ext uri="{D42A27DB-BD31-4B8C-83A1-F6EECF244321}">
                <p14:modId xmlns:p14="http://schemas.microsoft.com/office/powerpoint/2010/main" val="468630095"/>
              </p:ext>
            </p:extLst>
          </p:nvPr>
        </p:nvGraphicFramePr>
        <p:xfrm>
          <a:off x="914474" y="1381760"/>
          <a:ext cx="10363052" cy="5111115"/>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371216138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A75DC225-D5F7-54F5-96F8-C98B5C8CF171}"/>
              </a:ext>
            </a:extLst>
          </p:cNvPr>
          <p:cNvSpPr>
            <a:spLocks noGrp="1"/>
          </p:cNvSpPr>
          <p:nvPr>
            <p:ph type="title"/>
          </p:nvPr>
        </p:nvSpPr>
        <p:spPr>
          <a:xfrm>
            <a:off x="838200" y="294006"/>
            <a:ext cx="10515600" cy="600074"/>
          </a:xfrm>
        </p:spPr>
        <p:txBody>
          <a:bodyPr>
            <a:noAutofit/>
          </a:bodyPr>
          <a:lstStyle/>
          <a:p>
            <a:pPr algn="ctr"/>
            <a:r>
              <a:rPr lang="en-US" sz="3200" i="1">
                <a:solidFill>
                  <a:sysClr val="windowText" lastClr="000000"/>
                </a:solidFill>
              </a:rPr>
              <a:t>Prevalence of payment systems on September 1</a:t>
            </a:r>
            <a:endParaRPr lang="ru-RU" sz="3200" dirty="0"/>
          </a:p>
        </p:txBody>
      </p:sp>
      <p:graphicFrame>
        <p:nvGraphicFramePr>
          <p:cNvPr id="3" name="Диаграмма 2">
            <a:extLst>
              <a:ext uri="{FF2B5EF4-FFF2-40B4-BE49-F238E27FC236}">
                <a16:creationId xmlns:a16="http://schemas.microsoft.com/office/drawing/2014/main" id="{6A57EDA1-2381-9F5E-B277-66FC730B2E62}"/>
              </a:ext>
            </a:extLst>
          </p:cNvPr>
          <p:cNvGraphicFramePr>
            <a:graphicFrameLocks/>
          </p:cNvGraphicFramePr>
          <p:nvPr>
            <p:extLst>
              <p:ext uri="{D42A27DB-BD31-4B8C-83A1-F6EECF244321}">
                <p14:modId xmlns:p14="http://schemas.microsoft.com/office/powerpoint/2010/main" val="1396108954"/>
              </p:ext>
            </p:extLst>
          </p:nvPr>
        </p:nvGraphicFramePr>
        <p:xfrm>
          <a:off x="838200" y="1239520"/>
          <a:ext cx="10795000" cy="5324474"/>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218514350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17EA0794-F53C-92DE-22D0-EDD02A28CED6}"/>
              </a:ext>
            </a:extLst>
          </p:cNvPr>
          <p:cNvSpPr>
            <a:spLocks noGrp="1"/>
          </p:cNvSpPr>
          <p:nvPr>
            <p:ph type="title"/>
          </p:nvPr>
        </p:nvSpPr>
        <p:spPr>
          <a:xfrm>
            <a:off x="838200" y="125702"/>
            <a:ext cx="10515600" cy="3964022"/>
          </a:xfrm>
        </p:spPr>
        <p:txBody>
          <a:bodyPr>
            <a:noAutofit/>
          </a:bodyPr>
          <a:lstStyle/>
          <a:p>
            <a:pPr algn="ctr">
              <a:lnSpc>
                <a:spcPct val="150000"/>
              </a:lnSpc>
            </a:pPr>
            <a:r>
              <a:rPr lang="en-US" sz="1800" i="1" u="sng" dirty="0">
                <a:latin typeface="+mn-lt"/>
              </a:rPr>
              <a:t>Reason for the study:</a:t>
            </a:r>
            <a:br>
              <a:rPr lang="en-US" sz="1800" i="1" u="sng" dirty="0">
                <a:latin typeface="+mn-lt"/>
              </a:rPr>
            </a:br>
            <a:r>
              <a:rPr lang="en-US" sz="1800" dirty="0"/>
              <a:t>The developers sent the following diagram and reported that there were technical problems in the links marked with colors.</a:t>
            </a:r>
            <a:br>
              <a:rPr lang="en-US" sz="1800" dirty="0"/>
            </a:br>
            <a:r>
              <a:rPr lang="en-US" sz="1800" dirty="0"/>
              <a:t>It is necessary to provide information on how seriously these technical problems affected the average payment duration and to deduce by what percentage the duration of the transaction has increased compared to the average statistical value.</a:t>
            </a:r>
            <a:br>
              <a:rPr lang="en-US" sz="1800" i="1" u="sng" dirty="0">
                <a:latin typeface="+mn-lt"/>
              </a:rPr>
            </a:br>
            <a:r>
              <a:rPr lang="en-US" sz="1800" i="1" dirty="0"/>
              <a:t>Lilac – server 1 between 00:00 and 9:00 on day 05.09</a:t>
            </a:r>
            <a:br>
              <a:rPr lang="en-US" sz="1800" i="1" dirty="0"/>
            </a:br>
            <a:r>
              <a:rPr lang="en-US" sz="1800" i="1" dirty="0"/>
              <a:t>Red – Server 1 All Day 06.09</a:t>
            </a:r>
            <a:br>
              <a:rPr lang="en-US" sz="1800" i="1" dirty="0"/>
            </a:br>
            <a:r>
              <a:rPr lang="en-US" sz="1800" i="1" dirty="0"/>
              <a:t>Orange – Server 2 in the period 12.00-13.00 on the day 07.09</a:t>
            </a:r>
            <a:endParaRPr lang="ru-RU" sz="1800" i="1" dirty="0">
              <a:solidFill>
                <a:schemeClr val="accent1"/>
              </a:solidFill>
            </a:endParaRPr>
          </a:p>
        </p:txBody>
      </p:sp>
      <p:pic>
        <p:nvPicPr>
          <p:cNvPr id="4" name="Рисунок 3">
            <a:extLst>
              <a:ext uri="{FF2B5EF4-FFF2-40B4-BE49-F238E27FC236}">
                <a16:creationId xmlns:a16="http://schemas.microsoft.com/office/drawing/2014/main" id="{51D78781-D283-C0E5-A169-D10FE4B11AE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617035" y="4221804"/>
            <a:ext cx="4957930" cy="2305002"/>
          </a:xfrm>
          <a:prstGeom prst="rect">
            <a:avLst/>
          </a:prstGeom>
        </p:spPr>
      </p:pic>
    </p:spTree>
    <p:extLst>
      <p:ext uri="{BB962C8B-B14F-4D97-AF65-F5344CB8AC3E}">
        <p14:creationId xmlns:p14="http://schemas.microsoft.com/office/powerpoint/2010/main" val="11082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Диаграмма 2">
            <a:extLst>
              <a:ext uri="{FF2B5EF4-FFF2-40B4-BE49-F238E27FC236}">
                <a16:creationId xmlns:a16="http://schemas.microsoft.com/office/drawing/2014/main" id="{A8602624-5D4B-F497-791B-DFC3ED8FEABA}"/>
              </a:ext>
            </a:extLst>
          </p:cNvPr>
          <p:cNvGraphicFramePr>
            <a:graphicFrameLocks/>
          </p:cNvGraphicFramePr>
          <p:nvPr>
            <p:extLst>
              <p:ext uri="{D42A27DB-BD31-4B8C-83A1-F6EECF244321}">
                <p14:modId xmlns:p14="http://schemas.microsoft.com/office/powerpoint/2010/main" val="155943811"/>
              </p:ext>
            </p:extLst>
          </p:nvPr>
        </p:nvGraphicFramePr>
        <p:xfrm>
          <a:off x="389106" y="1498059"/>
          <a:ext cx="11237068" cy="5016919"/>
        </p:xfrm>
        <a:graphic>
          <a:graphicData uri="http://schemas.openxmlformats.org/drawingml/2006/chart">
            <c:chart xmlns:c="http://schemas.openxmlformats.org/drawingml/2006/chart" xmlns:r="http://schemas.openxmlformats.org/officeDocument/2006/relationships" r:id="rId2"/>
          </a:graphicData>
        </a:graphic>
      </p:graphicFrame>
      <p:sp>
        <p:nvSpPr>
          <p:cNvPr id="7" name="TextBox 6">
            <a:extLst>
              <a:ext uri="{FF2B5EF4-FFF2-40B4-BE49-F238E27FC236}">
                <a16:creationId xmlns:a16="http://schemas.microsoft.com/office/drawing/2014/main" id="{B124727D-8BBC-8E50-D858-FEA8C1226F84}"/>
              </a:ext>
            </a:extLst>
          </p:cNvPr>
          <p:cNvSpPr txBox="1"/>
          <p:nvPr/>
        </p:nvSpPr>
        <p:spPr>
          <a:xfrm>
            <a:off x="1132353" y="212711"/>
            <a:ext cx="9927293" cy="1077218"/>
          </a:xfrm>
          <a:prstGeom prst="rect">
            <a:avLst/>
          </a:prstGeom>
          <a:noFill/>
        </p:spPr>
        <p:txBody>
          <a:bodyPr wrap="square" rtlCol="0">
            <a:spAutoFit/>
          </a:bodyPr>
          <a:lstStyle/>
          <a:p>
            <a:pPr algn="ctr"/>
            <a:r>
              <a:rPr lang="en-US" sz="3200">
                <a:solidFill>
                  <a:sysClr val="windowText" lastClr="000000"/>
                </a:solidFill>
                <a:latin typeface="+mj-lt"/>
              </a:rPr>
              <a:t>Dynamics of the average duration of payment transactions on 1 server from September 5 to September 7</a:t>
            </a:r>
            <a:endParaRPr lang="ru-RU" sz="3200" dirty="0">
              <a:solidFill>
                <a:sysClr val="windowText" lastClr="000000"/>
              </a:solidFill>
              <a:latin typeface="+mj-lt"/>
            </a:endParaRPr>
          </a:p>
        </p:txBody>
      </p:sp>
    </p:spTree>
    <p:extLst>
      <p:ext uri="{BB962C8B-B14F-4D97-AF65-F5344CB8AC3E}">
        <p14:creationId xmlns:p14="http://schemas.microsoft.com/office/powerpoint/2010/main" val="97072984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Диаграмма 4">
            <a:extLst>
              <a:ext uri="{FF2B5EF4-FFF2-40B4-BE49-F238E27FC236}">
                <a16:creationId xmlns:a16="http://schemas.microsoft.com/office/drawing/2014/main" id="{882D2C86-383D-CB31-9713-4279B0F9BE7F}"/>
              </a:ext>
            </a:extLst>
          </p:cNvPr>
          <p:cNvGraphicFramePr>
            <a:graphicFrameLocks/>
          </p:cNvGraphicFramePr>
          <p:nvPr>
            <p:extLst>
              <p:ext uri="{D42A27DB-BD31-4B8C-83A1-F6EECF244321}">
                <p14:modId xmlns:p14="http://schemas.microsoft.com/office/powerpoint/2010/main" val="790397689"/>
              </p:ext>
            </p:extLst>
          </p:nvPr>
        </p:nvGraphicFramePr>
        <p:xfrm>
          <a:off x="304800" y="3322319"/>
          <a:ext cx="11592559" cy="3383913"/>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6" name="Диаграмма 5">
            <a:extLst>
              <a:ext uri="{FF2B5EF4-FFF2-40B4-BE49-F238E27FC236}">
                <a16:creationId xmlns:a16="http://schemas.microsoft.com/office/drawing/2014/main" id="{B568EEE6-8A5B-6246-CB15-1E10DD7DEC45}"/>
              </a:ext>
            </a:extLst>
          </p:cNvPr>
          <p:cNvGraphicFramePr>
            <a:graphicFrameLocks/>
          </p:cNvGraphicFramePr>
          <p:nvPr>
            <p:extLst>
              <p:ext uri="{D42A27DB-BD31-4B8C-83A1-F6EECF244321}">
                <p14:modId xmlns:p14="http://schemas.microsoft.com/office/powerpoint/2010/main" val="523975781"/>
              </p:ext>
            </p:extLst>
          </p:nvPr>
        </p:nvGraphicFramePr>
        <p:xfrm>
          <a:off x="304800" y="151765"/>
          <a:ext cx="11582400" cy="3170554"/>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327837623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7861B8E8-01AC-2474-4657-344BFACE346F}"/>
              </a:ext>
            </a:extLst>
          </p:cNvPr>
          <p:cNvSpPr>
            <a:spLocks noGrp="1"/>
          </p:cNvSpPr>
          <p:nvPr>
            <p:ph type="title"/>
          </p:nvPr>
        </p:nvSpPr>
        <p:spPr>
          <a:xfrm>
            <a:off x="838200" y="450073"/>
            <a:ext cx="10515600" cy="5957854"/>
          </a:xfrm>
        </p:spPr>
        <p:txBody>
          <a:bodyPr>
            <a:normAutofit/>
          </a:bodyPr>
          <a:lstStyle/>
          <a:p>
            <a:pPr algn="ctr">
              <a:lnSpc>
                <a:spcPct val="150000"/>
              </a:lnSpc>
            </a:pPr>
            <a:r>
              <a:rPr lang="en-US" sz="1800" i="1" u="sng" dirty="0">
                <a:latin typeface="+mn-lt"/>
              </a:rPr>
              <a:t>Reason for the study:</a:t>
            </a:r>
            <a:br>
              <a:rPr lang="en-US" sz="1800" i="1" u="sng" dirty="0">
                <a:latin typeface="+mn-lt"/>
              </a:rPr>
            </a:br>
            <a:r>
              <a:rPr lang="en-US" sz="1800" dirty="0"/>
              <a:t>Throughout the day on 07.09, there was a marketing campaign, according to which any bearer of a card with a loyalty program for a purchase over 15,000 rubles receives an additional gift.</a:t>
            </a:r>
            <a:br>
              <a:rPr lang="en-US" sz="1800" dirty="0"/>
            </a:br>
            <a:br>
              <a:rPr lang="en-US" sz="1800" dirty="0"/>
            </a:br>
            <a:r>
              <a:rPr lang="en-US" sz="1800" dirty="0"/>
              <a:t>Estimate how many percent the average check has risen during this period.</a:t>
            </a:r>
            <a:br>
              <a:rPr lang="en-US" sz="1800" dirty="0"/>
            </a:br>
            <a:r>
              <a:rPr lang="en-US" sz="1800" dirty="0"/>
              <a:t>Check if the total number of transactions has increased during this period?</a:t>
            </a:r>
            <a:br>
              <a:rPr lang="en-US" sz="1800" i="1" u="sng" dirty="0">
                <a:latin typeface="+mn-lt"/>
              </a:rPr>
            </a:br>
            <a:br>
              <a:rPr lang="en-US" sz="1800" i="1" u="sng" dirty="0">
                <a:latin typeface="+mn-lt"/>
              </a:rPr>
            </a:br>
            <a:r>
              <a:rPr lang="en-US" sz="1800" i="1" u="sng" dirty="0">
                <a:latin typeface="+mn-lt"/>
              </a:rPr>
              <a:t>The gift is drawn in the format of a lottery:</a:t>
            </a:r>
            <a:br>
              <a:rPr lang="en-US" sz="1800" i="1" u="sng" dirty="0">
                <a:latin typeface="+mn-lt"/>
              </a:rPr>
            </a:br>
            <a:r>
              <a:rPr lang="en-US" sz="1800" dirty="0"/>
              <a:t>Five randomly selected lucky ones receive a gift worth 50,000 rubles</a:t>
            </a:r>
            <a:br>
              <a:rPr lang="en-US" sz="1800" dirty="0"/>
            </a:br>
            <a:r>
              <a:rPr lang="en-US" sz="1800" dirty="0"/>
              <a:t>Ten more receive a gift worth 10,000 rubles</a:t>
            </a:r>
            <a:br>
              <a:rPr lang="en-US" sz="1800" dirty="0"/>
            </a:br>
            <a:r>
              <a:rPr lang="en-US" sz="1800" dirty="0"/>
              <a:t>All others who fall under the terms of the promotion receive a gift worth 750 rubles</a:t>
            </a:r>
            <a:endParaRPr lang="ru-RU" sz="1800" dirty="0"/>
          </a:p>
        </p:txBody>
      </p:sp>
    </p:spTree>
    <p:extLst>
      <p:ext uri="{BB962C8B-B14F-4D97-AF65-F5344CB8AC3E}">
        <p14:creationId xmlns:p14="http://schemas.microsoft.com/office/powerpoint/2010/main" val="35004789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6E6AA193-D9F4-6514-2C01-C2C4168AE4AE}"/>
              </a:ext>
            </a:extLst>
          </p:cNvPr>
          <p:cNvSpPr>
            <a:spLocks noGrp="1"/>
          </p:cNvSpPr>
          <p:nvPr>
            <p:ph type="title"/>
          </p:nvPr>
        </p:nvSpPr>
        <p:spPr>
          <a:xfrm>
            <a:off x="838200" y="228282"/>
            <a:ext cx="10515600" cy="600075"/>
          </a:xfrm>
        </p:spPr>
        <p:txBody>
          <a:bodyPr>
            <a:noAutofit/>
          </a:bodyPr>
          <a:lstStyle/>
          <a:p>
            <a:pPr algn="ctr"/>
            <a:r>
              <a:rPr lang="ru-RU" sz="2800" dirty="0"/>
              <a:t>Динамика количества покупок и среднего чека с 5 по 7 сентября</a:t>
            </a:r>
          </a:p>
        </p:txBody>
      </p:sp>
      <p:graphicFrame>
        <p:nvGraphicFramePr>
          <p:cNvPr id="5" name="Диаграмма 4">
            <a:extLst>
              <a:ext uri="{FF2B5EF4-FFF2-40B4-BE49-F238E27FC236}">
                <a16:creationId xmlns:a16="http://schemas.microsoft.com/office/drawing/2014/main" id="{2A59557F-58C1-ED4C-FFD0-7FE3A48D8097}"/>
              </a:ext>
            </a:extLst>
          </p:cNvPr>
          <p:cNvGraphicFramePr>
            <a:graphicFrameLocks/>
          </p:cNvGraphicFramePr>
          <p:nvPr>
            <p:extLst>
              <p:ext uri="{D42A27DB-BD31-4B8C-83A1-F6EECF244321}">
                <p14:modId xmlns:p14="http://schemas.microsoft.com/office/powerpoint/2010/main" val="4044758083"/>
              </p:ext>
            </p:extLst>
          </p:nvPr>
        </p:nvGraphicFramePr>
        <p:xfrm>
          <a:off x="838198" y="965200"/>
          <a:ext cx="10967722" cy="5364480"/>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327945613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A9147F57-3DFB-D1D9-C99F-5296BF2FA08B}"/>
              </a:ext>
            </a:extLst>
          </p:cNvPr>
          <p:cNvSpPr>
            <a:spLocks noGrp="1"/>
          </p:cNvSpPr>
          <p:nvPr>
            <p:ph type="title"/>
          </p:nvPr>
        </p:nvSpPr>
        <p:spPr>
          <a:xfrm>
            <a:off x="838200" y="1814546"/>
            <a:ext cx="10515600" cy="2348892"/>
          </a:xfrm>
        </p:spPr>
        <p:txBody>
          <a:bodyPr>
            <a:normAutofit/>
          </a:bodyPr>
          <a:lstStyle/>
          <a:p>
            <a:pPr algn="ctr">
              <a:lnSpc>
                <a:spcPct val="150000"/>
              </a:lnSpc>
            </a:pPr>
            <a:r>
              <a:rPr lang="en-US" sz="1800" i="1" u="sng" dirty="0">
                <a:latin typeface="+mn-lt"/>
              </a:rPr>
              <a:t>Reason for the study:</a:t>
            </a:r>
            <a:br>
              <a:rPr lang="en-US" sz="1800" i="1" u="sng" dirty="0">
                <a:latin typeface="+mn-lt"/>
              </a:rPr>
            </a:br>
            <a:r>
              <a:rPr lang="en-US" sz="1800" dirty="0"/>
              <a:t>Segment loyalty discounts: break down all discounts into bins (intervals) and estimate how much money customers save in total within each bin.</a:t>
            </a:r>
            <a:endParaRPr lang="ru-RU" sz="1800" dirty="0"/>
          </a:p>
        </p:txBody>
      </p:sp>
    </p:spTree>
    <p:extLst>
      <p:ext uri="{BB962C8B-B14F-4D97-AF65-F5344CB8AC3E}">
        <p14:creationId xmlns:p14="http://schemas.microsoft.com/office/powerpoint/2010/main" val="239368033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1B91A640-2160-5A9C-A484-F42791F7F9FB}"/>
              </a:ext>
            </a:extLst>
          </p:cNvPr>
          <p:cNvSpPr>
            <a:spLocks noGrp="1"/>
          </p:cNvSpPr>
          <p:nvPr>
            <p:ph type="title"/>
          </p:nvPr>
        </p:nvSpPr>
        <p:spPr>
          <a:xfrm>
            <a:off x="838200" y="222885"/>
            <a:ext cx="10515600" cy="711835"/>
          </a:xfrm>
        </p:spPr>
        <p:txBody>
          <a:bodyPr>
            <a:normAutofit/>
          </a:bodyPr>
          <a:lstStyle/>
          <a:p>
            <a:pPr algn="ctr"/>
            <a:r>
              <a:rPr lang="en-US" sz="2800">
                <a:solidFill>
                  <a:sysClr val="windowText" lastClr="000000"/>
                </a:solidFill>
              </a:rPr>
              <a:t>Amount saved by customers by bin</a:t>
            </a:r>
            <a:endParaRPr lang="ru-RU" sz="2800" dirty="0"/>
          </a:p>
        </p:txBody>
      </p:sp>
      <p:graphicFrame>
        <p:nvGraphicFramePr>
          <p:cNvPr id="4" name="Диаграмма 3">
            <a:extLst>
              <a:ext uri="{FF2B5EF4-FFF2-40B4-BE49-F238E27FC236}">
                <a16:creationId xmlns:a16="http://schemas.microsoft.com/office/drawing/2014/main" id="{AA3FC55B-5B44-7E12-2B52-66707AFC5276}"/>
              </a:ext>
            </a:extLst>
          </p:cNvPr>
          <p:cNvGraphicFramePr>
            <a:graphicFrameLocks/>
          </p:cNvGraphicFramePr>
          <p:nvPr>
            <p:extLst>
              <p:ext uri="{D42A27DB-BD31-4B8C-83A1-F6EECF244321}">
                <p14:modId xmlns:p14="http://schemas.microsoft.com/office/powerpoint/2010/main" val="2813380576"/>
              </p:ext>
            </p:extLst>
          </p:nvPr>
        </p:nvGraphicFramePr>
        <p:xfrm>
          <a:off x="873057" y="1293779"/>
          <a:ext cx="10445885" cy="5194570"/>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488395228"/>
      </p:ext>
    </p:extLst>
  </p:cSld>
  <p:clrMapOvr>
    <a:masterClrMapping/>
  </p:clrMapOvr>
</p:sld>
</file>

<file path=ppt/theme/theme1.xml><?xml version="1.0" encoding="utf-8"?>
<a:theme xmlns:a="http://schemas.openxmlformats.org/drawingml/2006/main" name="Тема Office">
  <a:themeElements>
    <a:clrScheme name="Стандартная">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Стандартная">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2013 - 2022 Theme</Template>
  <TotalTime>1437</TotalTime>
  <Words>802</Words>
  <Application>Microsoft Office PowerPoint</Application>
  <PresentationFormat>Широкоэкранный</PresentationFormat>
  <Paragraphs>68</Paragraphs>
  <Slides>22</Slides>
  <Notes>0</Notes>
  <HiddenSlides>0</HiddenSlides>
  <MMClips>0</MMClips>
  <ScaleCrop>false</ScaleCrop>
  <HeadingPairs>
    <vt:vector size="6" baseType="variant">
      <vt:variant>
        <vt:lpstr>Использованные шрифты</vt:lpstr>
      </vt:variant>
      <vt:variant>
        <vt:i4>3</vt:i4>
      </vt:variant>
      <vt:variant>
        <vt:lpstr>Тема</vt:lpstr>
      </vt:variant>
      <vt:variant>
        <vt:i4>1</vt:i4>
      </vt:variant>
      <vt:variant>
        <vt:lpstr>Заголовки слайдов</vt:lpstr>
      </vt:variant>
      <vt:variant>
        <vt:i4>22</vt:i4>
      </vt:variant>
    </vt:vector>
  </HeadingPairs>
  <TitlesOfParts>
    <vt:vector size="26" baseType="lpstr">
      <vt:lpstr>Arial</vt:lpstr>
      <vt:lpstr>Calibri</vt:lpstr>
      <vt:lpstr>Calibri Light</vt:lpstr>
      <vt:lpstr>Тема Office</vt:lpstr>
      <vt:lpstr>A study of data from a large retail retailer for the period from September 1 to September 7, 2023.</vt:lpstr>
      <vt:lpstr>Number of transactions (absolute values)</vt:lpstr>
      <vt:lpstr>Number of transactions (normalized)</vt:lpstr>
      <vt:lpstr>Reason for the study: We notice that we have problems with distributing the load on the servers. It is necessary to study the dynamics of the load and find solutions to the problem.  Hypothesis to be tested: The increase in load is associated with an increase in the number of transactions, and the uniformity of the load can be "cured" if you "rebind" retail outlets to other servers.</vt:lpstr>
      <vt:lpstr>Презентация PowerPoint</vt:lpstr>
      <vt:lpstr>Reason for the study: It is necessary to calculate at which points what percentage of transactions are performed using self-service checkouts. It is also necessary to study the dynamics of the share of transactions at self-service checkouts and correlate this information with the dynamics of the distribution of transactions at retail outlets.  Hypothesis to be tested: A strong increase in the number of transactions from self-service checkouts increases the average duration of the transaction.</vt:lpstr>
      <vt:lpstr>Number of transactions at checkouts with a cashier/self-service</vt:lpstr>
      <vt:lpstr>Презентация PowerPoint</vt:lpstr>
      <vt:lpstr>Reason for the study: It is necessary to investigate September 1 and determine the reasons for the increased average duration of operations.</vt:lpstr>
      <vt:lpstr>Average server transaction duration on September 1</vt:lpstr>
      <vt:lpstr>Average server transaction time on September 1</vt:lpstr>
      <vt:lpstr>Server load on September 1</vt:lpstr>
      <vt:lpstr>Load on September 1 at retail outlets</vt:lpstr>
      <vt:lpstr>Average duration of transactions by payment systems on September 1</vt:lpstr>
      <vt:lpstr>Prevalence of payment systems on September 1</vt:lpstr>
      <vt:lpstr>Reason for the study: The developers sent the following diagram and reported that there were technical problems in the links marked with colors. It is necessary to provide information on how seriously these technical problems affected the average payment duration and to deduce by what percentage the duration of the transaction has increased compared to the average statistical value. Lilac – server 1 between 00:00 and 9:00 on day 05.09 Red – Server 1 All Day 06.09 Orange – Server 2 in the period 12.00-13.00 on the day 07.09</vt:lpstr>
      <vt:lpstr>Презентация PowerPoint</vt:lpstr>
      <vt:lpstr>Презентация PowerPoint</vt:lpstr>
      <vt:lpstr>Reason for the study: Throughout the day on 07.09, there was a marketing campaign, according to which any bearer of a card with a loyalty program for a purchase over 15,000 rubles receives an additional gift.  Estimate how many percent the average check has risen during this period. Check if the total number of transactions has increased during this period?  The gift is drawn in the format of a lottery: Five randomly selected lucky ones receive a gift worth 50,000 rubles Ten more receive a gift worth 10,000 rubles All others who fall under the terms of the promotion receive a gift worth 750 rubles</vt:lpstr>
      <vt:lpstr>Динамика количества покупок и среднего чека с 5 по 7 сентября</vt:lpstr>
      <vt:lpstr>Reason for the study: Segment loyalty discounts: break down all discounts into bins (intervals) and estimate how much money customers save in total within each bin.</vt:lpstr>
      <vt:lpstr>Amount saved by customers by bin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RaiL Asmandiyarov</dc:creator>
  <cp:lastModifiedBy>RaiL Asmandiyarov</cp:lastModifiedBy>
  <cp:revision>4</cp:revision>
  <dcterms:created xsi:type="dcterms:W3CDTF">2025-12-15T11:02:28Z</dcterms:created>
  <dcterms:modified xsi:type="dcterms:W3CDTF">2025-12-17T19:46:52Z</dcterms:modified>
</cp:coreProperties>
</file>