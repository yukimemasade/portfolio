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charts/chart15.xml" ContentType="application/vnd.openxmlformats-officedocument.drawingml.chart+xml"/>
  <Override PartName="/ppt/charts/style15.xml" ContentType="application/vnd.ms-office.chartstyle+xml"/>
  <Override PartName="/ppt/charts/colors15.xml" ContentType="application/vnd.ms-office.chartcolorstyle+xml"/>
  <Override PartName="/ppt/charts/chart16.xml" ContentType="application/vnd.openxmlformats-officedocument.drawingml.chart+xml"/>
  <Override PartName="/ppt/charts/style16.xml" ContentType="application/vnd.ms-office.chartstyle+xml"/>
  <Override PartName="/ppt/charts/colors16.xml" ContentType="application/vnd.ms-office.chartcolorstyle+xml"/>
  <Override PartName="/ppt/charts/chart17.xml" ContentType="application/vnd.openxmlformats-officedocument.drawingml.chart+xml"/>
  <Override PartName="/ppt/charts/style17.xml" ContentType="application/vnd.ms-office.chartstyle+xml"/>
  <Override PartName="/ppt/charts/colors17.xml" ContentType="application/vnd.ms-office.chartcolorstyle+xml"/>
  <Override PartName="/ppt/charts/chart18.xml" ContentType="application/vnd.openxmlformats-officedocument.drawingml.chart+xml"/>
  <Override PartName="/ppt/charts/style18.xml" ContentType="application/vnd.ms-office.chartstyle+xml"/>
  <Override PartName="/ppt/charts/colors18.xml" ContentType="application/vnd.ms-office.chartcolorstyle+xml"/>
  <Override PartName="/ppt/charts/chart19.xml" ContentType="application/vnd.openxmlformats-officedocument.drawingml.chart+xml"/>
  <Override PartName="/ppt/charts/style19.xml" ContentType="application/vnd.ms-office.chartstyle+xml"/>
  <Override PartName="/ppt/charts/colors19.xml" ContentType="application/vnd.ms-office.chartcolorstyle+xml"/>
  <Override PartName="/ppt/charts/chart20.xml" ContentType="application/vnd.openxmlformats-officedocument.drawingml.chart+xml"/>
  <Override PartName="/ppt/charts/style20.xml" ContentType="application/vnd.ms-office.chartstyle+xml"/>
  <Override PartName="/ppt/charts/colors20.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73" r:id="rId5"/>
    <p:sldId id="259" r:id="rId6"/>
    <p:sldId id="274" r:id="rId7"/>
    <p:sldId id="261" r:id="rId8"/>
    <p:sldId id="262" r:id="rId9"/>
    <p:sldId id="275" r:id="rId10"/>
    <p:sldId id="267" r:id="rId11"/>
    <p:sldId id="266" r:id="rId12"/>
    <p:sldId id="276" r:id="rId13"/>
    <p:sldId id="277" r:id="rId14"/>
    <p:sldId id="263" r:id="rId15"/>
    <p:sldId id="264" r:id="rId16"/>
    <p:sldId id="278" r:id="rId17"/>
    <p:sldId id="279" r:id="rId18"/>
    <p:sldId id="271" r:id="rId19"/>
    <p:sldId id="280" r:id="rId20"/>
    <p:sldId id="268" r:id="rId21"/>
    <p:sldId id="282" r:id="rId22"/>
    <p:sldId id="269" r:id="rId23"/>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Раздел по умолчанию" id="{83D2AD78-9ECB-42F9-A0F4-78DC26BF14CA}">
          <p14:sldIdLst>
            <p14:sldId id="256"/>
            <p14:sldId id="257"/>
            <p14:sldId id="258"/>
            <p14:sldId id="273"/>
          </p14:sldIdLst>
        </p14:section>
        <p14:section name="Раздел без заголовка" id="{D4D7FEE6-B42F-4C0C-B0CC-426ADDB41057}">
          <p14:sldIdLst>
            <p14:sldId id="259"/>
            <p14:sldId id="274"/>
            <p14:sldId id="261"/>
            <p14:sldId id="262"/>
            <p14:sldId id="275"/>
            <p14:sldId id="267"/>
            <p14:sldId id="266"/>
            <p14:sldId id="276"/>
            <p14:sldId id="277"/>
            <p14:sldId id="263"/>
            <p14:sldId id="264"/>
            <p14:sldId id="278"/>
            <p14:sldId id="279"/>
            <p14:sldId id="271"/>
            <p14:sldId id="280"/>
            <p14:sldId id="268"/>
            <p14:sldId id="282"/>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5" d="100"/>
          <a:sy n="75" d="100"/>
        </p:scale>
        <p:origin x="72"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asman\Downloads\07%2019_45_4866b3ceec4682e5.52044134&#1047;&#1072;&#1076;&#1072;&#1085;&#1080;&#1077;1_&#1040;&#1089;&#1084;&#1072;&#1085;&#1076;&#1080;&#1103;&#1088;&#1086;&#1074;_&#1056;&#1072;&#1080;&#1083;&#1100;.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asman\Downloads\07%2019_45_4866b3ceec4682e5.52044134&#1047;&#1072;&#1076;&#1072;&#1085;&#1080;&#1077;1_&#1040;&#1089;&#1084;&#1072;&#1085;&#1076;&#1080;&#1103;&#1088;&#1086;&#1074;_&#1056;&#1072;&#1080;&#1083;&#1100;.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asman\Downloads\07%2019_45_4866b3ceec4682e5.52044134&#1047;&#1072;&#1076;&#1072;&#1085;&#1080;&#1077;1_&#1040;&#1089;&#1084;&#1072;&#1085;&#1076;&#1080;&#1103;&#1088;&#1086;&#1074;_&#1056;&#1072;&#1080;&#1083;&#1100;.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asman\Downloads\07%2019_45_4866b3ceec4682e5.52044134&#1047;&#1072;&#1076;&#1072;&#1085;&#1080;&#1077;1_&#1040;&#1089;&#1084;&#1072;&#1085;&#1076;&#1080;&#1103;&#1088;&#1086;&#1074;_&#1056;&#1072;&#1080;&#1083;&#1100;.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asman\Downloads\07%2019_45_4866b3ceec4682e5.52044134&#1047;&#1072;&#1076;&#1072;&#1085;&#1080;&#1077;1_&#1040;&#1089;&#1084;&#1072;&#1085;&#1076;&#1080;&#1103;&#1088;&#1086;&#1074;_&#1056;&#1072;&#1080;&#1083;&#1100;.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asman\Downloads\07%2019_45_4866b3ceec4682e5.52044134&#1047;&#1072;&#1076;&#1072;&#1085;&#1080;&#1077;1_&#1040;&#1089;&#1084;&#1072;&#1085;&#1076;&#1080;&#1103;&#1088;&#1086;&#1074;_&#1056;&#1072;&#1080;&#1083;&#1100;.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asman\Downloads\09%2008_24_0966b5d229800076.83554415&#1047;&#1072;&#1076;&#1072;&#1085;&#1080;&#1077;2_&#1040;&#1089;&#1084;&#1072;&#1085;&#1076;&#1080;&#1103;&#1088;&#1086;&#1074;_&#1056;&#1072;&#1080;&#1083;&#1100;%20(1).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Users\asman\Downloads\07%2019_45_4866b3ceec4682e5.52044134&#1047;&#1072;&#1076;&#1072;&#1085;&#1080;&#1077;1_&#1040;&#1089;&#1084;&#1072;&#1085;&#1076;&#1080;&#1103;&#1088;&#1086;&#1074;_&#1056;&#1072;&#1080;&#1083;&#1100;.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C:\Users\asman\Downloads\07%2019_45_4866b3ceec4682e5.52044134&#1047;&#1072;&#1076;&#1072;&#1085;&#1080;&#1077;1_&#1040;&#1089;&#1084;&#1072;&#1085;&#1076;&#1080;&#1103;&#1088;&#1086;&#1074;_&#1056;&#1072;&#1080;&#1083;&#1100;.xlsx"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file:///C:\Users\asman\Downloads\09%2008_24_0966b5d229800076.83554415&#1047;&#1072;&#1076;&#1072;&#1085;&#1080;&#1077;2_&#1040;&#1089;&#1084;&#1072;&#1085;&#1076;&#1080;&#1103;&#1088;&#1086;&#1074;_&#1056;&#1072;&#1080;&#1083;&#1100;%20(1).xlsx"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oleObject" Target="file:///C:\Users\asman\Downloads\09%2008_24_0966b5d229800076.83554415&#1047;&#1072;&#1076;&#1072;&#1085;&#1080;&#1077;2_&#1040;&#1089;&#1084;&#1072;&#1085;&#1076;&#1080;&#1103;&#1088;&#1086;&#1074;_&#1056;&#1072;&#1080;&#1083;&#1100;%20(1).xlsx" TargetMode="External"/><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oleObject" Target="file:///C:\Users\asman\Downloads\09%2008_24_0966b5d229800076.83554415&#1047;&#1072;&#1076;&#1072;&#1085;&#1080;&#1077;2_&#1040;&#1089;&#1084;&#1072;&#1085;&#1076;&#1080;&#1103;&#1088;&#1086;&#1074;_&#1056;&#1072;&#1080;&#1083;&#1100;%20(1).xlsx" TargetMode="External"/><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oleObject" Target="file:///C:\Users\asman\Downloads\09%2008_24_0966b5d229800076.83554415&#1047;&#1072;&#1076;&#1072;&#1085;&#1080;&#1077;2_&#1040;&#1089;&#1084;&#1072;&#1085;&#1076;&#1080;&#1103;&#1088;&#1086;&#1074;_&#1056;&#1072;&#1080;&#1083;&#1100;%20(1).xlsx" TargetMode="External"/><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oleObject" Target="file:///C:\Users\asman\Downloads\09%2008_24_0966b5d229800076.83554415&#1047;&#1072;&#1076;&#1072;&#1085;&#1080;&#1077;2_&#1040;&#1089;&#1084;&#1072;&#1085;&#1076;&#1080;&#1103;&#1088;&#1086;&#1074;_&#1056;&#1072;&#1080;&#1083;&#1100;%20(1).xlsx" TargetMode="External"/><Relationship Id="rId2" Type="http://schemas.microsoft.com/office/2011/relationships/chartColorStyle" Target="colors14.xml"/><Relationship Id="rId1" Type="http://schemas.microsoft.com/office/2011/relationships/chartStyle" Target="style14.xml"/></Relationships>
</file>

<file path=ppt/charts/_rels/chart15.xml.rels><?xml version="1.0" encoding="UTF-8" standalone="yes"?>
<Relationships xmlns="http://schemas.openxmlformats.org/package/2006/relationships"><Relationship Id="rId3" Type="http://schemas.openxmlformats.org/officeDocument/2006/relationships/oleObject" Target="file:///C:\Users\asman\Downloads\09%2008_24_0966b5d229800076.83554415&#1047;&#1072;&#1076;&#1072;&#1085;&#1080;&#1077;2_&#1040;&#1089;&#1084;&#1072;&#1085;&#1076;&#1080;&#1103;&#1088;&#1086;&#1074;_&#1056;&#1072;&#1080;&#1083;&#1100;%20(1).xlsx" TargetMode="External"/><Relationship Id="rId2" Type="http://schemas.microsoft.com/office/2011/relationships/chartColorStyle" Target="colors15.xml"/><Relationship Id="rId1" Type="http://schemas.microsoft.com/office/2011/relationships/chartStyle" Target="style15.xml"/></Relationships>
</file>

<file path=ppt/charts/_rels/chart16.xml.rels><?xml version="1.0" encoding="UTF-8" standalone="yes"?>
<Relationships xmlns="http://schemas.openxmlformats.org/package/2006/relationships"><Relationship Id="rId3" Type="http://schemas.openxmlformats.org/officeDocument/2006/relationships/oleObject" Target="file:///C:\Users\asman\Downloads\22%2019_51_0366c796a7222c29.91880360&#1042;&#1086;&#1088;&#1082;&#1096;&#1086;&#1087;excel1_&#1040;&#1089;&#1084;&#1072;&#1085;&#1076;&#1080;&#1103;&#1088;&#1086;&#1074;_&#1056;&#1040;.xlsx" TargetMode="External"/><Relationship Id="rId2" Type="http://schemas.microsoft.com/office/2011/relationships/chartColorStyle" Target="colors16.xml"/><Relationship Id="rId1" Type="http://schemas.microsoft.com/office/2011/relationships/chartStyle" Target="style16.xml"/></Relationships>
</file>

<file path=ppt/charts/_rels/chart17.xml.rels><?xml version="1.0" encoding="UTF-8" standalone="yes"?>
<Relationships xmlns="http://schemas.openxmlformats.org/package/2006/relationships"><Relationship Id="rId3" Type="http://schemas.openxmlformats.org/officeDocument/2006/relationships/oleObject" Target="file:///C:\Users\asman\Downloads\22%2019_51_0366c796a7222c29.91880360&#1042;&#1086;&#1088;&#1082;&#1096;&#1086;&#1087;excel1_&#1040;&#1089;&#1084;&#1072;&#1085;&#1076;&#1080;&#1103;&#1088;&#1086;&#1074;_&#1056;&#1040;.xlsx" TargetMode="External"/><Relationship Id="rId2" Type="http://schemas.microsoft.com/office/2011/relationships/chartColorStyle" Target="colors17.xml"/><Relationship Id="rId1" Type="http://schemas.microsoft.com/office/2011/relationships/chartStyle" Target="style17.xml"/></Relationships>
</file>

<file path=ppt/charts/_rels/chart18.xml.rels><?xml version="1.0" encoding="UTF-8" standalone="yes"?>
<Relationships xmlns="http://schemas.openxmlformats.org/package/2006/relationships"><Relationship Id="rId3" Type="http://schemas.openxmlformats.org/officeDocument/2006/relationships/oleObject" Target="file:///C:\Users\asman\Downloads\22%2019_51_0366c796a7222c29.91880360&#1042;&#1086;&#1088;&#1082;&#1096;&#1086;&#1087;excel1_&#1040;&#1089;&#1084;&#1072;&#1085;&#1076;&#1080;&#1103;&#1088;&#1086;&#1074;_&#1056;&#1040;.xlsx" TargetMode="External"/><Relationship Id="rId2" Type="http://schemas.microsoft.com/office/2011/relationships/chartColorStyle" Target="colors18.xml"/><Relationship Id="rId1" Type="http://schemas.microsoft.com/office/2011/relationships/chartStyle" Target="style18.xml"/></Relationships>
</file>

<file path=ppt/charts/_rels/chart19.xml.rels><?xml version="1.0" encoding="UTF-8" standalone="yes"?>
<Relationships xmlns="http://schemas.openxmlformats.org/package/2006/relationships"><Relationship Id="rId3" Type="http://schemas.openxmlformats.org/officeDocument/2006/relationships/oleObject" Target="file:///C:\Users\asman\Downloads\23%2019_24_5466c8e206d4de68.59189473&#1042;&#1086;&#1088;&#1082;&#1096;&#1086;&#1087;excel1_&#1040;&#1089;&#1084;&#1072;&#1085;&#1076;&#1080;&#1103;&#1088;&#1086;&#1074;_&#1056;&#1040;.xlsx" TargetMode="External"/><Relationship Id="rId2" Type="http://schemas.microsoft.com/office/2011/relationships/chartColorStyle" Target="colors19.xml"/><Relationship Id="rId1" Type="http://schemas.microsoft.com/office/2011/relationships/chartStyle" Target="style19.xml"/></Relationships>
</file>

<file path=ppt/charts/_rels/chart20.xml.rels><?xml version="1.0" encoding="UTF-8" standalone="yes"?>
<Relationships xmlns="http://schemas.openxmlformats.org/package/2006/relationships"><Relationship Id="rId3" Type="http://schemas.openxmlformats.org/officeDocument/2006/relationships/oleObject" Target="file:///C:\Users\asman\Downloads\22%2019_51_0366c796a7222c29.91880360&#1042;&#1086;&#1088;&#1082;&#1096;&#1086;&#1087;excel1_&#1040;&#1089;&#1084;&#1072;&#1085;&#1076;&#1080;&#1103;&#1088;&#1086;&#1074;_&#1056;&#1040;.xlsx" TargetMode="External"/><Relationship Id="rId2" Type="http://schemas.microsoft.com/office/2011/relationships/chartColorStyle" Target="colors20.xml"/><Relationship Id="rId1" Type="http://schemas.microsoft.com/office/2011/relationships/chartStyle" Target="style20.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pivotSource>
    <c:name>[07 19_45_4866b3ceec4682e5.52044134Задание1_Асмандияров_Раиль.xlsx]Задание 1!Сводная таблица1</c:name>
    <c:fmtId val="15"/>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1005922997353242"/>
          <c:y val="6.402745718960931E-2"/>
          <c:w val="0.71659981361025538"/>
          <c:h val="0.74982682998544326"/>
        </c:manualLayout>
      </c:layout>
      <c:barChart>
        <c:barDir val="col"/>
        <c:grouping val="stacked"/>
        <c:varyColors val="0"/>
        <c:ser>
          <c:idx val="0"/>
          <c:order val="0"/>
          <c:tx>
            <c:strRef>
              <c:f>'Задание 1'!$B$1:$B$2</c:f>
              <c:strCache>
                <c:ptCount val="1"/>
                <c:pt idx="0">
                  <c:v>Ленинский пр-т, 162/1</c:v>
                </c:pt>
              </c:strCache>
            </c:strRef>
          </c:tx>
          <c:spPr>
            <a:solidFill>
              <a:schemeClr val="accent1"/>
            </a:solidFill>
            <a:ln>
              <a:noFill/>
            </a:ln>
            <a:effectLst/>
          </c:spPr>
          <c:invertIfNegative val="0"/>
          <c:cat>
            <c:strRef>
              <c:f>'Задание 1'!$A$3:$A$7</c:f>
              <c:strCache>
                <c:ptCount val="4"/>
                <c:pt idx="0">
                  <c:v>01.сен</c:v>
                </c:pt>
                <c:pt idx="1">
                  <c:v>02.сен</c:v>
                </c:pt>
                <c:pt idx="2">
                  <c:v>03.сен</c:v>
                </c:pt>
                <c:pt idx="3">
                  <c:v>04.сен</c:v>
                </c:pt>
              </c:strCache>
            </c:strRef>
          </c:cat>
          <c:val>
            <c:numRef>
              <c:f>'Задание 1'!$B$3:$B$7</c:f>
              <c:numCache>
                <c:formatCode>General</c:formatCode>
                <c:ptCount val="4"/>
                <c:pt idx="0">
                  <c:v>2775</c:v>
                </c:pt>
                <c:pt idx="1">
                  <c:v>2798</c:v>
                </c:pt>
                <c:pt idx="2">
                  <c:v>2615</c:v>
                </c:pt>
                <c:pt idx="3">
                  <c:v>2655</c:v>
                </c:pt>
              </c:numCache>
            </c:numRef>
          </c:val>
          <c:extLst>
            <c:ext xmlns:c16="http://schemas.microsoft.com/office/drawing/2014/chart" uri="{C3380CC4-5D6E-409C-BE32-E72D297353CC}">
              <c16:uniqueId val="{00000000-D779-4360-AF04-F5B184E964D5}"/>
            </c:ext>
          </c:extLst>
        </c:ser>
        <c:ser>
          <c:idx val="1"/>
          <c:order val="1"/>
          <c:tx>
            <c:strRef>
              <c:f>'Задание 1'!$C$1:$C$2</c:f>
              <c:strCache>
                <c:ptCount val="1"/>
                <c:pt idx="0">
                  <c:v>пр-т Вернадского, 88к3</c:v>
                </c:pt>
              </c:strCache>
            </c:strRef>
          </c:tx>
          <c:spPr>
            <a:solidFill>
              <a:schemeClr val="accent2"/>
            </a:solidFill>
            <a:ln>
              <a:noFill/>
            </a:ln>
            <a:effectLst/>
          </c:spPr>
          <c:invertIfNegative val="0"/>
          <c:cat>
            <c:strRef>
              <c:f>'Задание 1'!$A$3:$A$7</c:f>
              <c:strCache>
                <c:ptCount val="4"/>
                <c:pt idx="0">
                  <c:v>01.сен</c:v>
                </c:pt>
                <c:pt idx="1">
                  <c:v>02.сен</c:v>
                </c:pt>
                <c:pt idx="2">
                  <c:v>03.сен</c:v>
                </c:pt>
                <c:pt idx="3">
                  <c:v>04.сен</c:v>
                </c:pt>
              </c:strCache>
            </c:strRef>
          </c:cat>
          <c:val>
            <c:numRef>
              <c:f>'Задание 1'!$C$3:$C$7</c:f>
              <c:numCache>
                <c:formatCode>General</c:formatCode>
                <c:ptCount val="4"/>
                <c:pt idx="0">
                  <c:v>1692</c:v>
                </c:pt>
                <c:pt idx="1">
                  <c:v>1687</c:v>
                </c:pt>
                <c:pt idx="2">
                  <c:v>1657</c:v>
                </c:pt>
                <c:pt idx="3">
                  <c:v>1593</c:v>
                </c:pt>
              </c:numCache>
            </c:numRef>
          </c:val>
          <c:extLst>
            <c:ext xmlns:c16="http://schemas.microsoft.com/office/drawing/2014/chart" uri="{C3380CC4-5D6E-409C-BE32-E72D297353CC}">
              <c16:uniqueId val="{00000001-D779-4360-AF04-F5B184E964D5}"/>
            </c:ext>
          </c:extLst>
        </c:ser>
        <c:ser>
          <c:idx val="2"/>
          <c:order val="2"/>
          <c:tx>
            <c:strRef>
              <c:f>'Задание 1'!$D$1:$D$2</c:f>
              <c:strCache>
                <c:ptCount val="1"/>
                <c:pt idx="0">
                  <c:v>Ракетный б-р, 14к1</c:v>
                </c:pt>
              </c:strCache>
            </c:strRef>
          </c:tx>
          <c:spPr>
            <a:solidFill>
              <a:schemeClr val="accent3"/>
            </a:solidFill>
            <a:ln>
              <a:noFill/>
            </a:ln>
            <a:effectLst/>
          </c:spPr>
          <c:invertIfNegative val="0"/>
          <c:cat>
            <c:strRef>
              <c:f>'Задание 1'!$A$3:$A$7</c:f>
              <c:strCache>
                <c:ptCount val="4"/>
                <c:pt idx="0">
                  <c:v>01.сен</c:v>
                </c:pt>
                <c:pt idx="1">
                  <c:v>02.сен</c:v>
                </c:pt>
                <c:pt idx="2">
                  <c:v>03.сен</c:v>
                </c:pt>
                <c:pt idx="3">
                  <c:v>04.сен</c:v>
                </c:pt>
              </c:strCache>
            </c:strRef>
          </c:cat>
          <c:val>
            <c:numRef>
              <c:f>'Задание 1'!$D$3:$D$7</c:f>
              <c:numCache>
                <c:formatCode>General</c:formatCode>
                <c:ptCount val="4"/>
                <c:pt idx="0">
                  <c:v>1408</c:v>
                </c:pt>
                <c:pt idx="1">
                  <c:v>1482</c:v>
                </c:pt>
                <c:pt idx="2">
                  <c:v>1388</c:v>
                </c:pt>
                <c:pt idx="3">
                  <c:v>1326</c:v>
                </c:pt>
              </c:numCache>
            </c:numRef>
          </c:val>
          <c:extLst>
            <c:ext xmlns:c16="http://schemas.microsoft.com/office/drawing/2014/chart" uri="{C3380CC4-5D6E-409C-BE32-E72D297353CC}">
              <c16:uniqueId val="{00000002-D779-4360-AF04-F5B184E964D5}"/>
            </c:ext>
          </c:extLst>
        </c:ser>
        <c:ser>
          <c:idx val="3"/>
          <c:order val="3"/>
          <c:tx>
            <c:strRef>
              <c:f>'Задание 1'!$E$1:$E$2</c:f>
              <c:strCache>
                <c:ptCount val="1"/>
                <c:pt idx="0">
                  <c:v>Симферопольский б-р, 22</c:v>
                </c:pt>
              </c:strCache>
            </c:strRef>
          </c:tx>
          <c:spPr>
            <a:solidFill>
              <a:schemeClr val="accent4"/>
            </a:solidFill>
            <a:ln>
              <a:noFill/>
            </a:ln>
            <a:effectLst/>
          </c:spPr>
          <c:invertIfNegative val="0"/>
          <c:cat>
            <c:strRef>
              <c:f>'Задание 1'!$A$3:$A$7</c:f>
              <c:strCache>
                <c:ptCount val="4"/>
                <c:pt idx="0">
                  <c:v>01.сен</c:v>
                </c:pt>
                <c:pt idx="1">
                  <c:v>02.сен</c:v>
                </c:pt>
                <c:pt idx="2">
                  <c:v>03.сен</c:v>
                </c:pt>
                <c:pt idx="3">
                  <c:v>04.сен</c:v>
                </c:pt>
              </c:strCache>
            </c:strRef>
          </c:cat>
          <c:val>
            <c:numRef>
              <c:f>'Задание 1'!$E$3:$E$7</c:f>
              <c:numCache>
                <c:formatCode>General</c:formatCode>
                <c:ptCount val="4"/>
                <c:pt idx="0">
                  <c:v>855</c:v>
                </c:pt>
                <c:pt idx="1">
                  <c:v>910</c:v>
                </c:pt>
                <c:pt idx="2">
                  <c:v>227</c:v>
                </c:pt>
                <c:pt idx="3">
                  <c:v>293</c:v>
                </c:pt>
              </c:numCache>
            </c:numRef>
          </c:val>
          <c:extLst>
            <c:ext xmlns:c16="http://schemas.microsoft.com/office/drawing/2014/chart" uri="{C3380CC4-5D6E-409C-BE32-E72D297353CC}">
              <c16:uniqueId val="{00000003-D779-4360-AF04-F5B184E964D5}"/>
            </c:ext>
          </c:extLst>
        </c:ser>
        <c:ser>
          <c:idx val="4"/>
          <c:order val="4"/>
          <c:tx>
            <c:strRef>
              <c:f>'Задание 1'!$F$1:$F$2</c:f>
              <c:strCache>
                <c:ptCount val="1"/>
                <c:pt idx="0">
                  <c:v>ул. Щорса, 26/3</c:v>
                </c:pt>
              </c:strCache>
            </c:strRef>
          </c:tx>
          <c:spPr>
            <a:solidFill>
              <a:schemeClr val="accent5"/>
            </a:solidFill>
            <a:ln>
              <a:noFill/>
            </a:ln>
            <a:effectLst/>
          </c:spPr>
          <c:invertIfNegative val="0"/>
          <c:cat>
            <c:strRef>
              <c:f>'Задание 1'!$A$3:$A$7</c:f>
              <c:strCache>
                <c:ptCount val="4"/>
                <c:pt idx="0">
                  <c:v>01.сен</c:v>
                </c:pt>
                <c:pt idx="1">
                  <c:v>02.сен</c:v>
                </c:pt>
                <c:pt idx="2">
                  <c:v>03.сен</c:v>
                </c:pt>
                <c:pt idx="3">
                  <c:v>04.сен</c:v>
                </c:pt>
              </c:strCache>
            </c:strRef>
          </c:cat>
          <c:val>
            <c:numRef>
              <c:f>'Задание 1'!$F$3:$F$7</c:f>
              <c:numCache>
                <c:formatCode>General</c:formatCode>
                <c:ptCount val="4"/>
                <c:pt idx="0">
                  <c:v>1119</c:v>
                </c:pt>
                <c:pt idx="1">
                  <c:v>1070</c:v>
                </c:pt>
                <c:pt idx="2">
                  <c:v>1079</c:v>
                </c:pt>
                <c:pt idx="3">
                  <c:v>1036</c:v>
                </c:pt>
              </c:numCache>
            </c:numRef>
          </c:val>
          <c:extLst>
            <c:ext xmlns:c16="http://schemas.microsoft.com/office/drawing/2014/chart" uri="{C3380CC4-5D6E-409C-BE32-E72D297353CC}">
              <c16:uniqueId val="{00000004-D779-4360-AF04-F5B184E964D5}"/>
            </c:ext>
          </c:extLst>
        </c:ser>
        <c:ser>
          <c:idx val="5"/>
          <c:order val="5"/>
          <c:tx>
            <c:strRef>
              <c:f>'Задание 1'!$G$1:$G$2</c:f>
              <c:strCache>
                <c:ptCount val="1"/>
                <c:pt idx="0">
                  <c:v>ул. Чертановская,  20к2</c:v>
                </c:pt>
              </c:strCache>
            </c:strRef>
          </c:tx>
          <c:spPr>
            <a:solidFill>
              <a:schemeClr val="accent6"/>
            </a:solidFill>
            <a:ln>
              <a:noFill/>
            </a:ln>
            <a:effectLst/>
          </c:spPr>
          <c:invertIfNegative val="0"/>
          <c:cat>
            <c:strRef>
              <c:f>'Задание 1'!$A$3:$A$7</c:f>
              <c:strCache>
                <c:ptCount val="4"/>
                <c:pt idx="0">
                  <c:v>01.сен</c:v>
                </c:pt>
                <c:pt idx="1">
                  <c:v>02.сен</c:v>
                </c:pt>
                <c:pt idx="2">
                  <c:v>03.сен</c:v>
                </c:pt>
                <c:pt idx="3">
                  <c:v>04.сен</c:v>
                </c:pt>
              </c:strCache>
            </c:strRef>
          </c:cat>
          <c:val>
            <c:numRef>
              <c:f>'Задание 1'!$G$3:$G$7</c:f>
              <c:numCache>
                <c:formatCode>General</c:formatCode>
                <c:ptCount val="4"/>
                <c:pt idx="2">
                  <c:v>1823</c:v>
                </c:pt>
                <c:pt idx="3">
                  <c:v>3172</c:v>
                </c:pt>
              </c:numCache>
            </c:numRef>
          </c:val>
          <c:extLst>
            <c:ext xmlns:c16="http://schemas.microsoft.com/office/drawing/2014/chart" uri="{C3380CC4-5D6E-409C-BE32-E72D297353CC}">
              <c16:uniqueId val="{00000005-D779-4360-AF04-F5B184E964D5}"/>
            </c:ext>
          </c:extLst>
        </c:ser>
        <c:dLbls>
          <c:showLegendKey val="0"/>
          <c:showVal val="0"/>
          <c:showCatName val="0"/>
          <c:showSerName val="0"/>
          <c:showPercent val="0"/>
          <c:showBubbleSize val="0"/>
        </c:dLbls>
        <c:gapWidth val="150"/>
        <c:overlap val="100"/>
        <c:axId val="1367948223"/>
        <c:axId val="1069568783"/>
      </c:barChart>
      <c:catAx>
        <c:axId val="1367948223"/>
        <c:scaling>
          <c:orientation val="minMax"/>
        </c:scaling>
        <c:delete val="0"/>
        <c:axPos val="b"/>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200" b="0" i="0" u="none" strike="noStrike" kern="1200" baseline="0">
                    <a:solidFill>
                      <a:sysClr val="windowText" lastClr="000000"/>
                    </a:solidFill>
                    <a:latin typeface="+mn-lt"/>
                    <a:ea typeface="+mn-ea"/>
                    <a:cs typeface="+mn-cs"/>
                  </a:defRPr>
                </a:pPr>
                <a:r>
                  <a:rPr lang="ru-RU" sz="1200" b="0" i="0" u="none" strike="noStrike" kern="1200" baseline="0">
                    <a:solidFill>
                      <a:sysClr val="windowText" lastClr="000000"/>
                    </a:solidFill>
                  </a:rPr>
                  <a:t>Дата</a:t>
                </a:r>
              </a:p>
            </c:rich>
          </c:tx>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200" b="0" i="0" u="none" strike="noStrike" kern="1200" baseline="0">
                  <a:solidFill>
                    <a:sysClr val="windowText" lastClr="000000"/>
                  </a:solidFill>
                  <a:latin typeface="+mn-lt"/>
                  <a:ea typeface="+mn-ea"/>
                  <a:cs typeface="+mn-cs"/>
                </a:defRPr>
              </a:pPr>
              <a:endParaRPr lang="ru-RU"/>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ru-RU"/>
          </a:p>
        </c:txPr>
        <c:crossAx val="1069568783"/>
        <c:crosses val="autoZero"/>
        <c:auto val="1"/>
        <c:lblAlgn val="ctr"/>
        <c:lblOffset val="100"/>
        <c:noMultiLvlLbl val="0"/>
      </c:catAx>
      <c:valAx>
        <c:axId val="1069568783"/>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r>
                  <a:rPr lang="ru-RU" sz="1200" b="0" i="0" u="none" strike="noStrike" kern="1200" baseline="0">
                    <a:solidFill>
                      <a:schemeClr val="tx1"/>
                    </a:solidFill>
                  </a:rPr>
                  <a:t>Количество транзакций по точкам</a:t>
                </a:r>
              </a:p>
            </c:rich>
          </c:tx>
          <c:layout>
            <c:manualLayout>
              <c:xMode val="edge"/>
              <c:yMode val="edge"/>
              <c:x val="2.9987827608505463E-2"/>
              <c:y val="0.28058205694114829"/>
            </c:manualLayout>
          </c:layout>
          <c:overlay val="0"/>
          <c:spPr>
            <a:noFill/>
            <a:ln>
              <a:noFill/>
            </a:ln>
            <a:effectLst/>
          </c:spPr>
          <c:txPr>
            <a:bodyPr rot="-54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ru-RU"/>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ru-RU"/>
          </a:p>
        </c:txPr>
        <c:crossAx val="1367948223"/>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ru-RU"/>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pivotSource>
    <c:name>[07 19_45_4866b3ceec4682e5.52044134Задание1_Асмандияров_Раиль.xlsx]Задание 1!Сводная таблица1</c:name>
    <c:fmtId val="18"/>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percentStacked"/>
        <c:varyColors val="0"/>
        <c:ser>
          <c:idx val="0"/>
          <c:order val="0"/>
          <c:tx>
            <c:strRef>
              <c:f>'Задание 1'!$B$1:$B$2</c:f>
              <c:strCache>
                <c:ptCount val="1"/>
                <c:pt idx="0">
                  <c:v>Ленинский пр-т, 162/1</c:v>
                </c:pt>
              </c:strCache>
            </c:strRef>
          </c:tx>
          <c:spPr>
            <a:solidFill>
              <a:schemeClr val="accent1"/>
            </a:solidFill>
            <a:ln>
              <a:noFill/>
            </a:ln>
            <a:effectLst/>
          </c:spPr>
          <c:invertIfNegative val="0"/>
          <c:cat>
            <c:strRef>
              <c:f>'Задание 1'!$A$3:$A$7</c:f>
              <c:strCache>
                <c:ptCount val="4"/>
                <c:pt idx="0">
                  <c:v>01.сен</c:v>
                </c:pt>
                <c:pt idx="1">
                  <c:v>02.сен</c:v>
                </c:pt>
                <c:pt idx="2">
                  <c:v>03.сен</c:v>
                </c:pt>
                <c:pt idx="3">
                  <c:v>04.сен</c:v>
                </c:pt>
              </c:strCache>
            </c:strRef>
          </c:cat>
          <c:val>
            <c:numRef>
              <c:f>'Задание 1'!$B$3:$B$7</c:f>
              <c:numCache>
                <c:formatCode>General</c:formatCode>
                <c:ptCount val="4"/>
                <c:pt idx="0">
                  <c:v>2775</c:v>
                </c:pt>
                <c:pt idx="1">
                  <c:v>2798</c:v>
                </c:pt>
                <c:pt idx="2">
                  <c:v>2615</c:v>
                </c:pt>
                <c:pt idx="3">
                  <c:v>2655</c:v>
                </c:pt>
              </c:numCache>
            </c:numRef>
          </c:val>
          <c:extLst>
            <c:ext xmlns:c16="http://schemas.microsoft.com/office/drawing/2014/chart" uri="{C3380CC4-5D6E-409C-BE32-E72D297353CC}">
              <c16:uniqueId val="{00000000-FBCE-42C3-8389-0A98480C877A}"/>
            </c:ext>
          </c:extLst>
        </c:ser>
        <c:ser>
          <c:idx val="1"/>
          <c:order val="1"/>
          <c:tx>
            <c:strRef>
              <c:f>'Задание 1'!$C$1:$C$2</c:f>
              <c:strCache>
                <c:ptCount val="1"/>
                <c:pt idx="0">
                  <c:v>пр-т Вернадского, 88к3</c:v>
                </c:pt>
              </c:strCache>
            </c:strRef>
          </c:tx>
          <c:spPr>
            <a:solidFill>
              <a:schemeClr val="accent2"/>
            </a:solidFill>
            <a:ln>
              <a:noFill/>
            </a:ln>
            <a:effectLst/>
          </c:spPr>
          <c:invertIfNegative val="0"/>
          <c:cat>
            <c:strRef>
              <c:f>'Задание 1'!$A$3:$A$7</c:f>
              <c:strCache>
                <c:ptCount val="4"/>
                <c:pt idx="0">
                  <c:v>01.сен</c:v>
                </c:pt>
                <c:pt idx="1">
                  <c:v>02.сен</c:v>
                </c:pt>
                <c:pt idx="2">
                  <c:v>03.сен</c:v>
                </c:pt>
                <c:pt idx="3">
                  <c:v>04.сен</c:v>
                </c:pt>
              </c:strCache>
            </c:strRef>
          </c:cat>
          <c:val>
            <c:numRef>
              <c:f>'Задание 1'!$C$3:$C$7</c:f>
              <c:numCache>
                <c:formatCode>General</c:formatCode>
                <c:ptCount val="4"/>
                <c:pt idx="0">
                  <c:v>1692</c:v>
                </c:pt>
                <c:pt idx="1">
                  <c:v>1687</c:v>
                </c:pt>
                <c:pt idx="2">
                  <c:v>1657</c:v>
                </c:pt>
                <c:pt idx="3">
                  <c:v>1593</c:v>
                </c:pt>
              </c:numCache>
            </c:numRef>
          </c:val>
          <c:extLst>
            <c:ext xmlns:c16="http://schemas.microsoft.com/office/drawing/2014/chart" uri="{C3380CC4-5D6E-409C-BE32-E72D297353CC}">
              <c16:uniqueId val="{00000001-FBCE-42C3-8389-0A98480C877A}"/>
            </c:ext>
          </c:extLst>
        </c:ser>
        <c:ser>
          <c:idx val="2"/>
          <c:order val="2"/>
          <c:tx>
            <c:strRef>
              <c:f>'Задание 1'!$D$1:$D$2</c:f>
              <c:strCache>
                <c:ptCount val="1"/>
                <c:pt idx="0">
                  <c:v>Ракетный б-р, 14к1</c:v>
                </c:pt>
              </c:strCache>
            </c:strRef>
          </c:tx>
          <c:spPr>
            <a:solidFill>
              <a:schemeClr val="accent3"/>
            </a:solidFill>
            <a:ln>
              <a:noFill/>
            </a:ln>
            <a:effectLst/>
          </c:spPr>
          <c:invertIfNegative val="0"/>
          <c:cat>
            <c:strRef>
              <c:f>'Задание 1'!$A$3:$A$7</c:f>
              <c:strCache>
                <c:ptCount val="4"/>
                <c:pt idx="0">
                  <c:v>01.сен</c:v>
                </c:pt>
                <c:pt idx="1">
                  <c:v>02.сен</c:v>
                </c:pt>
                <c:pt idx="2">
                  <c:v>03.сен</c:v>
                </c:pt>
                <c:pt idx="3">
                  <c:v>04.сен</c:v>
                </c:pt>
              </c:strCache>
            </c:strRef>
          </c:cat>
          <c:val>
            <c:numRef>
              <c:f>'Задание 1'!$D$3:$D$7</c:f>
              <c:numCache>
                <c:formatCode>General</c:formatCode>
                <c:ptCount val="4"/>
                <c:pt idx="0">
                  <c:v>1408</c:v>
                </c:pt>
                <c:pt idx="1">
                  <c:v>1482</c:v>
                </c:pt>
                <c:pt idx="2">
                  <c:v>1388</c:v>
                </c:pt>
                <c:pt idx="3">
                  <c:v>1326</c:v>
                </c:pt>
              </c:numCache>
            </c:numRef>
          </c:val>
          <c:extLst>
            <c:ext xmlns:c16="http://schemas.microsoft.com/office/drawing/2014/chart" uri="{C3380CC4-5D6E-409C-BE32-E72D297353CC}">
              <c16:uniqueId val="{00000002-FBCE-42C3-8389-0A98480C877A}"/>
            </c:ext>
          </c:extLst>
        </c:ser>
        <c:ser>
          <c:idx val="3"/>
          <c:order val="3"/>
          <c:tx>
            <c:strRef>
              <c:f>'Задание 1'!$E$1:$E$2</c:f>
              <c:strCache>
                <c:ptCount val="1"/>
                <c:pt idx="0">
                  <c:v>Симферопольский б-р, 22</c:v>
                </c:pt>
              </c:strCache>
            </c:strRef>
          </c:tx>
          <c:spPr>
            <a:solidFill>
              <a:schemeClr val="accent4"/>
            </a:solidFill>
            <a:ln>
              <a:noFill/>
            </a:ln>
            <a:effectLst/>
          </c:spPr>
          <c:invertIfNegative val="0"/>
          <c:cat>
            <c:strRef>
              <c:f>'Задание 1'!$A$3:$A$7</c:f>
              <c:strCache>
                <c:ptCount val="4"/>
                <c:pt idx="0">
                  <c:v>01.сен</c:v>
                </c:pt>
                <c:pt idx="1">
                  <c:v>02.сен</c:v>
                </c:pt>
                <c:pt idx="2">
                  <c:v>03.сен</c:v>
                </c:pt>
                <c:pt idx="3">
                  <c:v>04.сен</c:v>
                </c:pt>
              </c:strCache>
            </c:strRef>
          </c:cat>
          <c:val>
            <c:numRef>
              <c:f>'Задание 1'!$E$3:$E$7</c:f>
              <c:numCache>
                <c:formatCode>General</c:formatCode>
                <c:ptCount val="4"/>
                <c:pt idx="0">
                  <c:v>855</c:v>
                </c:pt>
                <c:pt idx="1">
                  <c:v>910</c:v>
                </c:pt>
                <c:pt idx="2">
                  <c:v>227</c:v>
                </c:pt>
                <c:pt idx="3">
                  <c:v>293</c:v>
                </c:pt>
              </c:numCache>
            </c:numRef>
          </c:val>
          <c:extLst>
            <c:ext xmlns:c16="http://schemas.microsoft.com/office/drawing/2014/chart" uri="{C3380CC4-5D6E-409C-BE32-E72D297353CC}">
              <c16:uniqueId val="{00000003-FBCE-42C3-8389-0A98480C877A}"/>
            </c:ext>
          </c:extLst>
        </c:ser>
        <c:ser>
          <c:idx val="4"/>
          <c:order val="4"/>
          <c:tx>
            <c:strRef>
              <c:f>'Задание 1'!$F$1:$F$2</c:f>
              <c:strCache>
                <c:ptCount val="1"/>
                <c:pt idx="0">
                  <c:v>ул. Щорса, 26/3</c:v>
                </c:pt>
              </c:strCache>
            </c:strRef>
          </c:tx>
          <c:spPr>
            <a:solidFill>
              <a:schemeClr val="accent5"/>
            </a:solidFill>
            <a:ln>
              <a:noFill/>
            </a:ln>
            <a:effectLst/>
          </c:spPr>
          <c:invertIfNegative val="0"/>
          <c:cat>
            <c:strRef>
              <c:f>'Задание 1'!$A$3:$A$7</c:f>
              <c:strCache>
                <c:ptCount val="4"/>
                <c:pt idx="0">
                  <c:v>01.сен</c:v>
                </c:pt>
                <c:pt idx="1">
                  <c:v>02.сен</c:v>
                </c:pt>
                <c:pt idx="2">
                  <c:v>03.сен</c:v>
                </c:pt>
                <c:pt idx="3">
                  <c:v>04.сен</c:v>
                </c:pt>
              </c:strCache>
            </c:strRef>
          </c:cat>
          <c:val>
            <c:numRef>
              <c:f>'Задание 1'!$F$3:$F$7</c:f>
              <c:numCache>
                <c:formatCode>General</c:formatCode>
                <c:ptCount val="4"/>
                <c:pt idx="0">
                  <c:v>1119</c:v>
                </c:pt>
                <c:pt idx="1">
                  <c:v>1070</c:v>
                </c:pt>
                <c:pt idx="2">
                  <c:v>1079</c:v>
                </c:pt>
                <c:pt idx="3">
                  <c:v>1036</c:v>
                </c:pt>
              </c:numCache>
            </c:numRef>
          </c:val>
          <c:extLst>
            <c:ext xmlns:c16="http://schemas.microsoft.com/office/drawing/2014/chart" uri="{C3380CC4-5D6E-409C-BE32-E72D297353CC}">
              <c16:uniqueId val="{00000004-FBCE-42C3-8389-0A98480C877A}"/>
            </c:ext>
          </c:extLst>
        </c:ser>
        <c:ser>
          <c:idx val="5"/>
          <c:order val="5"/>
          <c:tx>
            <c:strRef>
              <c:f>'Задание 1'!$G$1:$G$2</c:f>
              <c:strCache>
                <c:ptCount val="1"/>
                <c:pt idx="0">
                  <c:v>ул. Чертановская,  20к2</c:v>
                </c:pt>
              </c:strCache>
            </c:strRef>
          </c:tx>
          <c:spPr>
            <a:solidFill>
              <a:schemeClr val="accent6"/>
            </a:solidFill>
            <a:ln>
              <a:noFill/>
            </a:ln>
            <a:effectLst/>
          </c:spPr>
          <c:invertIfNegative val="0"/>
          <c:cat>
            <c:strRef>
              <c:f>'Задание 1'!$A$3:$A$7</c:f>
              <c:strCache>
                <c:ptCount val="4"/>
                <c:pt idx="0">
                  <c:v>01.сен</c:v>
                </c:pt>
                <c:pt idx="1">
                  <c:v>02.сен</c:v>
                </c:pt>
                <c:pt idx="2">
                  <c:v>03.сен</c:v>
                </c:pt>
                <c:pt idx="3">
                  <c:v>04.сен</c:v>
                </c:pt>
              </c:strCache>
            </c:strRef>
          </c:cat>
          <c:val>
            <c:numRef>
              <c:f>'Задание 1'!$G$3:$G$7</c:f>
              <c:numCache>
                <c:formatCode>General</c:formatCode>
                <c:ptCount val="4"/>
                <c:pt idx="2">
                  <c:v>1823</c:v>
                </c:pt>
                <c:pt idx="3">
                  <c:v>3172</c:v>
                </c:pt>
              </c:numCache>
            </c:numRef>
          </c:val>
          <c:extLst>
            <c:ext xmlns:c16="http://schemas.microsoft.com/office/drawing/2014/chart" uri="{C3380CC4-5D6E-409C-BE32-E72D297353CC}">
              <c16:uniqueId val="{00000005-FBCE-42C3-8389-0A98480C877A}"/>
            </c:ext>
          </c:extLst>
        </c:ser>
        <c:dLbls>
          <c:showLegendKey val="0"/>
          <c:showVal val="0"/>
          <c:showCatName val="0"/>
          <c:showSerName val="0"/>
          <c:showPercent val="0"/>
          <c:showBubbleSize val="0"/>
        </c:dLbls>
        <c:gapWidth val="150"/>
        <c:overlap val="100"/>
        <c:axId val="1489034223"/>
        <c:axId val="1489041423"/>
      </c:barChart>
      <c:catAx>
        <c:axId val="1489034223"/>
        <c:scaling>
          <c:orientation val="minMax"/>
        </c:scaling>
        <c:delete val="0"/>
        <c:axPos val="b"/>
        <c:title>
          <c:tx>
            <c:rich>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r>
                  <a:rPr lang="ru-RU" sz="1200" b="0" i="0" u="none" strike="noStrike" kern="1200" baseline="0">
                    <a:solidFill>
                      <a:sysClr val="windowText" lastClr="000000"/>
                    </a:solidFill>
                  </a:rPr>
                  <a:t>Дата</a:t>
                </a:r>
              </a:p>
            </c:rich>
          </c:tx>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ru-RU"/>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ru-RU"/>
          </a:p>
        </c:txPr>
        <c:crossAx val="1489041423"/>
        <c:crosses val="autoZero"/>
        <c:auto val="1"/>
        <c:lblAlgn val="ctr"/>
        <c:lblOffset val="100"/>
        <c:noMultiLvlLbl val="0"/>
      </c:catAx>
      <c:valAx>
        <c:axId val="1489041423"/>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200" b="0" i="0" u="none" strike="noStrike" kern="1200" baseline="0">
                    <a:solidFill>
                      <a:sysClr val="windowText" lastClr="000000">
                        <a:lumMod val="65000"/>
                        <a:lumOff val="35000"/>
                      </a:sysClr>
                    </a:solidFill>
                    <a:latin typeface="+mn-lt"/>
                    <a:ea typeface="+mn-ea"/>
                    <a:cs typeface="+mn-cs"/>
                  </a:defRPr>
                </a:pPr>
                <a:r>
                  <a:rPr lang="ru-RU" sz="1200">
                    <a:solidFill>
                      <a:schemeClr val="tx1"/>
                    </a:solidFill>
                  </a:rPr>
                  <a:t>% </a:t>
                </a:r>
                <a:r>
                  <a:rPr lang="ru-RU" sz="1200" b="0" i="0" u="none" strike="noStrike" kern="1200" baseline="0">
                    <a:solidFill>
                      <a:schemeClr val="tx1"/>
                    </a:solidFill>
                  </a:rPr>
                  <a:t>транзакций по точкам</a:t>
                </a:r>
              </a:p>
            </c:rich>
          </c:tx>
          <c:layout>
            <c:manualLayout>
              <c:xMode val="edge"/>
              <c:yMode val="edge"/>
              <c:x val="3.6231884057971015E-3"/>
              <c:y val="0.32505479891425315"/>
            </c:manualLayout>
          </c:layout>
          <c:overlay val="0"/>
          <c:spPr>
            <a:noFill/>
            <a:ln>
              <a:noFill/>
            </a:ln>
            <a:effectLst/>
          </c:spPr>
          <c:txPr>
            <a:bodyPr rot="-540000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200" b="0" i="0" u="none" strike="noStrike" kern="1200" baseline="0">
                  <a:solidFill>
                    <a:sysClr val="windowText" lastClr="000000">
                      <a:lumMod val="65000"/>
                      <a:lumOff val="35000"/>
                    </a:sysClr>
                  </a:solidFill>
                  <a:latin typeface="+mn-lt"/>
                  <a:ea typeface="+mn-ea"/>
                  <a:cs typeface="+mn-cs"/>
                </a:defRPr>
              </a:pPr>
              <a:endParaRPr lang="ru-RU"/>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ru-RU"/>
          </a:p>
        </c:txPr>
        <c:crossAx val="1489034223"/>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ru-RU"/>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'Задание 2'!$F$2</c:f>
              <c:strCache>
                <c:ptCount val="1"/>
                <c:pt idx="0">
                  <c:v>1</c:v>
                </c:pt>
              </c:strCache>
            </c:strRef>
          </c:tx>
          <c:spPr>
            <a:ln w="28575" cap="rnd">
              <a:solidFill>
                <a:schemeClr val="accent1"/>
              </a:solidFill>
              <a:round/>
            </a:ln>
            <a:effectLst/>
          </c:spPr>
          <c:marker>
            <c:symbol val="none"/>
          </c:marker>
          <c:val>
            <c:numRef>
              <c:f>'Задание 2'!$F$4:$F$6</c:f>
              <c:numCache>
                <c:formatCode>0%</c:formatCode>
                <c:ptCount val="3"/>
                <c:pt idx="0">
                  <c:v>1.0030395136778116</c:v>
                </c:pt>
                <c:pt idx="1">
                  <c:v>0.65959595959595962</c:v>
                </c:pt>
                <c:pt idx="2">
                  <c:v>1.0176110260336906</c:v>
                </c:pt>
              </c:numCache>
            </c:numRef>
          </c:val>
          <c:smooth val="0"/>
          <c:extLst>
            <c:ext xmlns:c16="http://schemas.microsoft.com/office/drawing/2014/chart" uri="{C3380CC4-5D6E-409C-BE32-E72D297353CC}">
              <c16:uniqueId val="{00000000-0117-4B39-B8A6-E13EC15FCDF7}"/>
            </c:ext>
          </c:extLst>
        </c:ser>
        <c:ser>
          <c:idx val="1"/>
          <c:order val="1"/>
          <c:tx>
            <c:strRef>
              <c:f>'Задание 2'!$G$2</c:f>
              <c:strCache>
                <c:ptCount val="1"/>
                <c:pt idx="0">
                  <c:v>2</c:v>
                </c:pt>
              </c:strCache>
            </c:strRef>
          </c:tx>
          <c:spPr>
            <a:ln w="28575" cap="rnd">
              <a:solidFill>
                <a:schemeClr val="accent2"/>
              </a:solidFill>
              <a:round/>
            </a:ln>
            <a:effectLst/>
          </c:spPr>
          <c:marker>
            <c:symbol val="none"/>
          </c:marker>
          <c:val>
            <c:numRef>
              <c:f>'Задание 2'!$G$4:$G$6</c:f>
              <c:numCache>
                <c:formatCode>0%</c:formatCode>
                <c:ptCount val="3"/>
                <c:pt idx="0">
                  <c:v>1.0040295500335796</c:v>
                </c:pt>
                <c:pt idx="1">
                  <c:v>0.95250836120401339</c:v>
                </c:pt>
                <c:pt idx="2">
                  <c:v>0.9943820224719101</c:v>
                </c:pt>
              </c:numCache>
            </c:numRef>
          </c:val>
          <c:smooth val="0"/>
          <c:extLst>
            <c:ext xmlns:c16="http://schemas.microsoft.com/office/drawing/2014/chart" uri="{C3380CC4-5D6E-409C-BE32-E72D297353CC}">
              <c16:uniqueId val="{00000001-0117-4B39-B8A6-E13EC15FCDF7}"/>
            </c:ext>
          </c:extLst>
        </c:ser>
        <c:ser>
          <c:idx val="2"/>
          <c:order val="2"/>
          <c:tx>
            <c:strRef>
              <c:f>'Задание 2'!$H$2</c:f>
              <c:strCache>
                <c:ptCount val="1"/>
                <c:pt idx="0">
                  <c:v>3</c:v>
                </c:pt>
              </c:strCache>
            </c:strRef>
          </c:tx>
          <c:spPr>
            <a:ln w="28575" cap="rnd">
              <a:solidFill>
                <a:schemeClr val="accent3"/>
              </a:solidFill>
              <a:round/>
            </a:ln>
            <a:effectLst/>
          </c:spPr>
          <c:marker>
            <c:symbol val="none"/>
          </c:marker>
          <c:val>
            <c:numRef>
              <c:f>'Задание 2'!$H$4:$H$6</c:f>
              <c:numCache>
                <c:formatCode>0%</c:formatCode>
                <c:ptCount val="3"/>
                <c:pt idx="0">
                  <c:v>1.0525568181818181</c:v>
                </c:pt>
                <c:pt idx="1">
                  <c:v>2.1666666666666665</c:v>
                </c:pt>
                <c:pt idx="2">
                  <c:v>1.4008097165991902</c:v>
                </c:pt>
              </c:numCache>
            </c:numRef>
          </c:val>
          <c:smooth val="0"/>
          <c:extLst>
            <c:ext xmlns:c16="http://schemas.microsoft.com/office/drawing/2014/chart" uri="{C3380CC4-5D6E-409C-BE32-E72D297353CC}">
              <c16:uniqueId val="{00000002-0117-4B39-B8A6-E13EC15FCDF7}"/>
            </c:ext>
          </c:extLst>
        </c:ser>
        <c:dLbls>
          <c:showLegendKey val="0"/>
          <c:showVal val="0"/>
          <c:showCatName val="0"/>
          <c:showSerName val="0"/>
          <c:showPercent val="0"/>
          <c:showBubbleSize val="0"/>
        </c:dLbls>
        <c:smooth val="0"/>
        <c:axId val="1065743775"/>
        <c:axId val="1065747615"/>
      </c:lineChart>
      <c:catAx>
        <c:axId val="1065743775"/>
        <c:scaling>
          <c:orientation val="minMax"/>
        </c:scaling>
        <c:delete val="1"/>
        <c:axPos val="b"/>
        <c:majorTickMark val="none"/>
        <c:minorTickMark val="none"/>
        <c:tickLblPos val="nextTo"/>
        <c:crossAx val="1065747615"/>
        <c:crosses val="autoZero"/>
        <c:auto val="1"/>
        <c:lblAlgn val="ctr"/>
        <c:lblOffset val="100"/>
        <c:noMultiLvlLbl val="0"/>
      </c:catAx>
      <c:valAx>
        <c:axId val="1065747615"/>
        <c:scaling>
          <c:orientation val="minMax"/>
          <c:max val="2.2999999999999998"/>
          <c:min val="0.60000000000000009"/>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200" b="0" i="0" u="none" strike="noStrike" kern="1200" baseline="0">
                    <a:solidFill>
                      <a:sysClr val="windowText" lastClr="000000"/>
                    </a:solidFill>
                    <a:latin typeface="+mn-lt"/>
                    <a:ea typeface="+mn-ea"/>
                    <a:cs typeface="+mn-cs"/>
                  </a:defRPr>
                </a:pPr>
                <a:r>
                  <a:rPr lang="ru-RU" sz="1200">
                    <a:solidFill>
                      <a:sysClr val="windowText" lastClr="000000"/>
                    </a:solidFill>
                  </a:rPr>
                  <a:t>Процент</a:t>
                </a:r>
                <a:r>
                  <a:rPr lang="ru-RU" sz="1200" baseline="0">
                    <a:solidFill>
                      <a:sysClr val="windowText" lastClr="000000"/>
                    </a:solidFill>
                  </a:rPr>
                  <a:t> роста</a:t>
                </a:r>
                <a:endParaRPr lang="ru-RU" sz="1200">
                  <a:solidFill>
                    <a:sysClr val="windowText" lastClr="000000"/>
                  </a:solidFill>
                </a:endParaRPr>
              </a:p>
            </c:rich>
          </c:tx>
          <c:layout>
            <c:manualLayout>
              <c:xMode val="edge"/>
              <c:yMode val="edge"/>
              <c:x val="2.2950174448432312E-3"/>
              <c:y val="0.27245893984270186"/>
            </c:manualLayout>
          </c:layout>
          <c:overlay val="0"/>
          <c:spPr>
            <a:noFill/>
            <a:ln>
              <a:noFill/>
            </a:ln>
            <a:effectLst/>
          </c:spPr>
          <c:txPr>
            <a:bodyPr rot="-5400000" spcFirstLastPara="1" vertOverflow="ellipsis" vert="horz" wrap="square" anchor="ctr" anchorCtr="1"/>
            <a:lstStyle/>
            <a:p>
              <a:pPr>
                <a:defRPr sz="1200" b="0" i="0" u="none" strike="noStrike" kern="1200" baseline="0">
                  <a:solidFill>
                    <a:sysClr val="windowText" lastClr="000000"/>
                  </a:solidFill>
                  <a:latin typeface="+mn-lt"/>
                  <a:ea typeface="+mn-ea"/>
                  <a:cs typeface="+mn-cs"/>
                </a:defRPr>
              </a:pPr>
              <a:endParaRPr lang="ru-RU"/>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crossAx val="1065743775"/>
        <c:crosses val="autoZero"/>
        <c:crossBetween val="between"/>
        <c:majorUnit val="0.30000000000000004"/>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ru-RU"/>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pivotSource>
    <c:name>[07 19_45_4866b3ceec4682e5.52044134Задание1_Асмандияров_Раиль.xlsx]Задание 2!Сводная таблица2</c:name>
    <c:fmtId val="16"/>
  </c:pivotSource>
  <c:chart>
    <c:autoTitleDeleted val="1"/>
    <c:pivotFmts>
      <c:pivotFmt>
        <c:idx val="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'Задание 2'!$B$1:$B$2</c:f>
              <c:strCache>
                <c:ptCount val="1"/>
                <c:pt idx="0">
                  <c:v>1</c:v>
                </c:pt>
              </c:strCache>
            </c:strRef>
          </c:tx>
          <c:spPr>
            <a:ln w="28575" cap="rnd">
              <a:solidFill>
                <a:schemeClr val="accent1"/>
              </a:solidFill>
              <a:round/>
            </a:ln>
            <a:effectLst/>
          </c:spPr>
          <c:marker>
            <c:symbol val="none"/>
          </c:marker>
          <c:cat>
            <c:strRef>
              <c:f>'Задание 2'!$A$3:$A$7</c:f>
              <c:strCache>
                <c:ptCount val="4"/>
                <c:pt idx="0">
                  <c:v>01.сен</c:v>
                </c:pt>
                <c:pt idx="1">
                  <c:v>02.сен</c:v>
                </c:pt>
                <c:pt idx="2">
                  <c:v>03.сен</c:v>
                </c:pt>
                <c:pt idx="3">
                  <c:v>04.сен</c:v>
                </c:pt>
              </c:strCache>
            </c:strRef>
          </c:cat>
          <c:val>
            <c:numRef>
              <c:f>'Задание 2'!$B$3:$B$7</c:f>
              <c:numCache>
                <c:formatCode>General</c:formatCode>
                <c:ptCount val="4"/>
                <c:pt idx="0">
                  <c:v>1974</c:v>
                </c:pt>
                <c:pt idx="1">
                  <c:v>1980</c:v>
                </c:pt>
                <c:pt idx="2">
                  <c:v>1306</c:v>
                </c:pt>
                <c:pt idx="3">
                  <c:v>1329</c:v>
                </c:pt>
              </c:numCache>
            </c:numRef>
          </c:val>
          <c:smooth val="0"/>
          <c:extLst>
            <c:ext xmlns:c16="http://schemas.microsoft.com/office/drawing/2014/chart" uri="{C3380CC4-5D6E-409C-BE32-E72D297353CC}">
              <c16:uniqueId val="{00000000-DA6C-4409-B717-2272D0F0A0EE}"/>
            </c:ext>
          </c:extLst>
        </c:ser>
        <c:ser>
          <c:idx val="1"/>
          <c:order val="1"/>
          <c:tx>
            <c:strRef>
              <c:f>'Задание 2'!$C$1:$C$2</c:f>
              <c:strCache>
                <c:ptCount val="1"/>
                <c:pt idx="0">
                  <c:v>2</c:v>
                </c:pt>
              </c:strCache>
            </c:strRef>
          </c:tx>
          <c:spPr>
            <a:ln w="28575" cap="rnd">
              <a:solidFill>
                <a:schemeClr val="accent2"/>
              </a:solidFill>
              <a:round/>
            </a:ln>
            <a:effectLst/>
          </c:spPr>
          <c:marker>
            <c:symbol val="none"/>
          </c:marker>
          <c:cat>
            <c:strRef>
              <c:f>'Задание 2'!$A$3:$A$7</c:f>
              <c:strCache>
                <c:ptCount val="4"/>
                <c:pt idx="0">
                  <c:v>01.сен</c:v>
                </c:pt>
                <c:pt idx="1">
                  <c:v>02.сен</c:v>
                </c:pt>
                <c:pt idx="2">
                  <c:v>03.сен</c:v>
                </c:pt>
                <c:pt idx="3">
                  <c:v>04.сен</c:v>
                </c:pt>
              </c:strCache>
            </c:strRef>
          </c:cat>
          <c:val>
            <c:numRef>
              <c:f>'Задание 2'!$C$3:$C$7</c:f>
              <c:numCache>
                <c:formatCode>General</c:formatCode>
                <c:ptCount val="4"/>
                <c:pt idx="0">
                  <c:v>4467</c:v>
                </c:pt>
                <c:pt idx="1">
                  <c:v>4485</c:v>
                </c:pt>
                <c:pt idx="2">
                  <c:v>4272</c:v>
                </c:pt>
                <c:pt idx="3">
                  <c:v>4248</c:v>
                </c:pt>
              </c:numCache>
            </c:numRef>
          </c:val>
          <c:smooth val="0"/>
          <c:extLst>
            <c:ext xmlns:c16="http://schemas.microsoft.com/office/drawing/2014/chart" uri="{C3380CC4-5D6E-409C-BE32-E72D297353CC}">
              <c16:uniqueId val="{00000001-DA6C-4409-B717-2272D0F0A0EE}"/>
            </c:ext>
          </c:extLst>
        </c:ser>
        <c:ser>
          <c:idx val="2"/>
          <c:order val="2"/>
          <c:tx>
            <c:strRef>
              <c:f>'Задание 2'!$D$1:$D$2</c:f>
              <c:strCache>
                <c:ptCount val="1"/>
                <c:pt idx="0">
                  <c:v>3</c:v>
                </c:pt>
              </c:strCache>
            </c:strRef>
          </c:tx>
          <c:spPr>
            <a:ln w="28575" cap="rnd">
              <a:solidFill>
                <a:schemeClr val="accent3"/>
              </a:solidFill>
              <a:round/>
            </a:ln>
            <a:effectLst/>
          </c:spPr>
          <c:marker>
            <c:symbol val="none"/>
          </c:marker>
          <c:cat>
            <c:strRef>
              <c:f>'Задание 2'!$A$3:$A$7</c:f>
              <c:strCache>
                <c:ptCount val="4"/>
                <c:pt idx="0">
                  <c:v>01.сен</c:v>
                </c:pt>
                <c:pt idx="1">
                  <c:v>02.сен</c:v>
                </c:pt>
                <c:pt idx="2">
                  <c:v>03.сен</c:v>
                </c:pt>
                <c:pt idx="3">
                  <c:v>04.сен</c:v>
                </c:pt>
              </c:strCache>
            </c:strRef>
          </c:cat>
          <c:val>
            <c:numRef>
              <c:f>'Задание 2'!$D$3:$D$7</c:f>
              <c:numCache>
                <c:formatCode>General</c:formatCode>
                <c:ptCount val="4"/>
                <c:pt idx="0">
                  <c:v>1408</c:v>
                </c:pt>
                <c:pt idx="1">
                  <c:v>1482</c:v>
                </c:pt>
                <c:pt idx="2">
                  <c:v>3211</c:v>
                </c:pt>
                <c:pt idx="3">
                  <c:v>4498</c:v>
                </c:pt>
              </c:numCache>
            </c:numRef>
          </c:val>
          <c:smooth val="0"/>
          <c:extLst>
            <c:ext xmlns:c16="http://schemas.microsoft.com/office/drawing/2014/chart" uri="{C3380CC4-5D6E-409C-BE32-E72D297353CC}">
              <c16:uniqueId val="{00000002-DA6C-4409-B717-2272D0F0A0EE}"/>
            </c:ext>
          </c:extLst>
        </c:ser>
        <c:dLbls>
          <c:showLegendKey val="0"/>
          <c:showVal val="0"/>
          <c:showCatName val="0"/>
          <c:showSerName val="0"/>
          <c:showPercent val="0"/>
          <c:showBubbleSize val="0"/>
        </c:dLbls>
        <c:smooth val="0"/>
        <c:axId val="1489036143"/>
        <c:axId val="1489039983"/>
      </c:lineChart>
      <c:catAx>
        <c:axId val="1489036143"/>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r>
                  <a:rPr lang="ru-RU" sz="1200">
                    <a:solidFill>
                      <a:schemeClr val="tx1"/>
                    </a:solidFill>
                  </a:rPr>
                  <a:t>Дата</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ru-RU"/>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crossAx val="1489039983"/>
        <c:crosses val="autoZero"/>
        <c:auto val="1"/>
        <c:lblAlgn val="ctr"/>
        <c:lblOffset val="100"/>
        <c:noMultiLvlLbl val="0"/>
      </c:catAx>
      <c:valAx>
        <c:axId val="1489039983"/>
        <c:scaling>
          <c:orientation val="minMax"/>
          <c:min val="100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lgn="ctr">
                  <a:defRPr sz="1200" b="0" i="0" u="none" strike="noStrike" kern="1200" baseline="0">
                    <a:solidFill>
                      <a:schemeClr val="tx1">
                        <a:lumMod val="65000"/>
                        <a:lumOff val="35000"/>
                      </a:schemeClr>
                    </a:solidFill>
                    <a:latin typeface="+mn-lt"/>
                    <a:ea typeface="+mn-ea"/>
                    <a:cs typeface="+mn-cs"/>
                  </a:defRPr>
                </a:pPr>
                <a:r>
                  <a:rPr lang="ru-RU" sz="1200" b="0" i="0" u="none" strike="noStrike" kern="1200" baseline="0" dirty="0">
                    <a:solidFill>
                      <a:schemeClr val="tx1"/>
                    </a:solidFill>
                  </a:rPr>
                  <a:t>Количество транзакций</a:t>
                </a:r>
              </a:p>
            </c:rich>
          </c:tx>
          <c:layout>
            <c:manualLayout>
              <c:xMode val="edge"/>
              <c:yMode val="edge"/>
              <c:x val="9.3802529106164505E-4"/>
              <c:y val="9.9637254868526204E-2"/>
            </c:manualLayout>
          </c:layout>
          <c:overlay val="0"/>
          <c:spPr>
            <a:noFill/>
            <a:ln>
              <a:noFill/>
            </a:ln>
            <a:effectLst/>
          </c:spPr>
          <c:txPr>
            <a:bodyPr rot="-5400000" spcFirstLastPara="1" vertOverflow="ellipsis" vert="horz" wrap="square" anchor="ctr" anchorCtr="1"/>
            <a:lstStyle/>
            <a:p>
              <a:pPr algn="ctr">
                <a:defRPr sz="1200" b="0" i="0" u="none" strike="noStrike" kern="1200" baseline="0">
                  <a:solidFill>
                    <a:schemeClr val="tx1">
                      <a:lumMod val="65000"/>
                      <a:lumOff val="35000"/>
                    </a:schemeClr>
                  </a:solidFill>
                  <a:latin typeface="+mn-lt"/>
                  <a:ea typeface="+mn-ea"/>
                  <a:cs typeface="+mn-cs"/>
                </a:defRPr>
              </a:pPr>
              <a:endParaRPr lang="ru-RU"/>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crossAx val="1489036143"/>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ru-RU"/>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pivotSource>
    <c:name>[07 19_45_4866b3ceec4682e5.52044134Задание1_Асмандияров_Раиль.xlsx]Задание 2!Сводная таблица3</c:name>
    <c:fmtId val="18"/>
  </c:pivotSource>
  <c:chart>
    <c:autoTitleDeleted val="1"/>
    <c:pivotFmts>
      <c:pivotFmt>
        <c:idx val="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'Задание 2'!$K$1:$K$2</c:f>
              <c:strCache>
                <c:ptCount val="1"/>
                <c:pt idx="0">
                  <c:v>1</c:v>
                </c:pt>
              </c:strCache>
            </c:strRef>
          </c:tx>
          <c:spPr>
            <a:ln w="28575" cap="rnd">
              <a:solidFill>
                <a:schemeClr val="accent1"/>
              </a:solidFill>
              <a:round/>
            </a:ln>
            <a:effectLst/>
          </c:spPr>
          <c:marker>
            <c:symbol val="none"/>
          </c:marker>
          <c:cat>
            <c:strRef>
              <c:f>'Задание 2'!$J$3:$J$7</c:f>
              <c:strCache>
                <c:ptCount val="4"/>
                <c:pt idx="0">
                  <c:v>01.сен</c:v>
                </c:pt>
                <c:pt idx="1">
                  <c:v>02.сен</c:v>
                </c:pt>
                <c:pt idx="2">
                  <c:v>03.сен</c:v>
                </c:pt>
                <c:pt idx="3">
                  <c:v>04.сен</c:v>
                </c:pt>
              </c:strCache>
            </c:strRef>
          </c:cat>
          <c:val>
            <c:numRef>
              <c:f>'Задание 2'!$K$3:$K$7</c:f>
              <c:numCache>
                <c:formatCode>General</c:formatCode>
                <c:ptCount val="4"/>
                <c:pt idx="0">
                  <c:v>1974</c:v>
                </c:pt>
                <c:pt idx="1">
                  <c:v>1980</c:v>
                </c:pt>
                <c:pt idx="2">
                  <c:v>2694</c:v>
                </c:pt>
                <c:pt idx="3">
                  <c:v>2655</c:v>
                </c:pt>
              </c:numCache>
            </c:numRef>
          </c:val>
          <c:smooth val="0"/>
          <c:extLst>
            <c:ext xmlns:c16="http://schemas.microsoft.com/office/drawing/2014/chart" uri="{C3380CC4-5D6E-409C-BE32-E72D297353CC}">
              <c16:uniqueId val="{00000000-A3C3-467F-8861-6600F6C5BB9F}"/>
            </c:ext>
          </c:extLst>
        </c:ser>
        <c:ser>
          <c:idx val="1"/>
          <c:order val="1"/>
          <c:tx>
            <c:strRef>
              <c:f>'Задание 2'!$L$1:$L$2</c:f>
              <c:strCache>
                <c:ptCount val="1"/>
                <c:pt idx="0">
                  <c:v>2</c:v>
                </c:pt>
              </c:strCache>
            </c:strRef>
          </c:tx>
          <c:spPr>
            <a:ln w="28575" cap="rnd">
              <a:solidFill>
                <a:schemeClr val="accent2"/>
              </a:solidFill>
              <a:round/>
            </a:ln>
            <a:effectLst/>
          </c:spPr>
          <c:marker>
            <c:symbol val="none"/>
          </c:marker>
          <c:cat>
            <c:strRef>
              <c:f>'Задание 2'!$J$3:$J$7</c:f>
              <c:strCache>
                <c:ptCount val="4"/>
                <c:pt idx="0">
                  <c:v>01.сен</c:v>
                </c:pt>
                <c:pt idx="1">
                  <c:v>02.сен</c:v>
                </c:pt>
                <c:pt idx="2">
                  <c:v>03.сен</c:v>
                </c:pt>
                <c:pt idx="3">
                  <c:v>04.сен</c:v>
                </c:pt>
              </c:strCache>
            </c:strRef>
          </c:cat>
          <c:val>
            <c:numRef>
              <c:f>'Задание 2'!$L$3:$L$7</c:f>
              <c:numCache>
                <c:formatCode>General</c:formatCode>
                <c:ptCount val="4"/>
                <c:pt idx="0">
                  <c:v>4467</c:v>
                </c:pt>
                <c:pt idx="1">
                  <c:v>4485</c:v>
                </c:pt>
                <c:pt idx="2">
                  <c:v>4272</c:v>
                </c:pt>
                <c:pt idx="3">
                  <c:v>4248</c:v>
                </c:pt>
              </c:numCache>
            </c:numRef>
          </c:val>
          <c:smooth val="0"/>
          <c:extLst>
            <c:ext xmlns:c16="http://schemas.microsoft.com/office/drawing/2014/chart" uri="{C3380CC4-5D6E-409C-BE32-E72D297353CC}">
              <c16:uniqueId val="{00000001-A3C3-467F-8861-6600F6C5BB9F}"/>
            </c:ext>
          </c:extLst>
        </c:ser>
        <c:ser>
          <c:idx val="2"/>
          <c:order val="2"/>
          <c:tx>
            <c:strRef>
              <c:f>'Задание 2'!$M$1:$M$2</c:f>
              <c:strCache>
                <c:ptCount val="1"/>
                <c:pt idx="0">
                  <c:v>3</c:v>
                </c:pt>
              </c:strCache>
            </c:strRef>
          </c:tx>
          <c:spPr>
            <a:ln w="28575" cap="rnd">
              <a:solidFill>
                <a:schemeClr val="accent3"/>
              </a:solidFill>
              <a:round/>
            </a:ln>
            <a:effectLst/>
          </c:spPr>
          <c:marker>
            <c:symbol val="none"/>
          </c:marker>
          <c:cat>
            <c:strRef>
              <c:f>'Задание 2'!$J$3:$J$7</c:f>
              <c:strCache>
                <c:ptCount val="4"/>
                <c:pt idx="0">
                  <c:v>01.сен</c:v>
                </c:pt>
                <c:pt idx="1">
                  <c:v>02.сен</c:v>
                </c:pt>
                <c:pt idx="2">
                  <c:v>03.сен</c:v>
                </c:pt>
                <c:pt idx="3">
                  <c:v>04.сен</c:v>
                </c:pt>
              </c:strCache>
            </c:strRef>
          </c:cat>
          <c:val>
            <c:numRef>
              <c:f>'Задание 2'!$M$3:$M$7</c:f>
              <c:numCache>
                <c:formatCode>General</c:formatCode>
                <c:ptCount val="4"/>
                <c:pt idx="0">
                  <c:v>1408</c:v>
                </c:pt>
                <c:pt idx="1">
                  <c:v>1482</c:v>
                </c:pt>
                <c:pt idx="2">
                  <c:v>1823</c:v>
                </c:pt>
                <c:pt idx="3">
                  <c:v>3172</c:v>
                </c:pt>
              </c:numCache>
            </c:numRef>
          </c:val>
          <c:smooth val="0"/>
          <c:extLst>
            <c:ext xmlns:c16="http://schemas.microsoft.com/office/drawing/2014/chart" uri="{C3380CC4-5D6E-409C-BE32-E72D297353CC}">
              <c16:uniqueId val="{00000002-A3C3-467F-8861-6600F6C5BB9F}"/>
            </c:ext>
          </c:extLst>
        </c:ser>
        <c:dLbls>
          <c:showLegendKey val="0"/>
          <c:showVal val="0"/>
          <c:showCatName val="0"/>
          <c:showSerName val="0"/>
          <c:showPercent val="0"/>
          <c:showBubbleSize val="0"/>
        </c:dLbls>
        <c:smooth val="0"/>
        <c:axId val="1489043823"/>
        <c:axId val="1489040463"/>
      </c:lineChart>
      <c:catAx>
        <c:axId val="1489043823"/>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ru-RU" sz="1200" b="0" i="0" u="none" strike="noStrike" kern="1200" baseline="0">
                    <a:solidFill>
                      <a:sysClr val="windowText" lastClr="000000">
                        <a:lumMod val="65000"/>
                        <a:lumOff val="35000"/>
                      </a:sysClr>
                    </a:solidFill>
                  </a:rPr>
                  <a:t>Дата</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ru-RU"/>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crossAx val="1489040463"/>
        <c:crosses val="autoZero"/>
        <c:auto val="1"/>
        <c:lblAlgn val="ctr"/>
        <c:lblOffset val="100"/>
        <c:noMultiLvlLbl val="0"/>
      </c:catAx>
      <c:valAx>
        <c:axId val="1489040463"/>
        <c:scaling>
          <c:orientation val="minMax"/>
          <c:min val="100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r>
                  <a:rPr lang="ru-RU" sz="1200" b="0" i="0" u="none" strike="noStrike" kern="1200" baseline="0">
                    <a:solidFill>
                      <a:schemeClr val="tx1"/>
                    </a:solidFill>
                  </a:rPr>
                  <a:t>Количество транзакций</a:t>
                </a:r>
              </a:p>
            </c:rich>
          </c:tx>
          <c:layout>
            <c:manualLayout>
              <c:xMode val="edge"/>
              <c:yMode val="edge"/>
              <c:x val="2.3428246409937912E-4"/>
              <c:y val="0.10587908546501824"/>
            </c:manualLayout>
          </c:layout>
          <c:overlay val="0"/>
          <c:spPr>
            <a:noFill/>
            <a:ln>
              <a:noFill/>
            </a:ln>
            <a:effectLst/>
          </c:spPr>
          <c:txPr>
            <a:bodyPr rot="-54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ru-RU"/>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crossAx val="1489043823"/>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ru-RU"/>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'Задание 2'!$O$2</c:f>
              <c:strCache>
                <c:ptCount val="1"/>
                <c:pt idx="0">
                  <c:v>1</c:v>
                </c:pt>
              </c:strCache>
            </c:strRef>
          </c:tx>
          <c:spPr>
            <a:ln w="28575" cap="rnd">
              <a:solidFill>
                <a:schemeClr val="accent1"/>
              </a:solidFill>
              <a:round/>
            </a:ln>
            <a:effectLst/>
          </c:spPr>
          <c:marker>
            <c:symbol val="none"/>
          </c:marker>
          <c:val>
            <c:numRef>
              <c:f>'Задание 2'!$O$4:$O$6</c:f>
              <c:numCache>
                <c:formatCode>0%</c:formatCode>
                <c:ptCount val="3"/>
                <c:pt idx="0">
                  <c:v>1.0030395136778116</c:v>
                </c:pt>
                <c:pt idx="1">
                  <c:v>1.3606060606060606</c:v>
                </c:pt>
                <c:pt idx="2">
                  <c:v>0.98552338530066819</c:v>
                </c:pt>
              </c:numCache>
            </c:numRef>
          </c:val>
          <c:smooth val="0"/>
          <c:extLst>
            <c:ext xmlns:c16="http://schemas.microsoft.com/office/drawing/2014/chart" uri="{C3380CC4-5D6E-409C-BE32-E72D297353CC}">
              <c16:uniqueId val="{00000000-BC21-4088-9540-BF4234D28E66}"/>
            </c:ext>
          </c:extLst>
        </c:ser>
        <c:ser>
          <c:idx val="1"/>
          <c:order val="1"/>
          <c:tx>
            <c:strRef>
              <c:f>'Задание 2'!$P$2</c:f>
              <c:strCache>
                <c:ptCount val="1"/>
                <c:pt idx="0">
                  <c:v>2</c:v>
                </c:pt>
              </c:strCache>
            </c:strRef>
          </c:tx>
          <c:spPr>
            <a:ln w="28575" cap="rnd">
              <a:solidFill>
                <a:schemeClr val="accent2"/>
              </a:solidFill>
              <a:round/>
            </a:ln>
            <a:effectLst/>
          </c:spPr>
          <c:marker>
            <c:symbol val="none"/>
          </c:marker>
          <c:val>
            <c:numRef>
              <c:f>'Задание 2'!$P$4:$P$6</c:f>
              <c:numCache>
                <c:formatCode>0%</c:formatCode>
                <c:ptCount val="3"/>
                <c:pt idx="0">
                  <c:v>1.0040295500335796</c:v>
                </c:pt>
                <c:pt idx="1">
                  <c:v>0.95250836120401339</c:v>
                </c:pt>
                <c:pt idx="2">
                  <c:v>0.9943820224719101</c:v>
                </c:pt>
              </c:numCache>
            </c:numRef>
          </c:val>
          <c:smooth val="0"/>
          <c:extLst>
            <c:ext xmlns:c16="http://schemas.microsoft.com/office/drawing/2014/chart" uri="{C3380CC4-5D6E-409C-BE32-E72D297353CC}">
              <c16:uniqueId val="{00000001-BC21-4088-9540-BF4234D28E66}"/>
            </c:ext>
          </c:extLst>
        </c:ser>
        <c:ser>
          <c:idx val="2"/>
          <c:order val="2"/>
          <c:tx>
            <c:strRef>
              <c:f>'Задание 2'!$Q$2</c:f>
              <c:strCache>
                <c:ptCount val="1"/>
                <c:pt idx="0">
                  <c:v>3</c:v>
                </c:pt>
              </c:strCache>
            </c:strRef>
          </c:tx>
          <c:spPr>
            <a:ln w="28575" cap="rnd">
              <a:solidFill>
                <a:schemeClr val="accent3"/>
              </a:solidFill>
              <a:round/>
            </a:ln>
            <a:effectLst/>
          </c:spPr>
          <c:marker>
            <c:symbol val="none"/>
          </c:marker>
          <c:val>
            <c:numRef>
              <c:f>'Задание 2'!$Q$4:$Q$6</c:f>
              <c:numCache>
                <c:formatCode>0%</c:formatCode>
                <c:ptCount val="3"/>
                <c:pt idx="0">
                  <c:v>1.0525568181818181</c:v>
                </c:pt>
                <c:pt idx="1">
                  <c:v>1.2300944669365721</c:v>
                </c:pt>
                <c:pt idx="2">
                  <c:v>1.7399890290729567</c:v>
                </c:pt>
              </c:numCache>
            </c:numRef>
          </c:val>
          <c:smooth val="0"/>
          <c:extLst>
            <c:ext xmlns:c16="http://schemas.microsoft.com/office/drawing/2014/chart" uri="{C3380CC4-5D6E-409C-BE32-E72D297353CC}">
              <c16:uniqueId val="{00000002-BC21-4088-9540-BF4234D28E66}"/>
            </c:ext>
          </c:extLst>
        </c:ser>
        <c:dLbls>
          <c:showLegendKey val="0"/>
          <c:showVal val="0"/>
          <c:showCatName val="0"/>
          <c:showSerName val="0"/>
          <c:showPercent val="0"/>
          <c:showBubbleSize val="0"/>
        </c:dLbls>
        <c:smooth val="0"/>
        <c:axId val="1062012543"/>
        <c:axId val="1065746175"/>
      </c:lineChart>
      <c:catAx>
        <c:axId val="1062012543"/>
        <c:scaling>
          <c:orientation val="minMax"/>
        </c:scaling>
        <c:delete val="1"/>
        <c:axPos val="b"/>
        <c:majorTickMark val="none"/>
        <c:minorTickMark val="none"/>
        <c:tickLblPos val="nextTo"/>
        <c:crossAx val="1065746175"/>
        <c:crosses val="autoZero"/>
        <c:auto val="1"/>
        <c:lblAlgn val="ctr"/>
        <c:lblOffset val="100"/>
        <c:noMultiLvlLbl val="0"/>
      </c:catAx>
      <c:valAx>
        <c:axId val="1065746175"/>
        <c:scaling>
          <c:orientation val="minMax"/>
          <c:max val="2.2999999999999998"/>
          <c:min val="0.60000000000000009"/>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ru-RU" sz="1200" b="0" i="0" u="none" strike="noStrike" kern="1200" baseline="0">
                    <a:solidFill>
                      <a:sysClr val="windowText" lastClr="000000"/>
                    </a:solidFill>
                  </a:rPr>
                  <a:t>Процент роста</a:t>
                </a:r>
              </a:p>
            </c:rich>
          </c:tx>
          <c:layout>
            <c:manualLayout>
              <c:xMode val="edge"/>
              <c:yMode val="edge"/>
              <c:x val="2.2944614230574947E-3"/>
              <c:y val="0.22949635165927532"/>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ru-RU"/>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crossAx val="1062012543"/>
        <c:crosses val="autoZero"/>
        <c:crossBetween val="between"/>
        <c:majorUnit val="0.30000000000000004"/>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ru-RU"/>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pivotSource>
    <c:name>[09 08_24_0966b5d229800076.83554415Задание2_Асмандияров_Раиль (1).xlsx]Задание 3!Сводная таблица4</c:name>
    <c:fmtId val="8"/>
  </c:pivotSource>
  <c:chart>
    <c:autoTitleDeleted val="1"/>
    <c:pivotFmts>
      <c:pivotFmt>
        <c:idx val="0"/>
        <c:spPr>
          <a:solidFill>
            <a:schemeClr val="accent1"/>
          </a:solidFill>
          <a:ln>
            <a:noFill/>
          </a:ln>
          <a:effectLst/>
        </c:spPr>
        <c:marker>
          <c:symbol val="none"/>
        </c:marker>
        <c:dLbl>
          <c:idx val="0"/>
          <c:spPr>
            <a:solidFill>
              <a:schemeClr val="bg1">
                <a:alpha val="62000"/>
              </a:schemeClr>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numFmt formatCode="General" sourceLinked="0"/>
          <c:spPr>
            <a:solidFill>
              <a:schemeClr val="bg1">
                <a:alpha val="61000"/>
              </a:schemeClr>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0172405624693388"/>
          <c:y val="5.8084310361474684E-2"/>
          <c:w val="0.7630591672852125"/>
          <c:h val="0.7784283465797962"/>
        </c:manualLayout>
      </c:layout>
      <c:barChart>
        <c:barDir val="col"/>
        <c:grouping val="percentStacked"/>
        <c:varyColors val="0"/>
        <c:ser>
          <c:idx val="0"/>
          <c:order val="0"/>
          <c:tx>
            <c:strRef>
              <c:f>'Задание 3'!$B$1:$B$2</c:f>
              <c:strCache>
                <c:ptCount val="1"/>
                <c:pt idx="0">
                  <c:v>С кассиром</c:v>
                </c:pt>
              </c:strCache>
            </c:strRef>
          </c:tx>
          <c:spPr>
            <a:solidFill>
              <a:schemeClr val="accent1"/>
            </a:solidFill>
            <a:ln>
              <a:noFill/>
            </a:ln>
            <a:effectLst/>
          </c:spPr>
          <c:invertIfNegative val="0"/>
          <c:cat>
            <c:strRef>
              <c:f>'Задание 3'!$A$3:$A$9</c:f>
              <c:strCache>
                <c:ptCount val="6"/>
                <c:pt idx="0">
                  <c:v>Ленинский пр-т, 162/1</c:v>
                </c:pt>
                <c:pt idx="1">
                  <c:v>пр-т Вернадского, 88к3</c:v>
                </c:pt>
                <c:pt idx="2">
                  <c:v>Ракетный б-р, 14к1</c:v>
                </c:pt>
                <c:pt idx="3">
                  <c:v>Симферопольский б-р, 22</c:v>
                </c:pt>
                <c:pt idx="4">
                  <c:v>ул. Чертановская,  20к2</c:v>
                </c:pt>
                <c:pt idx="5">
                  <c:v>ул. Щорса, 26/3</c:v>
                </c:pt>
              </c:strCache>
            </c:strRef>
          </c:cat>
          <c:val>
            <c:numRef>
              <c:f>'Задание 3'!$B$3:$B$9</c:f>
              <c:numCache>
                <c:formatCode>General</c:formatCode>
                <c:ptCount val="6"/>
                <c:pt idx="0">
                  <c:v>9456</c:v>
                </c:pt>
                <c:pt idx="1">
                  <c:v>4868</c:v>
                </c:pt>
                <c:pt idx="2">
                  <c:v>5604</c:v>
                </c:pt>
                <c:pt idx="3">
                  <c:v>455</c:v>
                </c:pt>
                <c:pt idx="4">
                  <c:v>1255</c:v>
                </c:pt>
                <c:pt idx="5">
                  <c:v>3112</c:v>
                </c:pt>
              </c:numCache>
            </c:numRef>
          </c:val>
          <c:extLst>
            <c:ext xmlns:c16="http://schemas.microsoft.com/office/drawing/2014/chart" uri="{C3380CC4-5D6E-409C-BE32-E72D297353CC}">
              <c16:uniqueId val="{00000000-1CC8-4F66-BB85-894B0390CA81}"/>
            </c:ext>
          </c:extLst>
        </c:ser>
        <c:ser>
          <c:idx val="1"/>
          <c:order val="1"/>
          <c:tx>
            <c:strRef>
              <c:f>'Задание 3'!$C$1:$C$2</c:f>
              <c:strCache>
                <c:ptCount val="1"/>
                <c:pt idx="0">
                  <c:v>Самообслуживание</c:v>
                </c:pt>
              </c:strCache>
            </c:strRef>
          </c:tx>
          <c:spPr>
            <a:solidFill>
              <a:schemeClr val="accent2"/>
            </a:solidFill>
            <a:ln>
              <a:noFill/>
            </a:ln>
            <a:effectLst/>
          </c:spPr>
          <c:invertIfNegative val="0"/>
          <c:cat>
            <c:strRef>
              <c:f>'Задание 3'!$A$3:$A$9</c:f>
              <c:strCache>
                <c:ptCount val="6"/>
                <c:pt idx="0">
                  <c:v>Ленинский пр-т, 162/1</c:v>
                </c:pt>
                <c:pt idx="1">
                  <c:v>пр-т Вернадского, 88к3</c:v>
                </c:pt>
                <c:pt idx="2">
                  <c:v>Ракетный б-р, 14к1</c:v>
                </c:pt>
                <c:pt idx="3">
                  <c:v>Симферопольский б-р, 22</c:v>
                </c:pt>
                <c:pt idx="4">
                  <c:v>ул. Чертановская,  20к2</c:v>
                </c:pt>
                <c:pt idx="5">
                  <c:v>ул. Щорса, 26/3</c:v>
                </c:pt>
              </c:strCache>
            </c:strRef>
          </c:cat>
          <c:val>
            <c:numRef>
              <c:f>'Задание 3'!$C$3:$C$9</c:f>
              <c:numCache>
                <c:formatCode>General</c:formatCode>
                <c:ptCount val="6"/>
                <c:pt idx="0">
                  <c:v>1387</c:v>
                </c:pt>
                <c:pt idx="1">
                  <c:v>1761</c:v>
                </c:pt>
                <c:pt idx="3">
                  <c:v>1830</c:v>
                </c:pt>
                <c:pt idx="4">
                  <c:v>3740</c:v>
                </c:pt>
                <c:pt idx="5">
                  <c:v>1192</c:v>
                </c:pt>
              </c:numCache>
            </c:numRef>
          </c:val>
          <c:extLst>
            <c:ext xmlns:c16="http://schemas.microsoft.com/office/drawing/2014/chart" uri="{C3380CC4-5D6E-409C-BE32-E72D297353CC}">
              <c16:uniqueId val="{00000001-1CC8-4F66-BB85-894B0390CA81}"/>
            </c:ext>
          </c:extLst>
        </c:ser>
        <c:dLbls>
          <c:showLegendKey val="0"/>
          <c:showVal val="0"/>
          <c:showCatName val="0"/>
          <c:showSerName val="0"/>
          <c:showPercent val="0"/>
          <c:showBubbleSize val="0"/>
        </c:dLbls>
        <c:gapWidth val="150"/>
        <c:overlap val="100"/>
        <c:axId val="1071437151"/>
        <c:axId val="1071438591"/>
      </c:barChart>
      <c:catAx>
        <c:axId val="1071437151"/>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ru-RU" sz="1200">
                    <a:solidFill>
                      <a:sysClr val="windowText" lastClr="000000"/>
                    </a:solidFill>
                  </a:rPr>
                  <a:t>Торговые точки</a:t>
                </a:r>
              </a:p>
            </c:rich>
          </c:tx>
          <c:layout>
            <c:manualLayout>
              <c:xMode val="edge"/>
              <c:yMode val="edge"/>
              <c:x val="0.43005131671613384"/>
              <c:y val="0.90949292458091735"/>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ru-RU"/>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crossAx val="1071438591"/>
        <c:crosses val="autoZero"/>
        <c:auto val="1"/>
        <c:lblAlgn val="ctr"/>
        <c:lblOffset val="100"/>
        <c:noMultiLvlLbl val="0"/>
      </c:catAx>
      <c:valAx>
        <c:axId val="1071438591"/>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r>
                  <a:rPr lang="ru-RU" sz="1200">
                    <a:solidFill>
                      <a:sysClr val="windowText" lastClr="000000"/>
                    </a:solidFill>
                  </a:rPr>
                  <a:t>%</a:t>
                </a:r>
                <a:r>
                  <a:rPr lang="ru-RU" sz="1200" baseline="0">
                    <a:solidFill>
                      <a:sysClr val="windowText" lastClr="000000"/>
                    </a:solidFill>
                  </a:rPr>
                  <a:t> транзакций по самообслуживанию</a:t>
                </a:r>
                <a:endParaRPr lang="ru-RU" sz="1200">
                  <a:solidFill>
                    <a:sysClr val="windowText" lastClr="000000"/>
                  </a:solidFill>
                </a:endParaRPr>
              </a:p>
            </c:rich>
          </c:tx>
          <c:layout>
            <c:manualLayout>
              <c:xMode val="edge"/>
              <c:yMode val="edge"/>
              <c:x val="1.7778700347223394E-2"/>
              <c:y val="0.20225138409221563"/>
            </c:manualLayout>
          </c:layout>
          <c:overlay val="0"/>
          <c:spPr>
            <a:noFill/>
            <a:ln>
              <a:noFill/>
            </a:ln>
            <a:effectLst/>
          </c:spPr>
          <c:txPr>
            <a:bodyPr rot="-54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ru-RU"/>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crossAx val="1071437151"/>
        <c:crosses val="autoZero"/>
        <c:crossBetween val="between"/>
      </c:valAx>
      <c:spPr>
        <a:noFill/>
        <a:ln>
          <a:noFill/>
        </a:ln>
        <a:effectLst/>
      </c:spPr>
    </c:plotArea>
    <c:legend>
      <c:legendPos val="r"/>
      <c:layout>
        <c:manualLayout>
          <c:xMode val="edge"/>
          <c:yMode val="edge"/>
          <c:x val="0.86972523502929344"/>
          <c:y val="0.48678551331389541"/>
          <c:w val="0.11519616330719247"/>
          <c:h val="7.6497943738955951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ru-RU"/>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pivotSource>
    <c:name>[07 19_45_4866b3ceec4682e5.52044134Задание1_Асмандияров_Раиль.xlsx]Задание 3!Сводная таблица5</c:name>
    <c:fmtId val="6"/>
  </c:pivotSource>
  <c:chart>
    <c:autoTitleDeleted val="1"/>
    <c:pivotFmts>
      <c:pivotFmt>
        <c:idx val="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'Задание 3'!$B$26</c:f>
              <c:strCache>
                <c:ptCount val="1"/>
                <c:pt idx="0">
                  <c:v>Итог</c:v>
                </c:pt>
              </c:strCache>
            </c:strRef>
          </c:tx>
          <c:spPr>
            <a:ln w="28575" cap="rnd">
              <a:solidFill>
                <a:schemeClr val="accent1"/>
              </a:solidFill>
              <a:round/>
            </a:ln>
            <a:effectLst/>
          </c:spPr>
          <c:marker>
            <c:symbol val="none"/>
          </c:marker>
          <c:cat>
            <c:strRef>
              <c:f>'Задание 3'!$A$27:$A$31</c:f>
              <c:strCache>
                <c:ptCount val="4"/>
                <c:pt idx="0">
                  <c:v>1-сен</c:v>
                </c:pt>
                <c:pt idx="1">
                  <c:v>2-сен</c:v>
                </c:pt>
                <c:pt idx="2">
                  <c:v>3-сен</c:v>
                </c:pt>
                <c:pt idx="3">
                  <c:v>4-сен</c:v>
                </c:pt>
              </c:strCache>
            </c:strRef>
          </c:cat>
          <c:val>
            <c:numRef>
              <c:f>'Задание 3'!$B$27:$B$31</c:f>
              <c:numCache>
                <c:formatCode>0.00</c:formatCode>
                <c:ptCount val="4"/>
                <c:pt idx="0">
                  <c:v>0.23085743406803413</c:v>
                </c:pt>
                <c:pt idx="1">
                  <c:v>0.22876557191392979</c:v>
                </c:pt>
                <c:pt idx="2">
                  <c:v>0.30071680509728071</c:v>
                </c:pt>
                <c:pt idx="3">
                  <c:v>0.36099255583126549</c:v>
                </c:pt>
              </c:numCache>
            </c:numRef>
          </c:val>
          <c:smooth val="0"/>
          <c:extLst>
            <c:ext xmlns:c16="http://schemas.microsoft.com/office/drawing/2014/chart" uri="{C3380CC4-5D6E-409C-BE32-E72D297353CC}">
              <c16:uniqueId val="{00000000-4BA2-426E-86F3-43FBF2D6EC25}"/>
            </c:ext>
          </c:extLst>
        </c:ser>
        <c:dLbls>
          <c:showLegendKey val="0"/>
          <c:showVal val="0"/>
          <c:showCatName val="0"/>
          <c:showSerName val="0"/>
          <c:showPercent val="0"/>
          <c:showBubbleSize val="0"/>
        </c:dLbls>
        <c:smooth val="0"/>
        <c:axId val="1682889247"/>
        <c:axId val="1682887807"/>
      </c:lineChart>
      <c:catAx>
        <c:axId val="1682889247"/>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ru-RU" sz="1100" b="0" i="0" u="none" strike="noStrike" kern="1200" baseline="0">
                    <a:solidFill>
                      <a:sysClr val="windowText" lastClr="000000"/>
                    </a:solidFill>
                  </a:rPr>
                  <a:t>Дата</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ru-RU"/>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crossAx val="1682887807"/>
        <c:crosses val="autoZero"/>
        <c:auto val="1"/>
        <c:lblAlgn val="ctr"/>
        <c:lblOffset val="100"/>
        <c:noMultiLvlLbl val="0"/>
      </c:catAx>
      <c:valAx>
        <c:axId val="1682887807"/>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r>
                  <a:rPr lang="ru-RU" sz="1200">
                    <a:solidFill>
                      <a:sysClr val="windowText" lastClr="000000"/>
                    </a:solidFill>
                  </a:rPr>
                  <a:t>Доля транзакций </a:t>
                </a:r>
              </a:p>
            </c:rich>
          </c:tx>
          <c:layout>
            <c:manualLayout>
              <c:xMode val="edge"/>
              <c:yMode val="edge"/>
              <c:x val="2.2972820440094119E-3"/>
              <c:y val="0.3451301527580834"/>
            </c:manualLayout>
          </c:layout>
          <c:overlay val="0"/>
          <c:spPr>
            <a:noFill/>
            <a:ln>
              <a:noFill/>
            </a:ln>
            <a:effectLst/>
          </c:spPr>
          <c:txPr>
            <a:bodyPr rot="-54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ru-RU"/>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crossAx val="168288924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ru-RU"/>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pivotSource>
    <c:name>[07 19_45_4866b3ceec4682e5.52044134Задание1_Асмандияров_Раиль.xlsx]Задание 3!Сводная таблица7</c:name>
    <c:fmtId val="8"/>
  </c:pivotSource>
  <c:chart>
    <c:autoTitleDeleted val="1"/>
    <c:pivotFmts>
      <c:pivotFmt>
        <c:idx val="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'Задание 3'!$B$15</c:f>
              <c:strCache>
                <c:ptCount val="1"/>
                <c:pt idx="0">
                  <c:v>Итог</c:v>
                </c:pt>
              </c:strCache>
            </c:strRef>
          </c:tx>
          <c:spPr>
            <a:ln w="28575" cap="rnd">
              <a:solidFill>
                <a:schemeClr val="accent1"/>
              </a:solidFill>
              <a:round/>
            </a:ln>
            <a:effectLst/>
          </c:spPr>
          <c:marker>
            <c:symbol val="none"/>
          </c:marker>
          <c:cat>
            <c:strRef>
              <c:f>'Задание 3'!$A$16:$A$20</c:f>
              <c:strCache>
                <c:ptCount val="4"/>
                <c:pt idx="0">
                  <c:v>1-сен</c:v>
                </c:pt>
                <c:pt idx="1">
                  <c:v>2-сен</c:v>
                </c:pt>
                <c:pt idx="2">
                  <c:v>3-сен</c:v>
                </c:pt>
                <c:pt idx="3">
                  <c:v>4-сен</c:v>
                </c:pt>
              </c:strCache>
            </c:strRef>
          </c:cat>
          <c:val>
            <c:numRef>
              <c:f>'Задание 3'!$B$16:$B$20</c:f>
              <c:numCache>
                <c:formatCode>General</c:formatCode>
                <c:ptCount val="4"/>
                <c:pt idx="0">
                  <c:v>124.70721337497949</c:v>
                </c:pt>
                <c:pt idx="1">
                  <c:v>80.103562879249552</c:v>
                </c:pt>
                <c:pt idx="2">
                  <c:v>85.846029801290712</c:v>
                </c:pt>
                <c:pt idx="3">
                  <c:v>90.399762174202408</c:v>
                </c:pt>
              </c:numCache>
            </c:numRef>
          </c:val>
          <c:smooth val="0"/>
          <c:extLst>
            <c:ext xmlns:c16="http://schemas.microsoft.com/office/drawing/2014/chart" uri="{C3380CC4-5D6E-409C-BE32-E72D297353CC}">
              <c16:uniqueId val="{00000000-0F70-40B5-872D-AD2CCC8C18EE}"/>
            </c:ext>
          </c:extLst>
        </c:ser>
        <c:dLbls>
          <c:showLegendKey val="0"/>
          <c:showVal val="0"/>
          <c:showCatName val="0"/>
          <c:showSerName val="0"/>
          <c:showPercent val="0"/>
          <c:showBubbleSize val="0"/>
        </c:dLbls>
        <c:smooth val="0"/>
        <c:axId val="338018399"/>
        <c:axId val="338020319"/>
      </c:lineChart>
      <c:catAx>
        <c:axId val="338018399"/>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ru-RU" sz="1100">
                    <a:solidFill>
                      <a:sysClr val="windowText" lastClr="000000"/>
                    </a:solidFill>
                  </a:rPr>
                  <a:t>Дата</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ru-RU"/>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crossAx val="338020319"/>
        <c:crosses val="autoZero"/>
        <c:auto val="1"/>
        <c:lblAlgn val="ctr"/>
        <c:lblOffset val="100"/>
        <c:noMultiLvlLbl val="0"/>
      </c:catAx>
      <c:valAx>
        <c:axId val="338020319"/>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r>
                  <a:rPr lang="ru-RU" sz="1200" dirty="0">
                    <a:solidFill>
                      <a:sysClr val="windowText" lastClr="000000"/>
                    </a:solidFill>
                  </a:rPr>
                  <a:t>Длительность</a:t>
                </a:r>
                <a:r>
                  <a:rPr lang="ru-RU" sz="1200" baseline="0" dirty="0">
                    <a:solidFill>
                      <a:sysClr val="windowText" lastClr="000000"/>
                    </a:solidFill>
                  </a:rPr>
                  <a:t> обслуживания</a:t>
                </a:r>
                <a:endParaRPr lang="ru-RU" sz="1200" dirty="0">
                  <a:solidFill>
                    <a:sysClr val="windowText" lastClr="000000"/>
                  </a:solidFill>
                </a:endParaRPr>
              </a:p>
            </c:rich>
          </c:tx>
          <c:layout>
            <c:manualLayout>
              <c:xMode val="edge"/>
              <c:yMode val="edge"/>
              <c:x val="4.0898855917364456E-4"/>
              <c:y val="0.31174114664566238"/>
            </c:manualLayout>
          </c:layout>
          <c:overlay val="0"/>
          <c:spPr>
            <a:noFill/>
            <a:ln>
              <a:noFill/>
            </a:ln>
            <a:effectLst/>
          </c:spPr>
          <c:txPr>
            <a:bodyPr rot="-54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ru-RU"/>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crossAx val="33801839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ru-RU"/>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pivotSource>
    <c:name>[09 08_24_0966b5d229800076.83554415Задание2_Асмандияров_Раиль (1).xlsx]Задание 1!Сводная таблица3</c:name>
    <c:fmtId val="12"/>
  </c:pivotSource>
  <c:chart>
    <c:autoTitleDeleted val="1"/>
    <c:pivotFmts>
      <c:pivotFmt>
        <c:idx val="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chemeClr val="accent1"/>
            </a:solidFill>
            <a:round/>
          </a:ln>
          <a:effectLst/>
        </c:spPr>
        <c:marker>
          <c:symbol val="none"/>
        </c:marker>
      </c:pivotFmt>
      <c:pivotFmt>
        <c:idx val="4"/>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'Задание 1'!$B$97:$B$98</c:f>
              <c:strCache>
                <c:ptCount val="1"/>
                <c:pt idx="0">
                  <c:v>1</c:v>
                </c:pt>
              </c:strCache>
            </c:strRef>
          </c:tx>
          <c:spPr>
            <a:ln w="28575" cap="rnd">
              <a:solidFill>
                <a:schemeClr val="accent1"/>
              </a:solidFill>
              <a:round/>
            </a:ln>
            <a:effectLst/>
          </c:spPr>
          <c:marker>
            <c:symbol val="none"/>
          </c:marker>
          <c:cat>
            <c:strRef>
              <c:f>'Задание 1'!$A$99:$A$122</c:f>
              <c:strCach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'Задание 1'!$B$99:$B$122</c:f>
              <c:numCache>
                <c:formatCode>General</c:formatCode>
                <c:ptCount val="24"/>
                <c:pt idx="0">
                  <c:v>104.41928386907698</c:v>
                </c:pt>
                <c:pt idx="1">
                  <c:v>97.733484233829714</c:v>
                </c:pt>
                <c:pt idx="2">
                  <c:v>101.53019029597492</c:v>
                </c:pt>
                <c:pt idx="3">
                  <c:v>111.66237303487759</c:v>
                </c:pt>
                <c:pt idx="4">
                  <c:v>106.48746229266723</c:v>
                </c:pt>
                <c:pt idx="5">
                  <c:v>119.98522965791258</c:v>
                </c:pt>
                <c:pt idx="6">
                  <c:v>114.89238305445606</c:v>
                </c:pt>
                <c:pt idx="7">
                  <c:v>98.251909601544995</c:v>
                </c:pt>
                <c:pt idx="8">
                  <c:v>106.22604730306193</c:v>
                </c:pt>
                <c:pt idx="9">
                  <c:v>106.8824802599424</c:v>
                </c:pt>
                <c:pt idx="10">
                  <c:v>102.15165054666961</c:v>
                </c:pt>
                <c:pt idx="11">
                  <c:v>101.84691676416486</c:v>
                </c:pt>
                <c:pt idx="12">
                  <c:v>102.65834644467472</c:v>
                </c:pt>
                <c:pt idx="13">
                  <c:v>111.59693732258491</c:v>
                </c:pt>
                <c:pt idx="14">
                  <c:v>101.72276725515678</c:v>
                </c:pt>
                <c:pt idx="15">
                  <c:v>103.83529720230676</c:v>
                </c:pt>
                <c:pt idx="16">
                  <c:v>105.71992502647426</c:v>
                </c:pt>
                <c:pt idx="17">
                  <c:v>105.54042363528382</c:v>
                </c:pt>
                <c:pt idx="18">
                  <c:v>103.84148513141992</c:v>
                </c:pt>
                <c:pt idx="19">
                  <c:v>96.675392605167175</c:v>
                </c:pt>
                <c:pt idx="20">
                  <c:v>105.86156868802604</c:v>
                </c:pt>
                <c:pt idx="21">
                  <c:v>106.91509342100245</c:v>
                </c:pt>
                <c:pt idx="22">
                  <c:v>105.5306700476912</c:v>
                </c:pt>
                <c:pt idx="23">
                  <c:v>104.5647823655745</c:v>
                </c:pt>
              </c:numCache>
            </c:numRef>
          </c:val>
          <c:smooth val="0"/>
          <c:extLst>
            <c:ext xmlns:c16="http://schemas.microsoft.com/office/drawing/2014/chart" uri="{C3380CC4-5D6E-409C-BE32-E72D297353CC}">
              <c16:uniqueId val="{00000000-2AB3-4A76-BF81-F8C2A8ED3EF3}"/>
            </c:ext>
          </c:extLst>
        </c:ser>
        <c:ser>
          <c:idx val="1"/>
          <c:order val="1"/>
          <c:tx>
            <c:strRef>
              <c:f>'Задание 1'!$C$97:$C$98</c:f>
              <c:strCache>
                <c:ptCount val="1"/>
                <c:pt idx="0">
                  <c:v>2</c:v>
                </c:pt>
              </c:strCache>
            </c:strRef>
          </c:tx>
          <c:spPr>
            <a:ln w="28575" cap="rnd">
              <a:solidFill>
                <a:schemeClr val="accent2"/>
              </a:solidFill>
              <a:round/>
            </a:ln>
            <a:effectLst/>
          </c:spPr>
          <c:marker>
            <c:symbol val="none"/>
          </c:marker>
          <c:cat>
            <c:strRef>
              <c:f>'Задание 1'!$A$99:$A$122</c:f>
              <c:strCach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'Задание 1'!$C$99:$C$122</c:f>
              <c:numCache>
                <c:formatCode>General</c:formatCode>
                <c:ptCount val="24"/>
                <c:pt idx="0">
                  <c:v>79.910947669525711</c:v>
                </c:pt>
                <c:pt idx="1">
                  <c:v>80.63842551687766</c:v>
                </c:pt>
                <c:pt idx="2">
                  <c:v>79.093473396166502</c:v>
                </c:pt>
                <c:pt idx="3">
                  <c:v>80.01550158401038</c:v>
                </c:pt>
                <c:pt idx="4">
                  <c:v>80.823481005049786</c:v>
                </c:pt>
                <c:pt idx="5">
                  <c:v>76.482168514210215</c:v>
                </c:pt>
                <c:pt idx="6">
                  <c:v>77.491910555456741</c:v>
                </c:pt>
                <c:pt idx="7">
                  <c:v>76.459434362894044</c:v>
                </c:pt>
                <c:pt idx="8">
                  <c:v>78.198400406857886</c:v>
                </c:pt>
                <c:pt idx="9">
                  <c:v>77.451604980104975</c:v>
                </c:pt>
                <c:pt idx="10">
                  <c:v>77.262113383994063</c:v>
                </c:pt>
                <c:pt idx="11">
                  <c:v>98.171027385722965</c:v>
                </c:pt>
                <c:pt idx="12">
                  <c:v>101.41461545117396</c:v>
                </c:pt>
                <c:pt idx="13">
                  <c:v>102.99670858390206</c:v>
                </c:pt>
                <c:pt idx="14">
                  <c:v>101.95506233442575</c:v>
                </c:pt>
                <c:pt idx="15">
                  <c:v>103.93305544312929</c:v>
                </c:pt>
                <c:pt idx="16">
                  <c:v>76.337586032459512</c:v>
                </c:pt>
                <c:pt idx="17">
                  <c:v>74.813985988195682</c:v>
                </c:pt>
                <c:pt idx="18">
                  <c:v>77.569320765975121</c:v>
                </c:pt>
                <c:pt idx="19">
                  <c:v>83.086488959716561</c:v>
                </c:pt>
                <c:pt idx="20">
                  <c:v>78.655182505100669</c:v>
                </c:pt>
                <c:pt idx="21">
                  <c:v>77.19678943050512</c:v>
                </c:pt>
                <c:pt idx="22">
                  <c:v>77.578318452284265</c:v>
                </c:pt>
                <c:pt idx="23">
                  <c:v>79.675955108686026</c:v>
                </c:pt>
              </c:numCache>
            </c:numRef>
          </c:val>
          <c:smooth val="0"/>
          <c:extLst>
            <c:ext xmlns:c16="http://schemas.microsoft.com/office/drawing/2014/chart" uri="{C3380CC4-5D6E-409C-BE32-E72D297353CC}">
              <c16:uniqueId val="{00000001-2AB3-4A76-BF81-F8C2A8ED3EF3}"/>
            </c:ext>
          </c:extLst>
        </c:ser>
        <c:ser>
          <c:idx val="2"/>
          <c:order val="2"/>
          <c:tx>
            <c:strRef>
              <c:f>'Задание 1'!$D$97:$D$98</c:f>
              <c:strCache>
                <c:ptCount val="1"/>
                <c:pt idx="0">
                  <c:v>3</c:v>
                </c:pt>
              </c:strCache>
            </c:strRef>
          </c:tx>
          <c:spPr>
            <a:ln w="28575" cap="rnd">
              <a:solidFill>
                <a:schemeClr val="accent3"/>
              </a:solidFill>
              <a:round/>
            </a:ln>
            <a:effectLst/>
          </c:spPr>
          <c:marker>
            <c:symbol val="none"/>
          </c:marker>
          <c:cat>
            <c:strRef>
              <c:f>'Задание 1'!$A$99:$A$122</c:f>
              <c:strCach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'Задание 1'!$D$99:$D$122</c:f>
              <c:numCache>
                <c:formatCode>General</c:formatCode>
                <c:ptCount val="24"/>
                <c:pt idx="0">
                  <c:v>105.28664511049637</c:v>
                </c:pt>
                <c:pt idx="1">
                  <c:v>104.92973921194023</c:v>
                </c:pt>
                <c:pt idx="2">
                  <c:v>103.94959526897203</c:v>
                </c:pt>
                <c:pt idx="3">
                  <c:v>108.43586895428005</c:v>
                </c:pt>
                <c:pt idx="4">
                  <c:v>105.78364279345304</c:v>
                </c:pt>
                <c:pt idx="5">
                  <c:v>108.33842934056696</c:v>
                </c:pt>
                <c:pt idx="6">
                  <c:v>109.71762637313651</c:v>
                </c:pt>
                <c:pt idx="7">
                  <c:v>103.64259157133417</c:v>
                </c:pt>
                <c:pt idx="8">
                  <c:v>103.85962874044789</c:v>
                </c:pt>
                <c:pt idx="9">
                  <c:v>104.04270002841503</c:v>
                </c:pt>
                <c:pt idx="10">
                  <c:v>102.080450139885</c:v>
                </c:pt>
                <c:pt idx="11">
                  <c:v>101.10499662114307</c:v>
                </c:pt>
                <c:pt idx="12">
                  <c:v>106.58576928336285</c:v>
                </c:pt>
                <c:pt idx="13">
                  <c:v>104.78653044796353</c:v>
                </c:pt>
                <c:pt idx="14">
                  <c:v>104.43305197728741</c:v>
                </c:pt>
                <c:pt idx="15">
                  <c:v>104.98365759583456</c:v>
                </c:pt>
                <c:pt idx="16">
                  <c:v>103.52085906420419</c:v>
                </c:pt>
                <c:pt idx="17">
                  <c:v>108.50967070845358</c:v>
                </c:pt>
                <c:pt idx="18">
                  <c:v>110.01495970648055</c:v>
                </c:pt>
                <c:pt idx="19">
                  <c:v>108.38356990948921</c:v>
                </c:pt>
                <c:pt idx="20">
                  <c:v>105.77138328863705</c:v>
                </c:pt>
                <c:pt idx="21">
                  <c:v>116.34022307953967</c:v>
                </c:pt>
                <c:pt idx="22">
                  <c:v>113.89193893845587</c:v>
                </c:pt>
                <c:pt idx="23">
                  <c:v>113.86619024367941</c:v>
                </c:pt>
              </c:numCache>
            </c:numRef>
          </c:val>
          <c:smooth val="0"/>
          <c:extLst>
            <c:ext xmlns:c16="http://schemas.microsoft.com/office/drawing/2014/chart" uri="{C3380CC4-5D6E-409C-BE32-E72D297353CC}">
              <c16:uniqueId val="{00000002-2AB3-4A76-BF81-F8C2A8ED3EF3}"/>
            </c:ext>
          </c:extLst>
        </c:ser>
        <c:dLbls>
          <c:showLegendKey val="0"/>
          <c:showVal val="0"/>
          <c:showCatName val="0"/>
          <c:showSerName val="0"/>
          <c:showPercent val="0"/>
          <c:showBubbleSize val="0"/>
        </c:dLbls>
        <c:smooth val="0"/>
        <c:axId val="1057037184"/>
        <c:axId val="1057054464"/>
      </c:lineChart>
      <c:catAx>
        <c:axId val="1057037184"/>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ru-RU" sz="1200">
                    <a:solidFill>
                      <a:sysClr val="windowText" lastClr="000000"/>
                    </a:solidFill>
                  </a:rPr>
                  <a:t>Время суток</a:t>
                </a:r>
              </a:p>
            </c:rich>
          </c:tx>
          <c:layout>
            <c:manualLayout>
              <c:xMode val="edge"/>
              <c:yMode val="edge"/>
              <c:x val="0.45921440526455926"/>
              <c:y val="0.95703592647950098"/>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ru-RU"/>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crossAx val="1057054464"/>
        <c:crosses val="autoZero"/>
        <c:auto val="1"/>
        <c:lblAlgn val="ctr"/>
        <c:lblOffset val="100"/>
        <c:noMultiLvlLbl val="0"/>
      </c:catAx>
      <c:valAx>
        <c:axId val="1057054464"/>
        <c:scaling>
          <c:orientation val="minMax"/>
          <c:min val="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ru-RU" sz="1200">
                    <a:solidFill>
                      <a:sysClr val="windowText" lastClr="000000"/>
                    </a:solidFill>
                  </a:rPr>
                  <a:t>Средняя длительность транзакий</a:t>
                </a:r>
              </a:p>
            </c:rich>
          </c:tx>
          <c:layout>
            <c:manualLayout>
              <c:xMode val="edge"/>
              <c:yMode val="edge"/>
              <c:x val="1.2077294685990338E-3"/>
              <c:y val="0.28615543083293049"/>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ru-RU"/>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crossAx val="1057037184"/>
        <c:crosses val="autoZero"/>
        <c:crossBetween val="between"/>
        <c:majorUnit val="10"/>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ru-RU"/>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pivotSource>
    <c:name>[09 08_24_0966b5d229800076.83554415Задание2_Асмандияров_Раиль (1).xlsx]Задание 1!Сводная таблица3</c:name>
    <c:fmtId val="4"/>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stacked"/>
        <c:varyColors val="0"/>
        <c:ser>
          <c:idx val="0"/>
          <c:order val="0"/>
          <c:tx>
            <c:strRef>
              <c:f>'Задание 1'!$B$97:$B$98</c:f>
              <c:strCache>
                <c:ptCount val="1"/>
                <c:pt idx="0">
                  <c:v>1</c:v>
                </c:pt>
              </c:strCache>
            </c:strRef>
          </c:tx>
          <c:spPr>
            <a:solidFill>
              <a:schemeClr val="accent1"/>
            </a:solidFill>
            <a:ln>
              <a:noFill/>
            </a:ln>
            <a:effectLst/>
          </c:spPr>
          <c:invertIfNegative val="0"/>
          <c:cat>
            <c:strRef>
              <c:f>'Задание 1'!$A$99:$A$122</c:f>
              <c:strCach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'Задание 1'!$B$99:$B$122</c:f>
              <c:numCache>
                <c:formatCode>General</c:formatCode>
                <c:ptCount val="24"/>
                <c:pt idx="0">
                  <c:v>104.41928386907698</c:v>
                </c:pt>
                <c:pt idx="1">
                  <c:v>97.733484233829714</c:v>
                </c:pt>
                <c:pt idx="2">
                  <c:v>101.53019029597492</c:v>
                </c:pt>
                <c:pt idx="3">
                  <c:v>111.66237303487759</c:v>
                </c:pt>
                <c:pt idx="4">
                  <c:v>106.48746229266723</c:v>
                </c:pt>
                <c:pt idx="5">
                  <c:v>119.98522965791258</c:v>
                </c:pt>
                <c:pt idx="6">
                  <c:v>114.89238305445606</c:v>
                </c:pt>
                <c:pt idx="7">
                  <c:v>98.251909601544995</c:v>
                </c:pt>
                <c:pt idx="8">
                  <c:v>106.22604730306193</c:v>
                </c:pt>
                <c:pt idx="9">
                  <c:v>106.8824802599424</c:v>
                </c:pt>
                <c:pt idx="10">
                  <c:v>102.15165054666961</c:v>
                </c:pt>
                <c:pt idx="11">
                  <c:v>101.84691676416486</c:v>
                </c:pt>
                <c:pt idx="12">
                  <c:v>102.65834644467472</c:v>
                </c:pt>
                <c:pt idx="13">
                  <c:v>111.59693732258491</c:v>
                </c:pt>
                <c:pt idx="14">
                  <c:v>101.72276725515678</c:v>
                </c:pt>
                <c:pt idx="15">
                  <c:v>103.83529720230676</c:v>
                </c:pt>
                <c:pt idx="16">
                  <c:v>105.71992502647426</c:v>
                </c:pt>
                <c:pt idx="17">
                  <c:v>105.54042363528382</c:v>
                </c:pt>
                <c:pt idx="18">
                  <c:v>103.84148513141992</c:v>
                </c:pt>
                <c:pt idx="19">
                  <c:v>96.675392605167175</c:v>
                </c:pt>
                <c:pt idx="20">
                  <c:v>105.86156868802604</c:v>
                </c:pt>
                <c:pt idx="21">
                  <c:v>106.91509342100245</c:v>
                </c:pt>
                <c:pt idx="22">
                  <c:v>105.5306700476912</c:v>
                </c:pt>
                <c:pt idx="23">
                  <c:v>104.5647823655745</c:v>
                </c:pt>
              </c:numCache>
            </c:numRef>
          </c:val>
          <c:extLst>
            <c:ext xmlns:c16="http://schemas.microsoft.com/office/drawing/2014/chart" uri="{C3380CC4-5D6E-409C-BE32-E72D297353CC}">
              <c16:uniqueId val="{00000000-B5C5-4ADE-9B88-28DDDE6F2C46}"/>
            </c:ext>
          </c:extLst>
        </c:ser>
        <c:ser>
          <c:idx val="1"/>
          <c:order val="1"/>
          <c:tx>
            <c:strRef>
              <c:f>'Задание 1'!$C$97:$C$98</c:f>
              <c:strCache>
                <c:ptCount val="1"/>
                <c:pt idx="0">
                  <c:v>2</c:v>
                </c:pt>
              </c:strCache>
            </c:strRef>
          </c:tx>
          <c:spPr>
            <a:solidFill>
              <a:schemeClr val="accent2"/>
            </a:solidFill>
            <a:ln>
              <a:noFill/>
            </a:ln>
            <a:effectLst/>
          </c:spPr>
          <c:invertIfNegative val="0"/>
          <c:cat>
            <c:strRef>
              <c:f>'Задание 1'!$A$99:$A$122</c:f>
              <c:strCach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'Задание 1'!$C$99:$C$122</c:f>
              <c:numCache>
                <c:formatCode>General</c:formatCode>
                <c:ptCount val="24"/>
                <c:pt idx="0">
                  <c:v>79.910947669525711</c:v>
                </c:pt>
                <c:pt idx="1">
                  <c:v>80.63842551687766</c:v>
                </c:pt>
                <c:pt idx="2">
                  <c:v>79.093473396166502</c:v>
                </c:pt>
                <c:pt idx="3">
                  <c:v>80.01550158401038</c:v>
                </c:pt>
                <c:pt idx="4">
                  <c:v>80.823481005049786</c:v>
                </c:pt>
                <c:pt idx="5">
                  <c:v>76.482168514210215</c:v>
                </c:pt>
                <c:pt idx="6">
                  <c:v>77.491910555456741</c:v>
                </c:pt>
                <c:pt idx="7">
                  <c:v>76.459434362894044</c:v>
                </c:pt>
                <c:pt idx="8">
                  <c:v>78.198400406857886</c:v>
                </c:pt>
                <c:pt idx="9">
                  <c:v>77.451604980104975</c:v>
                </c:pt>
                <c:pt idx="10">
                  <c:v>77.262113383994063</c:v>
                </c:pt>
                <c:pt idx="11">
                  <c:v>98.171027385722965</c:v>
                </c:pt>
                <c:pt idx="12">
                  <c:v>101.41461545117396</c:v>
                </c:pt>
                <c:pt idx="13">
                  <c:v>102.99670858390206</c:v>
                </c:pt>
                <c:pt idx="14">
                  <c:v>101.95506233442575</c:v>
                </c:pt>
                <c:pt idx="15">
                  <c:v>103.93305544312929</c:v>
                </c:pt>
                <c:pt idx="16">
                  <c:v>76.337586032459512</c:v>
                </c:pt>
                <c:pt idx="17">
                  <c:v>74.813985988195682</c:v>
                </c:pt>
                <c:pt idx="18">
                  <c:v>77.569320765975121</c:v>
                </c:pt>
                <c:pt idx="19">
                  <c:v>83.086488959716561</c:v>
                </c:pt>
                <c:pt idx="20">
                  <c:v>78.655182505100669</c:v>
                </c:pt>
                <c:pt idx="21">
                  <c:v>77.19678943050512</c:v>
                </c:pt>
                <c:pt idx="22">
                  <c:v>77.578318452284265</c:v>
                </c:pt>
                <c:pt idx="23">
                  <c:v>79.675955108686026</c:v>
                </c:pt>
              </c:numCache>
            </c:numRef>
          </c:val>
          <c:extLst>
            <c:ext xmlns:c16="http://schemas.microsoft.com/office/drawing/2014/chart" uri="{C3380CC4-5D6E-409C-BE32-E72D297353CC}">
              <c16:uniqueId val="{00000001-B5C5-4ADE-9B88-28DDDE6F2C46}"/>
            </c:ext>
          </c:extLst>
        </c:ser>
        <c:ser>
          <c:idx val="2"/>
          <c:order val="2"/>
          <c:tx>
            <c:strRef>
              <c:f>'Задание 1'!$D$97:$D$98</c:f>
              <c:strCache>
                <c:ptCount val="1"/>
                <c:pt idx="0">
                  <c:v>3</c:v>
                </c:pt>
              </c:strCache>
            </c:strRef>
          </c:tx>
          <c:spPr>
            <a:solidFill>
              <a:schemeClr val="accent3"/>
            </a:solidFill>
            <a:ln>
              <a:noFill/>
            </a:ln>
            <a:effectLst/>
          </c:spPr>
          <c:invertIfNegative val="0"/>
          <c:cat>
            <c:strRef>
              <c:f>'Задание 1'!$A$99:$A$122</c:f>
              <c:strCach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'Задание 1'!$D$99:$D$122</c:f>
              <c:numCache>
                <c:formatCode>General</c:formatCode>
                <c:ptCount val="24"/>
                <c:pt idx="0">
                  <c:v>105.28664511049637</c:v>
                </c:pt>
                <c:pt idx="1">
                  <c:v>104.92973921194023</c:v>
                </c:pt>
                <c:pt idx="2">
                  <c:v>103.94959526897203</c:v>
                </c:pt>
                <c:pt idx="3">
                  <c:v>108.43586895428005</c:v>
                </c:pt>
                <c:pt idx="4">
                  <c:v>105.78364279345304</c:v>
                </c:pt>
                <c:pt idx="5">
                  <c:v>108.33842934056696</c:v>
                </c:pt>
                <c:pt idx="6">
                  <c:v>109.71762637313651</c:v>
                </c:pt>
                <c:pt idx="7">
                  <c:v>103.64259157133417</c:v>
                </c:pt>
                <c:pt idx="8">
                  <c:v>103.85962874044789</c:v>
                </c:pt>
                <c:pt idx="9">
                  <c:v>104.04270002841503</c:v>
                </c:pt>
                <c:pt idx="10">
                  <c:v>102.080450139885</c:v>
                </c:pt>
                <c:pt idx="11">
                  <c:v>101.10499662114307</c:v>
                </c:pt>
                <c:pt idx="12">
                  <c:v>106.58576928336285</c:v>
                </c:pt>
                <c:pt idx="13">
                  <c:v>104.78653044796353</c:v>
                </c:pt>
                <c:pt idx="14">
                  <c:v>104.43305197728741</c:v>
                </c:pt>
                <c:pt idx="15">
                  <c:v>104.98365759583456</c:v>
                </c:pt>
                <c:pt idx="16">
                  <c:v>103.52085906420419</c:v>
                </c:pt>
                <c:pt idx="17">
                  <c:v>108.50967070845358</c:v>
                </c:pt>
                <c:pt idx="18">
                  <c:v>110.01495970648055</c:v>
                </c:pt>
                <c:pt idx="19">
                  <c:v>108.38356990948921</c:v>
                </c:pt>
                <c:pt idx="20">
                  <c:v>105.77138328863705</c:v>
                </c:pt>
                <c:pt idx="21">
                  <c:v>116.34022307953967</c:v>
                </c:pt>
                <c:pt idx="22">
                  <c:v>113.89193893845587</c:v>
                </c:pt>
                <c:pt idx="23">
                  <c:v>113.86619024367941</c:v>
                </c:pt>
              </c:numCache>
            </c:numRef>
          </c:val>
          <c:extLst>
            <c:ext xmlns:c16="http://schemas.microsoft.com/office/drawing/2014/chart" uri="{C3380CC4-5D6E-409C-BE32-E72D297353CC}">
              <c16:uniqueId val="{00000002-B5C5-4ADE-9B88-28DDDE6F2C46}"/>
            </c:ext>
          </c:extLst>
        </c:ser>
        <c:dLbls>
          <c:showLegendKey val="0"/>
          <c:showVal val="0"/>
          <c:showCatName val="0"/>
          <c:showSerName val="0"/>
          <c:showPercent val="0"/>
          <c:showBubbleSize val="0"/>
        </c:dLbls>
        <c:gapWidth val="150"/>
        <c:overlap val="100"/>
        <c:axId val="1057050624"/>
        <c:axId val="1057038144"/>
      </c:barChart>
      <c:catAx>
        <c:axId val="1057050624"/>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ru-RU" sz="1200">
                    <a:solidFill>
                      <a:sysClr val="windowText" lastClr="000000"/>
                    </a:solidFill>
                  </a:rPr>
                  <a:t>Время суток</a:t>
                </a:r>
              </a:p>
            </c:rich>
          </c:tx>
          <c:layout>
            <c:manualLayout>
              <c:xMode val="edge"/>
              <c:yMode val="edge"/>
              <c:x val="0.45167359990788286"/>
              <c:y val="0.95403022760425815"/>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ru-RU"/>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crossAx val="1057038144"/>
        <c:crosses val="autoZero"/>
        <c:auto val="1"/>
        <c:lblAlgn val="ctr"/>
        <c:lblOffset val="100"/>
        <c:noMultiLvlLbl val="0"/>
      </c:catAx>
      <c:valAx>
        <c:axId val="105703814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ru-RU" sz="1200">
                    <a:solidFill>
                      <a:sysClr val="windowText" lastClr="000000"/>
                    </a:solidFill>
                  </a:rPr>
                  <a:t>Средняя длительность транзакций</a:t>
                </a:r>
              </a:p>
            </c:rich>
          </c:tx>
          <c:layout>
            <c:manualLayout>
              <c:xMode val="edge"/>
              <c:yMode val="edge"/>
              <c:x val="0"/>
              <c:y val="0.21255444112647323"/>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ru-RU"/>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crossAx val="1057050624"/>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ru-RU"/>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pivotSource>
    <c:name>[09 08_24_0966b5d229800076.83554415Задание2_Асмандияров_Раиль (1).xlsx]Задание 1!Сводная таблица4</c:name>
    <c:fmtId val="5"/>
  </c:pivotSource>
  <c:chart>
    <c:autoTitleDeleted val="1"/>
    <c:pivotFmts>
      <c:pivotFmt>
        <c:idx val="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chemeClr val="accent1"/>
            </a:solidFill>
            <a:round/>
          </a:ln>
          <a:effectLst/>
        </c:spPr>
        <c:marker>
          <c:symbol val="none"/>
        </c:marker>
      </c:pivotFmt>
      <c:pivotFmt>
        <c:idx val="4"/>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'Задание 1'!$B$151:$B$152</c:f>
              <c:strCache>
                <c:ptCount val="1"/>
                <c:pt idx="0">
                  <c:v>1</c:v>
                </c:pt>
              </c:strCache>
            </c:strRef>
          </c:tx>
          <c:spPr>
            <a:ln w="28575" cap="rnd">
              <a:solidFill>
                <a:schemeClr val="accent1"/>
              </a:solidFill>
              <a:round/>
            </a:ln>
            <a:effectLst/>
          </c:spPr>
          <c:marker>
            <c:symbol val="none"/>
          </c:marker>
          <c:cat>
            <c:strRef>
              <c:f>'Задание 1'!$A$153:$A$176</c:f>
              <c:strCach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'Задание 1'!$B$153:$B$176</c:f>
              <c:numCache>
                <c:formatCode>0</c:formatCode>
                <c:ptCount val="24"/>
                <c:pt idx="0">
                  <c:v>331</c:v>
                </c:pt>
                <c:pt idx="1">
                  <c:v>344</c:v>
                </c:pt>
                <c:pt idx="2">
                  <c:v>366</c:v>
                </c:pt>
                <c:pt idx="3">
                  <c:v>359</c:v>
                </c:pt>
                <c:pt idx="4">
                  <c:v>385</c:v>
                </c:pt>
                <c:pt idx="5">
                  <c:v>333</c:v>
                </c:pt>
                <c:pt idx="6">
                  <c:v>361</c:v>
                </c:pt>
                <c:pt idx="7">
                  <c:v>391</c:v>
                </c:pt>
                <c:pt idx="8">
                  <c:v>374</c:v>
                </c:pt>
                <c:pt idx="9">
                  <c:v>396</c:v>
                </c:pt>
                <c:pt idx="10">
                  <c:v>382</c:v>
                </c:pt>
                <c:pt idx="11">
                  <c:v>383</c:v>
                </c:pt>
                <c:pt idx="12">
                  <c:v>380</c:v>
                </c:pt>
                <c:pt idx="13">
                  <c:v>394</c:v>
                </c:pt>
                <c:pt idx="14">
                  <c:v>415</c:v>
                </c:pt>
                <c:pt idx="15">
                  <c:v>414</c:v>
                </c:pt>
                <c:pt idx="16">
                  <c:v>416</c:v>
                </c:pt>
                <c:pt idx="17">
                  <c:v>425</c:v>
                </c:pt>
                <c:pt idx="18">
                  <c:v>399</c:v>
                </c:pt>
                <c:pt idx="19">
                  <c:v>411</c:v>
                </c:pt>
                <c:pt idx="20">
                  <c:v>431</c:v>
                </c:pt>
                <c:pt idx="21">
                  <c:v>412</c:v>
                </c:pt>
                <c:pt idx="22">
                  <c:v>401</c:v>
                </c:pt>
                <c:pt idx="23">
                  <c:v>400</c:v>
                </c:pt>
              </c:numCache>
            </c:numRef>
          </c:val>
          <c:smooth val="0"/>
          <c:extLst>
            <c:ext xmlns:c16="http://schemas.microsoft.com/office/drawing/2014/chart" uri="{C3380CC4-5D6E-409C-BE32-E72D297353CC}">
              <c16:uniqueId val="{00000000-5F75-42C5-9AA8-EA848CC872B0}"/>
            </c:ext>
          </c:extLst>
        </c:ser>
        <c:ser>
          <c:idx val="1"/>
          <c:order val="1"/>
          <c:tx>
            <c:strRef>
              <c:f>'Задание 1'!$C$151:$C$152</c:f>
              <c:strCache>
                <c:ptCount val="1"/>
                <c:pt idx="0">
                  <c:v>2</c:v>
                </c:pt>
              </c:strCache>
            </c:strRef>
          </c:tx>
          <c:spPr>
            <a:ln w="28575" cap="rnd">
              <a:solidFill>
                <a:schemeClr val="accent2"/>
              </a:solidFill>
              <a:round/>
            </a:ln>
            <a:effectLst/>
          </c:spPr>
          <c:marker>
            <c:symbol val="none"/>
          </c:marker>
          <c:cat>
            <c:strRef>
              <c:f>'Задание 1'!$A$153:$A$176</c:f>
              <c:strCach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'Задание 1'!$C$153:$C$176</c:f>
              <c:numCache>
                <c:formatCode>0</c:formatCode>
                <c:ptCount val="24"/>
                <c:pt idx="0">
                  <c:v>661</c:v>
                </c:pt>
                <c:pt idx="1">
                  <c:v>662</c:v>
                </c:pt>
                <c:pt idx="2">
                  <c:v>659</c:v>
                </c:pt>
                <c:pt idx="3">
                  <c:v>643</c:v>
                </c:pt>
                <c:pt idx="4">
                  <c:v>636</c:v>
                </c:pt>
                <c:pt idx="5">
                  <c:v>627</c:v>
                </c:pt>
                <c:pt idx="6">
                  <c:v>738</c:v>
                </c:pt>
                <c:pt idx="7">
                  <c:v>759</c:v>
                </c:pt>
                <c:pt idx="8">
                  <c:v>775</c:v>
                </c:pt>
                <c:pt idx="9">
                  <c:v>734</c:v>
                </c:pt>
                <c:pt idx="10">
                  <c:v>732</c:v>
                </c:pt>
                <c:pt idx="11">
                  <c:v>739</c:v>
                </c:pt>
                <c:pt idx="12">
                  <c:v>758</c:v>
                </c:pt>
                <c:pt idx="13">
                  <c:v>811</c:v>
                </c:pt>
                <c:pt idx="14">
                  <c:v>800</c:v>
                </c:pt>
                <c:pt idx="15">
                  <c:v>815</c:v>
                </c:pt>
                <c:pt idx="16">
                  <c:v>720</c:v>
                </c:pt>
                <c:pt idx="17">
                  <c:v>703</c:v>
                </c:pt>
                <c:pt idx="18">
                  <c:v>758</c:v>
                </c:pt>
                <c:pt idx="19">
                  <c:v>746</c:v>
                </c:pt>
                <c:pt idx="20">
                  <c:v>753</c:v>
                </c:pt>
                <c:pt idx="21">
                  <c:v>734</c:v>
                </c:pt>
                <c:pt idx="22">
                  <c:v>794</c:v>
                </c:pt>
                <c:pt idx="23">
                  <c:v>715</c:v>
                </c:pt>
              </c:numCache>
            </c:numRef>
          </c:val>
          <c:smooth val="0"/>
          <c:extLst>
            <c:ext xmlns:c16="http://schemas.microsoft.com/office/drawing/2014/chart" uri="{C3380CC4-5D6E-409C-BE32-E72D297353CC}">
              <c16:uniqueId val="{00000001-5F75-42C5-9AA8-EA848CC872B0}"/>
            </c:ext>
          </c:extLst>
        </c:ser>
        <c:ser>
          <c:idx val="2"/>
          <c:order val="2"/>
          <c:tx>
            <c:strRef>
              <c:f>'Задание 1'!$D$151:$D$152</c:f>
              <c:strCache>
                <c:ptCount val="1"/>
                <c:pt idx="0">
                  <c:v>3</c:v>
                </c:pt>
              </c:strCache>
            </c:strRef>
          </c:tx>
          <c:spPr>
            <a:ln w="28575" cap="rnd">
              <a:solidFill>
                <a:schemeClr val="accent3"/>
              </a:solidFill>
              <a:round/>
            </a:ln>
            <a:effectLst/>
          </c:spPr>
          <c:marker>
            <c:symbol val="none"/>
          </c:marker>
          <c:cat>
            <c:strRef>
              <c:f>'Задание 1'!$A$153:$A$176</c:f>
              <c:strCach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'Задание 1'!$D$153:$D$176</c:f>
              <c:numCache>
                <c:formatCode>0</c:formatCode>
                <c:ptCount val="24"/>
                <c:pt idx="0">
                  <c:v>321</c:v>
                </c:pt>
                <c:pt idx="1">
                  <c:v>304</c:v>
                </c:pt>
                <c:pt idx="2">
                  <c:v>292</c:v>
                </c:pt>
                <c:pt idx="3">
                  <c:v>314</c:v>
                </c:pt>
                <c:pt idx="4">
                  <c:v>268</c:v>
                </c:pt>
                <c:pt idx="5">
                  <c:v>310</c:v>
                </c:pt>
                <c:pt idx="6">
                  <c:v>285</c:v>
                </c:pt>
                <c:pt idx="7">
                  <c:v>313</c:v>
                </c:pt>
                <c:pt idx="8">
                  <c:v>335</c:v>
                </c:pt>
                <c:pt idx="9">
                  <c:v>334</c:v>
                </c:pt>
                <c:pt idx="10">
                  <c:v>340</c:v>
                </c:pt>
                <c:pt idx="11">
                  <c:v>378</c:v>
                </c:pt>
                <c:pt idx="12">
                  <c:v>335</c:v>
                </c:pt>
                <c:pt idx="13">
                  <c:v>337</c:v>
                </c:pt>
                <c:pt idx="14">
                  <c:v>388</c:v>
                </c:pt>
                <c:pt idx="15">
                  <c:v>315</c:v>
                </c:pt>
                <c:pt idx="16">
                  <c:v>347</c:v>
                </c:pt>
                <c:pt idx="17">
                  <c:v>335</c:v>
                </c:pt>
                <c:pt idx="18">
                  <c:v>327</c:v>
                </c:pt>
                <c:pt idx="19">
                  <c:v>353</c:v>
                </c:pt>
                <c:pt idx="20">
                  <c:v>305</c:v>
                </c:pt>
                <c:pt idx="21">
                  <c:v>367</c:v>
                </c:pt>
                <c:pt idx="22">
                  <c:v>353</c:v>
                </c:pt>
                <c:pt idx="23">
                  <c:v>329</c:v>
                </c:pt>
              </c:numCache>
            </c:numRef>
          </c:val>
          <c:smooth val="0"/>
          <c:extLst>
            <c:ext xmlns:c16="http://schemas.microsoft.com/office/drawing/2014/chart" uri="{C3380CC4-5D6E-409C-BE32-E72D297353CC}">
              <c16:uniqueId val="{00000002-5F75-42C5-9AA8-EA848CC872B0}"/>
            </c:ext>
          </c:extLst>
        </c:ser>
        <c:dLbls>
          <c:showLegendKey val="0"/>
          <c:showVal val="0"/>
          <c:showCatName val="0"/>
          <c:showSerName val="0"/>
          <c:showPercent val="0"/>
          <c:showBubbleSize val="0"/>
        </c:dLbls>
        <c:smooth val="0"/>
        <c:axId val="1057035264"/>
        <c:axId val="1057031904"/>
      </c:lineChart>
      <c:catAx>
        <c:axId val="1057035264"/>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ru-RU" sz="1200">
                    <a:solidFill>
                      <a:sysClr val="windowText" lastClr="000000"/>
                    </a:solidFill>
                  </a:rPr>
                  <a:t>Время</a:t>
                </a:r>
                <a:r>
                  <a:rPr lang="ru-RU" sz="1200" baseline="0">
                    <a:solidFill>
                      <a:sysClr val="windowText" lastClr="000000"/>
                    </a:solidFill>
                  </a:rPr>
                  <a:t> суток</a:t>
                </a:r>
                <a:endParaRPr lang="ru-RU" sz="1200">
                  <a:solidFill>
                    <a:sysClr val="windowText" lastClr="000000"/>
                  </a:solidFill>
                </a:endParaRPr>
              </a:p>
            </c:rich>
          </c:tx>
          <c:layout>
            <c:manualLayout>
              <c:xMode val="edge"/>
              <c:yMode val="edge"/>
              <c:x val="0.45921440526455926"/>
              <c:y val="0.95879962636515126"/>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ru-RU"/>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crossAx val="1057031904"/>
        <c:crosses val="autoZero"/>
        <c:auto val="1"/>
        <c:lblAlgn val="ctr"/>
        <c:lblOffset val="100"/>
        <c:noMultiLvlLbl val="0"/>
      </c:catAx>
      <c:valAx>
        <c:axId val="105703190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ru-RU" sz="1200">
                    <a:solidFill>
                      <a:sysClr val="windowText" lastClr="000000"/>
                    </a:solidFill>
                  </a:rPr>
                  <a:t>Количество заказов</a:t>
                </a:r>
              </a:p>
            </c:rich>
          </c:tx>
          <c:layout>
            <c:manualLayout>
              <c:xMode val="edge"/>
              <c:yMode val="edge"/>
              <c:x val="0"/>
              <c:y val="0.3341034068631325"/>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ru-RU"/>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crossAx val="1057035264"/>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ru-RU"/>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pivotSource>
    <c:name>[09 08_24_0966b5d229800076.83554415Задание2_Асмандияров_Раиль (1).xlsx]Задание 1!Сводная таблица6</c:name>
    <c:fmtId val="6"/>
  </c:pivotSource>
  <c:chart>
    <c:autoTitleDeleted val="1"/>
    <c:pivotFmts>
      <c:pivotFmt>
        <c:idx val="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4"/>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6.3018277606603529E-2"/>
          <c:y val="2.5654812931054115E-2"/>
          <c:w val="0.76186694054547532"/>
          <c:h val="0.86508304666788605"/>
        </c:manualLayout>
      </c:layout>
      <c:lineChart>
        <c:grouping val="standard"/>
        <c:varyColors val="0"/>
        <c:ser>
          <c:idx val="0"/>
          <c:order val="0"/>
          <c:tx>
            <c:strRef>
              <c:f>'Задание 1'!$B$180:$B$181</c:f>
              <c:strCache>
                <c:ptCount val="1"/>
                <c:pt idx="0">
                  <c:v>Ленинский пр-т, 162/1</c:v>
                </c:pt>
              </c:strCache>
            </c:strRef>
          </c:tx>
          <c:spPr>
            <a:ln w="28575" cap="rnd">
              <a:solidFill>
                <a:schemeClr val="accent1"/>
              </a:solidFill>
              <a:round/>
            </a:ln>
            <a:effectLst/>
          </c:spPr>
          <c:marker>
            <c:symbol val="none"/>
          </c:marker>
          <c:cat>
            <c:strRef>
              <c:f>'Задание 1'!$A$182:$A$205</c:f>
              <c:strCach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'Задание 1'!$B$182:$B$205</c:f>
              <c:numCache>
                <c:formatCode>0</c:formatCode>
                <c:ptCount val="24"/>
                <c:pt idx="0">
                  <c:v>119</c:v>
                </c:pt>
                <c:pt idx="1">
                  <c:v>97</c:v>
                </c:pt>
                <c:pt idx="2">
                  <c:v>95</c:v>
                </c:pt>
                <c:pt idx="3">
                  <c:v>84</c:v>
                </c:pt>
                <c:pt idx="4">
                  <c:v>110</c:v>
                </c:pt>
                <c:pt idx="5">
                  <c:v>92</c:v>
                </c:pt>
                <c:pt idx="6">
                  <c:v>120</c:v>
                </c:pt>
                <c:pt idx="7">
                  <c:v>114</c:v>
                </c:pt>
                <c:pt idx="8">
                  <c:v>117</c:v>
                </c:pt>
                <c:pt idx="9">
                  <c:v>106</c:v>
                </c:pt>
                <c:pt idx="10">
                  <c:v>115</c:v>
                </c:pt>
                <c:pt idx="11">
                  <c:v>134</c:v>
                </c:pt>
                <c:pt idx="12">
                  <c:v>120</c:v>
                </c:pt>
                <c:pt idx="13">
                  <c:v>147</c:v>
                </c:pt>
                <c:pt idx="14">
                  <c:v>170</c:v>
                </c:pt>
                <c:pt idx="15">
                  <c:v>165</c:v>
                </c:pt>
                <c:pt idx="16">
                  <c:v>113</c:v>
                </c:pt>
                <c:pt idx="17">
                  <c:v>107</c:v>
                </c:pt>
                <c:pt idx="18">
                  <c:v>117</c:v>
                </c:pt>
                <c:pt idx="19">
                  <c:v>110</c:v>
                </c:pt>
                <c:pt idx="20">
                  <c:v>95</c:v>
                </c:pt>
                <c:pt idx="21">
                  <c:v>117</c:v>
                </c:pt>
                <c:pt idx="22">
                  <c:v>109</c:v>
                </c:pt>
                <c:pt idx="23">
                  <c:v>102</c:v>
                </c:pt>
              </c:numCache>
            </c:numRef>
          </c:val>
          <c:smooth val="0"/>
          <c:extLst>
            <c:ext xmlns:c16="http://schemas.microsoft.com/office/drawing/2014/chart" uri="{C3380CC4-5D6E-409C-BE32-E72D297353CC}">
              <c16:uniqueId val="{00000000-2CEE-4E27-B258-01B5F5F303DF}"/>
            </c:ext>
          </c:extLst>
        </c:ser>
        <c:ser>
          <c:idx val="1"/>
          <c:order val="1"/>
          <c:tx>
            <c:strRef>
              <c:f>'Задание 1'!$C$180:$C$181</c:f>
              <c:strCache>
                <c:ptCount val="1"/>
                <c:pt idx="0">
                  <c:v>пр-т Вернадского, 88к3</c:v>
                </c:pt>
              </c:strCache>
            </c:strRef>
          </c:tx>
          <c:spPr>
            <a:ln w="28575" cap="rnd">
              <a:solidFill>
                <a:schemeClr val="accent2"/>
              </a:solidFill>
              <a:round/>
            </a:ln>
            <a:effectLst/>
          </c:spPr>
          <c:marker>
            <c:symbol val="none"/>
          </c:marker>
          <c:cat>
            <c:strRef>
              <c:f>'Задание 1'!$A$182:$A$205</c:f>
              <c:strCach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'Задание 1'!$C$182:$C$205</c:f>
              <c:numCache>
                <c:formatCode>0</c:formatCode>
                <c:ptCount val="24"/>
                <c:pt idx="0">
                  <c:v>63</c:v>
                </c:pt>
                <c:pt idx="1">
                  <c:v>66</c:v>
                </c:pt>
                <c:pt idx="2">
                  <c:v>57</c:v>
                </c:pt>
                <c:pt idx="3">
                  <c:v>50</c:v>
                </c:pt>
                <c:pt idx="4">
                  <c:v>53</c:v>
                </c:pt>
                <c:pt idx="5">
                  <c:v>57</c:v>
                </c:pt>
                <c:pt idx="6">
                  <c:v>69</c:v>
                </c:pt>
                <c:pt idx="7">
                  <c:v>66</c:v>
                </c:pt>
                <c:pt idx="8">
                  <c:v>71</c:v>
                </c:pt>
                <c:pt idx="9">
                  <c:v>67</c:v>
                </c:pt>
                <c:pt idx="10">
                  <c:v>53</c:v>
                </c:pt>
                <c:pt idx="11">
                  <c:v>90</c:v>
                </c:pt>
                <c:pt idx="12">
                  <c:v>92</c:v>
                </c:pt>
                <c:pt idx="13">
                  <c:v>86</c:v>
                </c:pt>
                <c:pt idx="14">
                  <c:v>78</c:v>
                </c:pt>
                <c:pt idx="15">
                  <c:v>90</c:v>
                </c:pt>
                <c:pt idx="16">
                  <c:v>69</c:v>
                </c:pt>
                <c:pt idx="17">
                  <c:v>66</c:v>
                </c:pt>
                <c:pt idx="18">
                  <c:v>65</c:v>
                </c:pt>
                <c:pt idx="19">
                  <c:v>76</c:v>
                </c:pt>
                <c:pt idx="20">
                  <c:v>77</c:v>
                </c:pt>
                <c:pt idx="21">
                  <c:v>71</c:v>
                </c:pt>
                <c:pt idx="22">
                  <c:v>90</c:v>
                </c:pt>
                <c:pt idx="23">
                  <c:v>70</c:v>
                </c:pt>
              </c:numCache>
            </c:numRef>
          </c:val>
          <c:smooth val="0"/>
          <c:extLst>
            <c:ext xmlns:c16="http://schemas.microsoft.com/office/drawing/2014/chart" uri="{C3380CC4-5D6E-409C-BE32-E72D297353CC}">
              <c16:uniqueId val="{00000001-2CEE-4E27-B258-01B5F5F303DF}"/>
            </c:ext>
          </c:extLst>
        </c:ser>
        <c:ser>
          <c:idx val="2"/>
          <c:order val="2"/>
          <c:tx>
            <c:strRef>
              <c:f>'Задание 1'!$D$180:$D$181</c:f>
              <c:strCache>
                <c:ptCount val="1"/>
                <c:pt idx="0">
                  <c:v>Ракетный б-р, 14к1</c:v>
                </c:pt>
              </c:strCache>
            </c:strRef>
          </c:tx>
          <c:spPr>
            <a:ln w="28575" cap="rnd">
              <a:solidFill>
                <a:schemeClr val="accent3"/>
              </a:solidFill>
              <a:round/>
            </a:ln>
            <a:effectLst/>
          </c:spPr>
          <c:marker>
            <c:symbol val="none"/>
          </c:marker>
          <c:cat>
            <c:strRef>
              <c:f>'Задание 1'!$A$182:$A$205</c:f>
              <c:strCach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'Задание 1'!$D$182:$D$205</c:f>
              <c:numCache>
                <c:formatCode>0</c:formatCode>
                <c:ptCount val="24"/>
                <c:pt idx="0">
                  <c:v>49</c:v>
                </c:pt>
                <c:pt idx="1">
                  <c:v>74</c:v>
                </c:pt>
                <c:pt idx="2">
                  <c:v>54</c:v>
                </c:pt>
                <c:pt idx="3">
                  <c:v>49</c:v>
                </c:pt>
                <c:pt idx="4">
                  <c:v>51</c:v>
                </c:pt>
                <c:pt idx="5">
                  <c:v>51</c:v>
                </c:pt>
                <c:pt idx="6">
                  <c:v>53</c:v>
                </c:pt>
                <c:pt idx="7">
                  <c:v>55</c:v>
                </c:pt>
                <c:pt idx="8">
                  <c:v>63</c:v>
                </c:pt>
                <c:pt idx="9">
                  <c:v>57</c:v>
                </c:pt>
                <c:pt idx="10">
                  <c:v>64</c:v>
                </c:pt>
                <c:pt idx="11">
                  <c:v>72</c:v>
                </c:pt>
                <c:pt idx="12">
                  <c:v>60</c:v>
                </c:pt>
                <c:pt idx="13">
                  <c:v>51</c:v>
                </c:pt>
                <c:pt idx="14">
                  <c:v>65</c:v>
                </c:pt>
                <c:pt idx="15">
                  <c:v>62</c:v>
                </c:pt>
                <c:pt idx="16">
                  <c:v>53</c:v>
                </c:pt>
                <c:pt idx="17">
                  <c:v>52</c:v>
                </c:pt>
                <c:pt idx="18">
                  <c:v>58</c:v>
                </c:pt>
                <c:pt idx="19">
                  <c:v>58</c:v>
                </c:pt>
                <c:pt idx="20">
                  <c:v>64</c:v>
                </c:pt>
                <c:pt idx="21">
                  <c:v>61</c:v>
                </c:pt>
                <c:pt idx="22">
                  <c:v>74</c:v>
                </c:pt>
                <c:pt idx="23">
                  <c:v>58</c:v>
                </c:pt>
              </c:numCache>
            </c:numRef>
          </c:val>
          <c:smooth val="0"/>
          <c:extLst>
            <c:ext xmlns:c16="http://schemas.microsoft.com/office/drawing/2014/chart" uri="{C3380CC4-5D6E-409C-BE32-E72D297353CC}">
              <c16:uniqueId val="{00000002-2CEE-4E27-B258-01B5F5F303DF}"/>
            </c:ext>
          </c:extLst>
        </c:ser>
        <c:ser>
          <c:idx val="3"/>
          <c:order val="3"/>
          <c:tx>
            <c:strRef>
              <c:f>'Задание 1'!$E$180:$E$181</c:f>
              <c:strCache>
                <c:ptCount val="1"/>
                <c:pt idx="0">
                  <c:v>Симферопольский б-р, 22</c:v>
                </c:pt>
              </c:strCache>
            </c:strRef>
          </c:tx>
          <c:spPr>
            <a:ln w="28575" cap="rnd">
              <a:solidFill>
                <a:schemeClr val="accent4"/>
              </a:solidFill>
              <a:round/>
            </a:ln>
            <a:effectLst/>
          </c:spPr>
          <c:marker>
            <c:symbol val="none"/>
          </c:marker>
          <c:cat>
            <c:strRef>
              <c:f>'Задание 1'!$A$182:$A$205</c:f>
              <c:strCach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'Задание 1'!$E$182:$E$205</c:f>
              <c:numCache>
                <c:formatCode>0</c:formatCode>
                <c:ptCount val="24"/>
                <c:pt idx="0">
                  <c:v>27</c:v>
                </c:pt>
                <c:pt idx="1">
                  <c:v>35</c:v>
                </c:pt>
                <c:pt idx="2">
                  <c:v>26</c:v>
                </c:pt>
                <c:pt idx="3">
                  <c:v>28</c:v>
                </c:pt>
                <c:pt idx="4">
                  <c:v>38</c:v>
                </c:pt>
                <c:pt idx="5">
                  <c:v>26</c:v>
                </c:pt>
                <c:pt idx="6">
                  <c:v>37</c:v>
                </c:pt>
                <c:pt idx="7">
                  <c:v>30</c:v>
                </c:pt>
                <c:pt idx="8">
                  <c:v>35</c:v>
                </c:pt>
                <c:pt idx="9">
                  <c:v>35</c:v>
                </c:pt>
                <c:pt idx="10">
                  <c:v>44</c:v>
                </c:pt>
                <c:pt idx="11">
                  <c:v>40</c:v>
                </c:pt>
                <c:pt idx="12">
                  <c:v>33</c:v>
                </c:pt>
                <c:pt idx="13">
                  <c:v>45</c:v>
                </c:pt>
                <c:pt idx="14">
                  <c:v>33</c:v>
                </c:pt>
                <c:pt idx="15">
                  <c:v>49</c:v>
                </c:pt>
                <c:pt idx="16">
                  <c:v>32</c:v>
                </c:pt>
                <c:pt idx="17">
                  <c:v>42</c:v>
                </c:pt>
                <c:pt idx="18">
                  <c:v>38</c:v>
                </c:pt>
                <c:pt idx="19">
                  <c:v>30</c:v>
                </c:pt>
                <c:pt idx="20">
                  <c:v>34</c:v>
                </c:pt>
                <c:pt idx="21">
                  <c:v>35</c:v>
                </c:pt>
                <c:pt idx="22">
                  <c:v>45</c:v>
                </c:pt>
                <c:pt idx="23">
                  <c:v>38</c:v>
                </c:pt>
              </c:numCache>
            </c:numRef>
          </c:val>
          <c:smooth val="0"/>
          <c:extLst>
            <c:ext xmlns:c16="http://schemas.microsoft.com/office/drawing/2014/chart" uri="{C3380CC4-5D6E-409C-BE32-E72D297353CC}">
              <c16:uniqueId val="{00000003-2CEE-4E27-B258-01B5F5F303DF}"/>
            </c:ext>
          </c:extLst>
        </c:ser>
        <c:ser>
          <c:idx val="4"/>
          <c:order val="4"/>
          <c:tx>
            <c:strRef>
              <c:f>'Задание 1'!$F$180:$F$181</c:f>
              <c:strCache>
                <c:ptCount val="1"/>
                <c:pt idx="0">
                  <c:v>ул. Щорса, 26/3</c:v>
                </c:pt>
              </c:strCache>
            </c:strRef>
          </c:tx>
          <c:spPr>
            <a:ln w="28575" cap="rnd">
              <a:solidFill>
                <a:schemeClr val="accent5"/>
              </a:solidFill>
              <a:round/>
            </a:ln>
            <a:effectLst/>
          </c:spPr>
          <c:marker>
            <c:symbol val="none"/>
          </c:marker>
          <c:cat>
            <c:strRef>
              <c:f>'Задание 1'!$A$182:$A$205</c:f>
              <c:strCach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'Задание 1'!$F$182:$F$205</c:f>
              <c:numCache>
                <c:formatCode>0</c:formatCode>
                <c:ptCount val="24"/>
                <c:pt idx="0">
                  <c:v>42</c:v>
                </c:pt>
                <c:pt idx="1">
                  <c:v>40</c:v>
                </c:pt>
                <c:pt idx="2">
                  <c:v>54</c:v>
                </c:pt>
                <c:pt idx="3">
                  <c:v>32</c:v>
                </c:pt>
                <c:pt idx="4">
                  <c:v>37</c:v>
                </c:pt>
                <c:pt idx="5">
                  <c:v>48</c:v>
                </c:pt>
                <c:pt idx="6">
                  <c:v>53</c:v>
                </c:pt>
                <c:pt idx="7">
                  <c:v>49</c:v>
                </c:pt>
                <c:pt idx="8">
                  <c:v>45</c:v>
                </c:pt>
                <c:pt idx="9">
                  <c:v>48</c:v>
                </c:pt>
                <c:pt idx="10">
                  <c:v>35</c:v>
                </c:pt>
                <c:pt idx="11">
                  <c:v>46</c:v>
                </c:pt>
                <c:pt idx="12">
                  <c:v>50</c:v>
                </c:pt>
                <c:pt idx="13">
                  <c:v>47</c:v>
                </c:pt>
                <c:pt idx="14">
                  <c:v>47</c:v>
                </c:pt>
                <c:pt idx="15">
                  <c:v>47</c:v>
                </c:pt>
                <c:pt idx="16">
                  <c:v>60</c:v>
                </c:pt>
                <c:pt idx="17">
                  <c:v>56</c:v>
                </c:pt>
                <c:pt idx="18">
                  <c:v>44</c:v>
                </c:pt>
                <c:pt idx="19">
                  <c:v>51</c:v>
                </c:pt>
                <c:pt idx="20">
                  <c:v>46</c:v>
                </c:pt>
                <c:pt idx="21">
                  <c:v>57</c:v>
                </c:pt>
                <c:pt idx="22">
                  <c:v>41</c:v>
                </c:pt>
                <c:pt idx="23">
                  <c:v>44</c:v>
                </c:pt>
              </c:numCache>
            </c:numRef>
          </c:val>
          <c:smooth val="0"/>
          <c:extLst>
            <c:ext xmlns:c16="http://schemas.microsoft.com/office/drawing/2014/chart" uri="{C3380CC4-5D6E-409C-BE32-E72D297353CC}">
              <c16:uniqueId val="{00000004-2CEE-4E27-B258-01B5F5F303DF}"/>
            </c:ext>
          </c:extLst>
        </c:ser>
        <c:dLbls>
          <c:showLegendKey val="0"/>
          <c:showVal val="0"/>
          <c:showCatName val="0"/>
          <c:showSerName val="0"/>
          <c:showPercent val="0"/>
          <c:showBubbleSize val="0"/>
        </c:dLbls>
        <c:smooth val="0"/>
        <c:axId val="1445534383"/>
        <c:axId val="1445531503"/>
      </c:lineChart>
      <c:catAx>
        <c:axId val="1445534383"/>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ru-RU" sz="1200">
                    <a:solidFill>
                      <a:sysClr val="windowText" lastClr="000000"/>
                    </a:solidFill>
                  </a:rPr>
                  <a:t>Время суток</a:t>
                </a:r>
              </a:p>
            </c:rich>
          </c:tx>
          <c:layout>
            <c:manualLayout>
              <c:xMode val="edge"/>
              <c:yMode val="edge"/>
              <c:x val="0.45855234128342653"/>
              <c:y val="0.95816741262121308"/>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ru-RU"/>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crossAx val="1445531503"/>
        <c:crosses val="autoZero"/>
        <c:auto val="1"/>
        <c:lblAlgn val="ctr"/>
        <c:lblOffset val="100"/>
        <c:noMultiLvlLbl val="0"/>
      </c:catAx>
      <c:valAx>
        <c:axId val="1445531503"/>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ru-RU" sz="1200">
                    <a:solidFill>
                      <a:sysClr val="windowText" lastClr="000000"/>
                    </a:solidFill>
                  </a:rPr>
                  <a:t>Количество тразакций</a:t>
                </a:r>
              </a:p>
            </c:rich>
          </c:tx>
          <c:layout>
            <c:manualLayout>
              <c:xMode val="edge"/>
              <c:yMode val="edge"/>
              <c:x val="1.2077294685990338E-3"/>
              <c:y val="0.3185758475270376"/>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ru-RU"/>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crossAx val="1445534383"/>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ru-RU"/>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pivotSource>
    <c:name>[09 08_24_0966b5d229800076.83554415Задание2_Асмандияров_Раиль (1).xlsx]Задание 1!Сводная таблица2</c:name>
    <c:fmtId val="4"/>
  </c:pivotSource>
  <c:chart>
    <c:autoTitleDeleted val="1"/>
    <c:pivotFmts>
      <c:pivotFmt>
        <c:idx val="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8.0324888845486844E-2"/>
          <c:y val="2.6107518498120614E-2"/>
          <c:w val="0.8116587661627096"/>
          <c:h val="0.86270229822784705"/>
        </c:manualLayout>
      </c:layout>
      <c:lineChart>
        <c:grouping val="standard"/>
        <c:varyColors val="0"/>
        <c:ser>
          <c:idx val="0"/>
          <c:order val="0"/>
          <c:tx>
            <c:strRef>
              <c:f>'Задание 1'!$B$36:$B$37</c:f>
              <c:strCache>
                <c:ptCount val="1"/>
                <c:pt idx="0">
                  <c:v>MasterCard</c:v>
                </c:pt>
              </c:strCache>
            </c:strRef>
          </c:tx>
          <c:spPr>
            <a:ln w="28575" cap="rnd">
              <a:solidFill>
                <a:schemeClr val="accent1"/>
              </a:solidFill>
              <a:round/>
            </a:ln>
            <a:effectLst/>
          </c:spPr>
          <c:marker>
            <c:symbol val="none"/>
          </c:marker>
          <c:cat>
            <c:strRef>
              <c:f>'Задание 1'!$A$38:$A$61</c:f>
              <c:strCach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'Задание 1'!$B$38:$B$61</c:f>
              <c:numCache>
                <c:formatCode>0.00</c:formatCode>
                <c:ptCount val="24"/>
                <c:pt idx="0">
                  <c:v>98.004942738997016</c:v>
                </c:pt>
                <c:pt idx="1">
                  <c:v>104.50348966902024</c:v>
                </c:pt>
                <c:pt idx="2">
                  <c:v>106.63820033892989</c:v>
                </c:pt>
                <c:pt idx="3">
                  <c:v>105.07509346974835</c:v>
                </c:pt>
                <c:pt idx="4">
                  <c:v>109.98871595779013</c:v>
                </c:pt>
                <c:pt idx="5">
                  <c:v>136.83009870350361</c:v>
                </c:pt>
                <c:pt idx="6">
                  <c:v>121.09515341243853</c:v>
                </c:pt>
                <c:pt idx="7">
                  <c:v>111.68732674307545</c:v>
                </c:pt>
                <c:pt idx="8">
                  <c:v>122.78747376269446</c:v>
                </c:pt>
                <c:pt idx="9">
                  <c:v>103.87442401393359</c:v>
                </c:pt>
                <c:pt idx="10">
                  <c:v>97.818573527312012</c:v>
                </c:pt>
                <c:pt idx="11">
                  <c:v>152.14204047146569</c:v>
                </c:pt>
                <c:pt idx="12">
                  <c:v>144.9174364897892</c:v>
                </c:pt>
                <c:pt idx="13">
                  <c:v>153.34645864013584</c:v>
                </c:pt>
                <c:pt idx="14">
                  <c:v>161.04652635216459</c:v>
                </c:pt>
                <c:pt idx="15">
                  <c:v>156.1599844214206</c:v>
                </c:pt>
                <c:pt idx="16">
                  <c:v>109.99185800050887</c:v>
                </c:pt>
                <c:pt idx="17">
                  <c:v>108.34328806959093</c:v>
                </c:pt>
                <c:pt idx="18">
                  <c:v>128.29759712965989</c:v>
                </c:pt>
                <c:pt idx="19">
                  <c:v>145.87931551955521</c:v>
                </c:pt>
                <c:pt idx="20">
                  <c:v>153.02663714319351</c:v>
                </c:pt>
                <c:pt idx="21">
                  <c:v>136.87760263384706</c:v>
                </c:pt>
                <c:pt idx="22">
                  <c:v>135.73066582426154</c:v>
                </c:pt>
                <c:pt idx="23">
                  <c:v>160.97159491443375</c:v>
                </c:pt>
              </c:numCache>
            </c:numRef>
          </c:val>
          <c:smooth val="0"/>
          <c:extLst>
            <c:ext xmlns:c16="http://schemas.microsoft.com/office/drawing/2014/chart" uri="{C3380CC4-5D6E-409C-BE32-E72D297353CC}">
              <c16:uniqueId val="{00000000-CDCA-4E58-B028-E041A1D8C1BA}"/>
            </c:ext>
          </c:extLst>
        </c:ser>
        <c:ser>
          <c:idx val="1"/>
          <c:order val="1"/>
          <c:tx>
            <c:strRef>
              <c:f>'Задание 1'!$C$36:$C$37</c:f>
              <c:strCache>
                <c:ptCount val="1"/>
                <c:pt idx="0">
                  <c:v>Visa</c:v>
                </c:pt>
              </c:strCache>
            </c:strRef>
          </c:tx>
          <c:spPr>
            <a:ln w="28575" cap="rnd">
              <a:solidFill>
                <a:schemeClr val="accent2"/>
              </a:solidFill>
              <a:round/>
            </a:ln>
            <a:effectLst/>
          </c:spPr>
          <c:marker>
            <c:symbol val="none"/>
          </c:marker>
          <c:cat>
            <c:strRef>
              <c:f>'Задание 1'!$A$38:$A$61</c:f>
              <c:strCach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'Задание 1'!$C$38:$C$61</c:f>
              <c:numCache>
                <c:formatCode>0.00</c:formatCode>
                <c:ptCount val="24"/>
                <c:pt idx="0">
                  <c:v>113.9331184584354</c:v>
                </c:pt>
                <c:pt idx="1">
                  <c:v>118.51813853942215</c:v>
                </c:pt>
                <c:pt idx="2">
                  <c:v>106.28921470564345</c:v>
                </c:pt>
                <c:pt idx="3">
                  <c:v>122.74794969940558</c:v>
                </c:pt>
                <c:pt idx="4">
                  <c:v>120.90261769535149</c:v>
                </c:pt>
                <c:pt idx="5">
                  <c:v>133.52976570505712</c:v>
                </c:pt>
                <c:pt idx="6">
                  <c:v>125.25377968268003</c:v>
                </c:pt>
                <c:pt idx="7">
                  <c:v>105.52373028282697</c:v>
                </c:pt>
                <c:pt idx="8">
                  <c:v>111.12034194321544</c:v>
                </c:pt>
                <c:pt idx="9">
                  <c:v>110.74600171757665</c:v>
                </c:pt>
                <c:pt idx="10">
                  <c:v>107.80457725307761</c:v>
                </c:pt>
                <c:pt idx="11">
                  <c:v>152.08407824366904</c:v>
                </c:pt>
                <c:pt idx="12">
                  <c:v>149.76138902303879</c:v>
                </c:pt>
                <c:pt idx="13">
                  <c:v>166.64078854600808</c:v>
                </c:pt>
                <c:pt idx="14">
                  <c:v>148.33432658670063</c:v>
                </c:pt>
                <c:pt idx="15">
                  <c:v>159.87263613443992</c:v>
                </c:pt>
                <c:pt idx="16">
                  <c:v>109.55382721005734</c:v>
                </c:pt>
                <c:pt idx="17">
                  <c:v>111.96749041449617</c:v>
                </c:pt>
                <c:pt idx="18">
                  <c:v>113.06782551270364</c:v>
                </c:pt>
                <c:pt idx="19">
                  <c:v>104.15490594127083</c:v>
                </c:pt>
                <c:pt idx="20">
                  <c:v>106.89762774152014</c:v>
                </c:pt>
                <c:pt idx="21">
                  <c:v>112.89883423057135</c:v>
                </c:pt>
                <c:pt idx="22">
                  <c:v>111.73753200564533</c:v>
                </c:pt>
                <c:pt idx="23">
                  <c:v>113.96886988826279</c:v>
                </c:pt>
              </c:numCache>
            </c:numRef>
          </c:val>
          <c:smooth val="0"/>
          <c:extLst>
            <c:ext xmlns:c16="http://schemas.microsoft.com/office/drawing/2014/chart" uri="{C3380CC4-5D6E-409C-BE32-E72D297353CC}">
              <c16:uniqueId val="{00000005-CDCA-4E58-B028-E041A1D8C1BA}"/>
            </c:ext>
          </c:extLst>
        </c:ser>
        <c:ser>
          <c:idx val="2"/>
          <c:order val="2"/>
          <c:tx>
            <c:strRef>
              <c:f>'Задание 1'!$D$36:$D$37</c:f>
              <c:strCache>
                <c:ptCount val="1"/>
                <c:pt idx="0">
                  <c:v>МИР</c:v>
                </c:pt>
              </c:strCache>
            </c:strRef>
          </c:tx>
          <c:spPr>
            <a:ln w="28575" cap="rnd">
              <a:solidFill>
                <a:schemeClr val="accent3"/>
              </a:solidFill>
              <a:round/>
            </a:ln>
            <a:effectLst/>
          </c:spPr>
          <c:marker>
            <c:symbol val="none"/>
          </c:marker>
          <c:cat>
            <c:strRef>
              <c:f>'Задание 1'!$A$38:$A$61</c:f>
              <c:strCach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'Задание 1'!$D$38:$D$61</c:f>
              <c:numCache>
                <c:formatCode>0.00</c:formatCode>
                <c:ptCount val="24"/>
                <c:pt idx="0">
                  <c:v>109.11751151738216</c:v>
                </c:pt>
                <c:pt idx="1">
                  <c:v>90.833559767037755</c:v>
                </c:pt>
                <c:pt idx="2">
                  <c:v>102.10764815244053</c:v>
                </c:pt>
                <c:pt idx="3">
                  <c:v>150.70751505810767</c:v>
                </c:pt>
                <c:pt idx="4">
                  <c:v>129.44478819306607</c:v>
                </c:pt>
                <c:pt idx="5">
                  <c:v>123.9528373095461</c:v>
                </c:pt>
                <c:pt idx="6">
                  <c:v>118.58414526738714</c:v>
                </c:pt>
                <c:pt idx="7">
                  <c:v>90.217914395034313</c:v>
                </c:pt>
                <c:pt idx="8">
                  <c:v>103.99905512665188</c:v>
                </c:pt>
                <c:pt idx="9">
                  <c:v>108.91658192813338</c:v>
                </c:pt>
                <c:pt idx="10">
                  <c:v>117.58953381911851</c:v>
                </c:pt>
                <c:pt idx="11">
                  <c:v>148.02394873945963</c:v>
                </c:pt>
                <c:pt idx="12">
                  <c:v>162.95781722778815</c:v>
                </c:pt>
                <c:pt idx="13">
                  <c:v>146.71497822112948</c:v>
                </c:pt>
                <c:pt idx="14">
                  <c:v>138.1733808879662</c:v>
                </c:pt>
                <c:pt idx="15">
                  <c:v>144.86004912606595</c:v>
                </c:pt>
                <c:pt idx="16">
                  <c:v>117.52828556396391</c:v>
                </c:pt>
                <c:pt idx="17">
                  <c:v>119.6862743133679</c:v>
                </c:pt>
                <c:pt idx="18">
                  <c:v>97.626264247362712</c:v>
                </c:pt>
                <c:pt idx="19">
                  <c:v>108.14739344193815</c:v>
                </c:pt>
                <c:pt idx="20">
                  <c:v>107.86299420726776</c:v>
                </c:pt>
                <c:pt idx="21">
                  <c:v>117.94039858068572</c:v>
                </c:pt>
                <c:pt idx="22">
                  <c:v>103.57064268590041</c:v>
                </c:pt>
                <c:pt idx="23">
                  <c:v>100.77668904725995</c:v>
                </c:pt>
              </c:numCache>
            </c:numRef>
          </c:val>
          <c:smooth val="0"/>
          <c:extLst>
            <c:ext xmlns:c16="http://schemas.microsoft.com/office/drawing/2014/chart" uri="{C3380CC4-5D6E-409C-BE32-E72D297353CC}">
              <c16:uniqueId val="{00000006-CDCA-4E58-B028-E041A1D8C1BA}"/>
            </c:ext>
          </c:extLst>
        </c:ser>
        <c:dLbls>
          <c:showLegendKey val="0"/>
          <c:showVal val="0"/>
          <c:showCatName val="0"/>
          <c:showSerName val="0"/>
          <c:showPercent val="0"/>
          <c:showBubbleSize val="0"/>
        </c:dLbls>
        <c:smooth val="0"/>
        <c:axId val="926156880"/>
        <c:axId val="926161200"/>
      </c:lineChart>
      <c:catAx>
        <c:axId val="926156880"/>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ru-RU" sz="1200">
                    <a:solidFill>
                      <a:sysClr val="windowText" lastClr="000000"/>
                    </a:solidFill>
                  </a:rPr>
                  <a:t>Время суток</a:t>
                </a:r>
              </a:p>
            </c:rich>
          </c:tx>
          <c:layout>
            <c:manualLayout>
              <c:xMode val="edge"/>
              <c:yMode val="edge"/>
              <c:x val="0.44683998497739857"/>
              <c:y val="0.95098906754670998"/>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ru-RU"/>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crossAx val="926161200"/>
        <c:crosses val="autoZero"/>
        <c:auto val="1"/>
        <c:lblAlgn val="ctr"/>
        <c:lblOffset val="100"/>
        <c:noMultiLvlLbl val="0"/>
      </c:catAx>
      <c:valAx>
        <c:axId val="926161200"/>
        <c:scaling>
          <c:orientation val="minMax"/>
          <c:min val="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ru-RU" sz="1200">
                    <a:solidFill>
                      <a:sysClr val="windowText" lastClr="000000"/>
                    </a:solidFill>
                  </a:rPr>
                  <a:t>Средняя длительность</a:t>
                </a:r>
                <a:r>
                  <a:rPr lang="ru-RU" sz="1200" baseline="0">
                    <a:solidFill>
                      <a:sysClr val="windowText" lastClr="000000"/>
                    </a:solidFill>
                  </a:rPr>
                  <a:t> транзакций</a:t>
                </a:r>
                <a:endParaRPr lang="ru-RU" sz="1200">
                  <a:solidFill>
                    <a:sysClr val="windowText" lastClr="000000"/>
                  </a:solidFill>
                </a:endParaRPr>
              </a:p>
            </c:rich>
          </c:tx>
          <c:layout>
            <c:manualLayout>
              <c:xMode val="edge"/>
              <c:yMode val="edge"/>
              <c:x val="2.4510153958505658E-3"/>
              <c:y val="0.24755420294788907"/>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ru-RU"/>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crossAx val="926156880"/>
        <c:crosses val="autoZero"/>
        <c:crossBetween val="between"/>
        <c:majorUnit val="10"/>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ru-RU"/>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pivotSource>
    <c:name>[09 08_24_0966b5d229800076.83554415Задание2_Асмандияров_Раиль (1).xlsx]Задание 1!Сводная таблица5</c:name>
    <c:fmtId val="5"/>
  </c:pivotSource>
  <c:chart>
    <c:autoTitleDeleted val="1"/>
    <c:pivotFmts>
      <c:pivotFmt>
        <c:idx val="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8.1134219635589033E-2"/>
          <c:y val="2.4951802120242325E-2"/>
          <c:w val="0.81000095096808555"/>
          <c:h val="0.86878013372165508"/>
        </c:manualLayout>
      </c:layout>
      <c:lineChart>
        <c:grouping val="standard"/>
        <c:varyColors val="0"/>
        <c:ser>
          <c:idx val="0"/>
          <c:order val="0"/>
          <c:tx>
            <c:strRef>
              <c:f>'Задание 1'!$B$66:$B$67</c:f>
              <c:strCache>
                <c:ptCount val="1"/>
                <c:pt idx="0">
                  <c:v>MasterCard</c:v>
                </c:pt>
              </c:strCache>
            </c:strRef>
          </c:tx>
          <c:spPr>
            <a:ln w="28575" cap="rnd">
              <a:solidFill>
                <a:schemeClr val="accent1"/>
              </a:solidFill>
              <a:round/>
            </a:ln>
            <a:effectLst/>
          </c:spPr>
          <c:marker>
            <c:symbol val="none"/>
          </c:marker>
          <c:cat>
            <c:strRef>
              <c:f>'Задание 1'!$A$68:$A$91</c:f>
              <c:strCach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'Задание 1'!$B$68:$B$91</c:f>
              <c:numCache>
                <c:formatCode>0</c:formatCode>
                <c:ptCount val="24"/>
                <c:pt idx="0">
                  <c:v>87</c:v>
                </c:pt>
                <c:pt idx="1">
                  <c:v>95</c:v>
                </c:pt>
                <c:pt idx="2">
                  <c:v>90</c:v>
                </c:pt>
                <c:pt idx="3">
                  <c:v>73</c:v>
                </c:pt>
                <c:pt idx="4">
                  <c:v>93</c:v>
                </c:pt>
                <c:pt idx="5">
                  <c:v>90</c:v>
                </c:pt>
                <c:pt idx="6">
                  <c:v>95</c:v>
                </c:pt>
                <c:pt idx="7">
                  <c:v>97</c:v>
                </c:pt>
                <c:pt idx="8">
                  <c:v>117</c:v>
                </c:pt>
                <c:pt idx="9">
                  <c:v>88</c:v>
                </c:pt>
                <c:pt idx="10">
                  <c:v>102</c:v>
                </c:pt>
                <c:pt idx="11">
                  <c:v>127</c:v>
                </c:pt>
                <c:pt idx="12">
                  <c:v>121</c:v>
                </c:pt>
                <c:pt idx="13">
                  <c:v>125</c:v>
                </c:pt>
                <c:pt idx="14">
                  <c:v>118</c:v>
                </c:pt>
                <c:pt idx="15">
                  <c:v>124</c:v>
                </c:pt>
                <c:pt idx="16">
                  <c:v>104</c:v>
                </c:pt>
                <c:pt idx="17">
                  <c:v>116</c:v>
                </c:pt>
                <c:pt idx="18">
                  <c:v>99</c:v>
                </c:pt>
                <c:pt idx="19">
                  <c:v>93</c:v>
                </c:pt>
                <c:pt idx="20">
                  <c:v>96</c:v>
                </c:pt>
                <c:pt idx="21">
                  <c:v>113</c:v>
                </c:pt>
                <c:pt idx="22">
                  <c:v>122</c:v>
                </c:pt>
                <c:pt idx="23">
                  <c:v>106</c:v>
                </c:pt>
              </c:numCache>
            </c:numRef>
          </c:val>
          <c:smooth val="0"/>
          <c:extLst>
            <c:ext xmlns:c16="http://schemas.microsoft.com/office/drawing/2014/chart" uri="{C3380CC4-5D6E-409C-BE32-E72D297353CC}">
              <c16:uniqueId val="{00000000-9F9F-4294-8659-F4C4EC62FF85}"/>
            </c:ext>
          </c:extLst>
        </c:ser>
        <c:ser>
          <c:idx val="1"/>
          <c:order val="1"/>
          <c:tx>
            <c:strRef>
              <c:f>'Задание 1'!$C$66:$C$67</c:f>
              <c:strCache>
                <c:ptCount val="1"/>
                <c:pt idx="0">
                  <c:v>Visa</c:v>
                </c:pt>
              </c:strCache>
            </c:strRef>
          </c:tx>
          <c:spPr>
            <a:ln w="28575" cap="rnd">
              <a:solidFill>
                <a:schemeClr val="accent2"/>
              </a:solidFill>
              <a:round/>
            </a:ln>
            <a:effectLst/>
          </c:spPr>
          <c:marker>
            <c:symbol val="none"/>
          </c:marker>
          <c:cat>
            <c:strRef>
              <c:f>'Задание 1'!$A$68:$A$91</c:f>
              <c:strCach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'Задание 1'!$C$68:$C$91</c:f>
              <c:numCache>
                <c:formatCode>0</c:formatCode>
                <c:ptCount val="24"/>
                <c:pt idx="0">
                  <c:v>146</c:v>
                </c:pt>
                <c:pt idx="1">
                  <c:v>156</c:v>
                </c:pt>
                <c:pt idx="2">
                  <c:v>138</c:v>
                </c:pt>
                <c:pt idx="3">
                  <c:v>120</c:v>
                </c:pt>
                <c:pt idx="4">
                  <c:v>129</c:v>
                </c:pt>
                <c:pt idx="5">
                  <c:v>118</c:v>
                </c:pt>
                <c:pt idx="6">
                  <c:v>176</c:v>
                </c:pt>
                <c:pt idx="7">
                  <c:v>162</c:v>
                </c:pt>
                <c:pt idx="8">
                  <c:v>152</c:v>
                </c:pt>
                <c:pt idx="9">
                  <c:v>161</c:v>
                </c:pt>
                <c:pt idx="10">
                  <c:v>149</c:v>
                </c:pt>
                <c:pt idx="11">
                  <c:v>176</c:v>
                </c:pt>
                <c:pt idx="12">
                  <c:v>167</c:v>
                </c:pt>
                <c:pt idx="13">
                  <c:v>164</c:v>
                </c:pt>
                <c:pt idx="14">
                  <c:v>192</c:v>
                </c:pt>
                <c:pt idx="15">
                  <c:v>198</c:v>
                </c:pt>
                <c:pt idx="16">
                  <c:v>154</c:v>
                </c:pt>
                <c:pt idx="17">
                  <c:v>132</c:v>
                </c:pt>
                <c:pt idx="18">
                  <c:v>145</c:v>
                </c:pt>
                <c:pt idx="19">
                  <c:v>154</c:v>
                </c:pt>
                <c:pt idx="20">
                  <c:v>159</c:v>
                </c:pt>
                <c:pt idx="21">
                  <c:v>164</c:v>
                </c:pt>
                <c:pt idx="22">
                  <c:v>164</c:v>
                </c:pt>
                <c:pt idx="23">
                  <c:v>143</c:v>
                </c:pt>
              </c:numCache>
            </c:numRef>
          </c:val>
          <c:smooth val="0"/>
          <c:extLst>
            <c:ext xmlns:c16="http://schemas.microsoft.com/office/drawing/2014/chart" uri="{C3380CC4-5D6E-409C-BE32-E72D297353CC}">
              <c16:uniqueId val="{00000003-9F9F-4294-8659-F4C4EC62FF85}"/>
            </c:ext>
          </c:extLst>
        </c:ser>
        <c:ser>
          <c:idx val="2"/>
          <c:order val="2"/>
          <c:tx>
            <c:strRef>
              <c:f>'Задание 1'!$D$66:$D$67</c:f>
              <c:strCache>
                <c:ptCount val="1"/>
                <c:pt idx="0">
                  <c:v>МИР</c:v>
                </c:pt>
              </c:strCache>
            </c:strRef>
          </c:tx>
          <c:spPr>
            <a:ln w="28575" cap="rnd">
              <a:solidFill>
                <a:schemeClr val="accent3"/>
              </a:solidFill>
              <a:round/>
            </a:ln>
            <a:effectLst/>
          </c:spPr>
          <c:marker>
            <c:symbol val="none"/>
          </c:marker>
          <c:cat>
            <c:strRef>
              <c:f>'Задание 1'!$A$68:$A$91</c:f>
              <c:strCach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'Задание 1'!$D$68:$D$91</c:f>
              <c:numCache>
                <c:formatCode>0</c:formatCode>
                <c:ptCount val="24"/>
                <c:pt idx="0">
                  <c:v>67</c:v>
                </c:pt>
                <c:pt idx="1">
                  <c:v>61</c:v>
                </c:pt>
                <c:pt idx="2">
                  <c:v>58</c:v>
                </c:pt>
                <c:pt idx="3">
                  <c:v>50</c:v>
                </c:pt>
                <c:pt idx="4">
                  <c:v>67</c:v>
                </c:pt>
                <c:pt idx="5">
                  <c:v>66</c:v>
                </c:pt>
                <c:pt idx="6">
                  <c:v>61</c:v>
                </c:pt>
                <c:pt idx="7">
                  <c:v>55</c:v>
                </c:pt>
                <c:pt idx="8">
                  <c:v>62</c:v>
                </c:pt>
                <c:pt idx="9">
                  <c:v>64</c:v>
                </c:pt>
                <c:pt idx="10">
                  <c:v>60</c:v>
                </c:pt>
                <c:pt idx="11">
                  <c:v>79</c:v>
                </c:pt>
                <c:pt idx="12">
                  <c:v>67</c:v>
                </c:pt>
                <c:pt idx="13">
                  <c:v>87</c:v>
                </c:pt>
                <c:pt idx="14">
                  <c:v>83</c:v>
                </c:pt>
                <c:pt idx="15">
                  <c:v>91</c:v>
                </c:pt>
                <c:pt idx="16">
                  <c:v>69</c:v>
                </c:pt>
                <c:pt idx="17">
                  <c:v>75</c:v>
                </c:pt>
                <c:pt idx="18">
                  <c:v>78</c:v>
                </c:pt>
                <c:pt idx="19">
                  <c:v>78</c:v>
                </c:pt>
                <c:pt idx="20">
                  <c:v>61</c:v>
                </c:pt>
                <c:pt idx="21">
                  <c:v>64</c:v>
                </c:pt>
                <c:pt idx="22">
                  <c:v>73</c:v>
                </c:pt>
                <c:pt idx="23">
                  <c:v>63</c:v>
                </c:pt>
              </c:numCache>
            </c:numRef>
          </c:val>
          <c:smooth val="0"/>
          <c:extLst>
            <c:ext xmlns:c16="http://schemas.microsoft.com/office/drawing/2014/chart" uri="{C3380CC4-5D6E-409C-BE32-E72D297353CC}">
              <c16:uniqueId val="{00000004-9F9F-4294-8659-F4C4EC62FF85}"/>
            </c:ext>
          </c:extLst>
        </c:ser>
        <c:dLbls>
          <c:showLegendKey val="0"/>
          <c:showVal val="0"/>
          <c:showCatName val="0"/>
          <c:showSerName val="0"/>
          <c:showPercent val="0"/>
          <c:showBubbleSize val="0"/>
        </c:dLbls>
        <c:smooth val="0"/>
        <c:axId val="1076922256"/>
        <c:axId val="1076939536"/>
      </c:lineChart>
      <c:catAx>
        <c:axId val="1076922256"/>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ru-RU" sz="1200">
                    <a:solidFill>
                      <a:sysClr val="windowText" lastClr="000000"/>
                    </a:solidFill>
                  </a:rPr>
                  <a:t>Время суток</a:t>
                </a:r>
              </a:p>
            </c:rich>
          </c:tx>
          <c:layout>
            <c:manualLayout>
              <c:xMode val="edge"/>
              <c:yMode val="edge"/>
              <c:x val="0.45846276008977138"/>
              <c:y val="0.96093996062992126"/>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ru-RU"/>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crossAx val="1076939536"/>
        <c:crosses val="autoZero"/>
        <c:auto val="1"/>
        <c:lblAlgn val="ctr"/>
        <c:lblOffset val="100"/>
        <c:noMultiLvlLbl val="0"/>
      </c:catAx>
      <c:valAx>
        <c:axId val="1076939536"/>
        <c:scaling>
          <c:orientation val="minMax"/>
          <c:max val="210"/>
          <c:min val="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ru-RU" sz="1200">
                    <a:solidFill>
                      <a:sysClr val="windowText" lastClr="000000"/>
                    </a:solidFill>
                  </a:rPr>
                  <a:t>Количество закзаов</a:t>
                </a:r>
              </a:p>
            </c:rich>
          </c:tx>
          <c:layout>
            <c:manualLayout>
              <c:xMode val="edge"/>
              <c:yMode val="edge"/>
              <c:x val="2.4154589371980675E-3"/>
              <c:y val="0.34664522807493897"/>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ru-RU"/>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crossAx val="1076922256"/>
        <c:crosses val="autoZero"/>
        <c:crossBetween val="between"/>
        <c:majorUnit val="20"/>
      </c:valAx>
      <c:spPr>
        <a:noFill/>
        <a:ln>
          <a:noFill/>
        </a:ln>
        <a:effectLst/>
      </c:spPr>
    </c:plotArea>
    <c:legend>
      <c:legendPos val="r"/>
      <c:layout>
        <c:manualLayout>
          <c:xMode val="edge"/>
          <c:yMode val="edge"/>
          <c:x val="0.90689402501157945"/>
          <c:y val="0.36568231904221898"/>
          <c:w val="9.3105974988420562E-2"/>
          <c:h val="0.19469378571479548"/>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ru-RU"/>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ru-RU"/>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pivotSource>
    <c:name>[22 19_51_0366c796a7222c29.91880360Воркшопexcel1_Асмандияров_РА.xlsx]Задание 1!Сводная таблица17</c:name>
    <c:fmtId val="7"/>
  </c:pivotSource>
  <c:chart>
    <c:autoTitleDeleted val="1"/>
    <c:pivotFmts>
      <c:pivotFmt>
        <c:idx val="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8.5175891391482433E-2"/>
          <c:y val="2.6893467601745668E-2"/>
          <c:w val="0.91023112473495404"/>
          <c:h val="0.8585690442134768"/>
        </c:manualLayout>
      </c:layout>
      <c:lineChart>
        <c:grouping val="standard"/>
        <c:varyColors val="0"/>
        <c:ser>
          <c:idx val="0"/>
          <c:order val="0"/>
          <c:tx>
            <c:strRef>
              <c:f>'Задание 1'!$B$7</c:f>
              <c:strCache>
                <c:ptCount val="1"/>
                <c:pt idx="0">
                  <c:v>Итог</c:v>
                </c:pt>
              </c:strCache>
            </c:strRef>
          </c:tx>
          <c:spPr>
            <a:ln w="28575" cap="rnd">
              <a:solidFill>
                <a:schemeClr val="accent1"/>
              </a:solidFill>
              <a:round/>
            </a:ln>
            <a:effectLst/>
          </c:spPr>
          <c:marker>
            <c:symbol val="none"/>
          </c:marker>
          <c:cat>
            <c:strRef>
              <c:f>'Задание 1'!$A$8:$A$10</c:f>
              <c:strCache>
                <c:ptCount val="3"/>
                <c:pt idx="0">
                  <c:v>05.сен</c:v>
                </c:pt>
                <c:pt idx="1">
                  <c:v>06.сен</c:v>
                </c:pt>
                <c:pt idx="2">
                  <c:v>07.сен</c:v>
                </c:pt>
              </c:strCache>
            </c:strRef>
          </c:cat>
          <c:val>
            <c:numRef>
              <c:f>'Задание 1'!$B$8:$B$10</c:f>
              <c:numCache>
                <c:formatCode>0</c:formatCode>
                <c:ptCount val="3"/>
                <c:pt idx="0">
                  <c:v>207.90849670986918</c:v>
                </c:pt>
                <c:pt idx="1">
                  <c:v>230.29468595860121</c:v>
                </c:pt>
                <c:pt idx="2">
                  <c:v>186.33333329583846</c:v>
                </c:pt>
              </c:numCache>
            </c:numRef>
          </c:val>
          <c:smooth val="0"/>
          <c:extLst>
            <c:ext xmlns:c16="http://schemas.microsoft.com/office/drawing/2014/chart" uri="{C3380CC4-5D6E-409C-BE32-E72D297353CC}">
              <c16:uniqueId val="{00000000-6FF4-4853-BD85-AA148FACFC7B}"/>
            </c:ext>
          </c:extLst>
        </c:ser>
        <c:dLbls>
          <c:showLegendKey val="0"/>
          <c:showVal val="0"/>
          <c:showCatName val="0"/>
          <c:showSerName val="0"/>
          <c:showPercent val="0"/>
          <c:showBubbleSize val="0"/>
        </c:dLbls>
        <c:smooth val="0"/>
        <c:axId val="522741231"/>
        <c:axId val="522740751"/>
      </c:lineChart>
      <c:catAx>
        <c:axId val="522741231"/>
        <c:scaling>
          <c:orientation val="minMax"/>
        </c:scaling>
        <c:delete val="0"/>
        <c:axPos val="b"/>
        <c:title>
          <c:tx>
            <c:rich>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r>
                  <a:rPr lang="ru-RU" sz="1200">
                    <a:solidFill>
                      <a:sysClr val="windowText" lastClr="000000"/>
                    </a:solidFill>
                  </a:rPr>
                  <a:t>Дни</a:t>
                </a:r>
              </a:p>
            </c:rich>
          </c:tx>
          <c:layout>
            <c:manualLayout>
              <c:xMode val="edge"/>
              <c:yMode val="edge"/>
              <c:x val="0.48495119683395133"/>
              <c:y val="0.95932444841440201"/>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ru-RU"/>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crossAx val="522740751"/>
        <c:crosses val="autoZero"/>
        <c:auto val="1"/>
        <c:lblAlgn val="ctr"/>
        <c:lblOffset val="100"/>
        <c:noMultiLvlLbl val="0"/>
      </c:catAx>
      <c:valAx>
        <c:axId val="522740751"/>
        <c:scaling>
          <c:orientation val="minMax"/>
          <c:max val="240"/>
          <c:min val="16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r>
                  <a:rPr lang="ru-RU" sz="1200">
                    <a:solidFill>
                      <a:sysClr val="windowText" lastClr="000000"/>
                    </a:solidFill>
                  </a:rPr>
                  <a:t>Количество покупок</a:t>
                </a:r>
              </a:p>
            </c:rich>
          </c:tx>
          <c:layout>
            <c:manualLayout>
              <c:xMode val="edge"/>
              <c:yMode val="edge"/>
              <c:x val="5.4813826834381697E-3"/>
              <c:y val="0.39415851552679054"/>
            </c:manualLayout>
          </c:layout>
          <c:overlay val="0"/>
          <c:spPr>
            <a:noFill/>
            <a:ln>
              <a:noFill/>
            </a:ln>
            <a:effectLst/>
          </c:spPr>
          <c:txPr>
            <a:bodyPr rot="-54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ru-RU"/>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crossAx val="522741231"/>
        <c:crosses val="autoZero"/>
        <c:crossBetween val="between"/>
        <c:majorUnit val="1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ru-RU"/>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pivotSource>
    <c:name>[22 19_51_0366c796a7222c29.91880360Воркшопexcel1_Асмандияров_РА.xlsx]Задание 1!Сводная таблица18</c:name>
    <c:fmtId val="9"/>
  </c:pivotSource>
  <c:chart>
    <c:title>
      <c:tx>
        <c:rich>
          <a:bodyPr rot="0" spcFirstLastPara="1" vertOverflow="ellipsis" vert="horz" wrap="square" anchor="ctr" anchorCtr="1"/>
          <a:lstStyle/>
          <a:p>
            <a:pPr>
              <a:defRPr sz="1800" b="0" i="0" u="none" strike="noStrike" kern="1200" spc="0" baseline="0">
                <a:solidFill>
                  <a:schemeClr val="tx1">
                    <a:lumMod val="65000"/>
                    <a:lumOff val="35000"/>
                  </a:schemeClr>
                </a:solidFill>
                <a:latin typeface="+mn-lt"/>
                <a:ea typeface="+mn-ea"/>
                <a:cs typeface="+mn-cs"/>
              </a:defRPr>
            </a:pPr>
            <a:r>
              <a:rPr lang="ru-RU" sz="1800" b="0" i="0" u="none" strike="noStrike" kern="1200" spc="0" baseline="0" dirty="0">
                <a:solidFill>
                  <a:sysClr val="windowText" lastClr="000000"/>
                </a:solidFill>
              </a:rPr>
              <a:t>Динамика количества и ср. длительности транзакций на 2 сервере на кассах с кассиром  с 5 по 7 сентября</a:t>
            </a:r>
          </a:p>
        </c:rich>
      </c:tx>
      <c:layout>
        <c:manualLayout>
          <c:xMode val="edge"/>
          <c:yMode val="edge"/>
          <c:x val="2.4668496403598208E-2"/>
          <c:y val="3.1889117716678884E-3"/>
        </c:manualLayout>
      </c:layout>
      <c:overlay val="0"/>
      <c:spPr>
        <a:noFill/>
        <a:ln>
          <a:noFill/>
        </a:ln>
        <a:effectLst/>
      </c:spPr>
      <c:txPr>
        <a:bodyPr rot="0" spcFirstLastPara="1" vertOverflow="ellipsis" vert="horz" wrap="square" anchor="ctr" anchorCtr="1"/>
        <a:lstStyle/>
        <a:p>
          <a:pPr>
            <a:defRPr sz="1800" b="0" i="0" u="none" strike="noStrike" kern="1200" spc="0" baseline="0">
              <a:solidFill>
                <a:schemeClr val="tx1">
                  <a:lumMod val="65000"/>
                  <a:lumOff val="35000"/>
                </a:schemeClr>
              </a:solidFill>
              <a:latin typeface="+mn-lt"/>
              <a:ea typeface="+mn-ea"/>
              <a:cs typeface="+mn-cs"/>
            </a:defRPr>
          </a:pPr>
          <a:endParaRPr lang="ru-RU"/>
        </a:p>
      </c:txPr>
    </c:title>
    <c:autoTitleDeleted val="0"/>
    <c:pivotFmts>
      <c:pivotFmt>
        <c:idx val="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0749636900705013"/>
          <c:y val="0.20357172303188645"/>
          <c:w val="0.65894372415960967"/>
          <c:h val="0.65381581119816079"/>
        </c:manualLayout>
      </c:layout>
      <c:barChart>
        <c:barDir val="col"/>
        <c:grouping val="clustered"/>
        <c:varyColors val="0"/>
        <c:ser>
          <c:idx val="1"/>
          <c:order val="1"/>
          <c:tx>
            <c:strRef>
              <c:f>'Задание 1'!$C$21</c:f>
              <c:strCache>
                <c:ptCount val="1"/>
                <c:pt idx="0">
                  <c:v>Количество покупок</c:v>
                </c:pt>
              </c:strCache>
            </c:strRef>
          </c:tx>
          <c:spPr>
            <a:solidFill>
              <a:schemeClr val="accent2"/>
            </a:solidFill>
            <a:ln>
              <a:noFill/>
            </a:ln>
            <a:effectLst/>
          </c:spPr>
          <c:invertIfNegative val="0"/>
          <c:cat>
            <c:strRef>
              <c:f>'Задание 1'!$A$22:$A$24</c:f>
              <c:strCache>
                <c:ptCount val="3"/>
                <c:pt idx="0">
                  <c:v>05.сен</c:v>
                </c:pt>
                <c:pt idx="1">
                  <c:v>06.сен</c:v>
                </c:pt>
                <c:pt idx="2">
                  <c:v>07.сен</c:v>
                </c:pt>
              </c:strCache>
            </c:strRef>
          </c:cat>
          <c:val>
            <c:numRef>
              <c:f>'Задание 1'!$C$22:$C$24</c:f>
              <c:numCache>
                <c:formatCode>General</c:formatCode>
                <c:ptCount val="3"/>
                <c:pt idx="0">
                  <c:v>150</c:v>
                </c:pt>
                <c:pt idx="1">
                  <c:v>168</c:v>
                </c:pt>
                <c:pt idx="2">
                  <c:v>148</c:v>
                </c:pt>
              </c:numCache>
            </c:numRef>
          </c:val>
          <c:extLst>
            <c:ext xmlns:c16="http://schemas.microsoft.com/office/drawing/2014/chart" uri="{C3380CC4-5D6E-409C-BE32-E72D297353CC}">
              <c16:uniqueId val="{00000000-C129-4AFA-9FBE-818900444E72}"/>
            </c:ext>
          </c:extLst>
        </c:ser>
        <c:dLbls>
          <c:showLegendKey val="0"/>
          <c:showVal val="0"/>
          <c:showCatName val="0"/>
          <c:showSerName val="0"/>
          <c:showPercent val="0"/>
          <c:showBubbleSize val="0"/>
        </c:dLbls>
        <c:gapWidth val="219"/>
        <c:axId val="470427183"/>
        <c:axId val="470427663"/>
      </c:barChart>
      <c:lineChart>
        <c:grouping val="standard"/>
        <c:varyColors val="0"/>
        <c:ser>
          <c:idx val="0"/>
          <c:order val="0"/>
          <c:tx>
            <c:strRef>
              <c:f>'Задание 1'!$B$21</c:f>
              <c:strCache>
                <c:ptCount val="1"/>
                <c:pt idx="0">
                  <c:v>Ср. длительность платежа</c:v>
                </c:pt>
              </c:strCache>
            </c:strRef>
          </c:tx>
          <c:spPr>
            <a:ln w="28575" cap="rnd">
              <a:solidFill>
                <a:schemeClr val="accent1"/>
              </a:solidFill>
              <a:round/>
            </a:ln>
            <a:effectLst/>
          </c:spPr>
          <c:marker>
            <c:symbol val="none"/>
          </c:marker>
          <c:cat>
            <c:strRef>
              <c:f>'Задание 1'!$A$22:$A$24</c:f>
              <c:strCache>
                <c:ptCount val="3"/>
                <c:pt idx="0">
                  <c:v>05.сен</c:v>
                </c:pt>
                <c:pt idx="1">
                  <c:v>06.сен</c:v>
                </c:pt>
                <c:pt idx="2">
                  <c:v>07.сен</c:v>
                </c:pt>
              </c:strCache>
            </c:strRef>
          </c:cat>
          <c:val>
            <c:numRef>
              <c:f>'Задание 1'!$B$22:$B$24</c:f>
              <c:numCache>
                <c:formatCode>0</c:formatCode>
                <c:ptCount val="3"/>
                <c:pt idx="0">
                  <c:v>64.986666636541486</c:v>
                </c:pt>
                <c:pt idx="1">
                  <c:v>69.70238094259652</c:v>
                </c:pt>
                <c:pt idx="2">
                  <c:v>114.07432432421734</c:v>
                </c:pt>
              </c:numCache>
            </c:numRef>
          </c:val>
          <c:smooth val="0"/>
          <c:extLst>
            <c:ext xmlns:c16="http://schemas.microsoft.com/office/drawing/2014/chart" uri="{C3380CC4-5D6E-409C-BE32-E72D297353CC}">
              <c16:uniqueId val="{00000001-C129-4AFA-9FBE-818900444E72}"/>
            </c:ext>
          </c:extLst>
        </c:ser>
        <c:dLbls>
          <c:showLegendKey val="0"/>
          <c:showVal val="0"/>
          <c:showCatName val="0"/>
          <c:showSerName val="0"/>
          <c:showPercent val="0"/>
          <c:showBubbleSize val="0"/>
        </c:dLbls>
        <c:marker val="1"/>
        <c:smooth val="0"/>
        <c:axId val="853039087"/>
        <c:axId val="853044847"/>
      </c:lineChart>
      <c:catAx>
        <c:axId val="470427183"/>
        <c:scaling>
          <c:orientation val="minMax"/>
        </c:scaling>
        <c:delete val="0"/>
        <c:axPos val="b"/>
        <c:title>
          <c:tx>
            <c:rich>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r>
                  <a:rPr lang="ru-RU" sz="1200">
                    <a:solidFill>
                      <a:sysClr val="windowText" lastClr="000000"/>
                    </a:solidFill>
                  </a:rPr>
                  <a:t>Дни</a:t>
                </a:r>
              </a:p>
            </c:rich>
          </c:tx>
          <c:layout>
            <c:manualLayout>
              <c:xMode val="edge"/>
              <c:yMode val="edge"/>
              <c:x val="0.42393909748486075"/>
              <c:y val="0.93643246738317443"/>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ru-RU"/>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crossAx val="470427663"/>
        <c:crosses val="autoZero"/>
        <c:auto val="1"/>
        <c:lblAlgn val="ctr"/>
        <c:lblOffset val="100"/>
        <c:noMultiLvlLbl val="0"/>
      </c:catAx>
      <c:valAx>
        <c:axId val="470427663"/>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r>
                  <a:rPr lang="ru-RU" sz="1200">
                    <a:solidFill>
                      <a:sysClr val="windowText" lastClr="000000"/>
                    </a:solidFill>
                  </a:rPr>
                  <a:t>Количество покупок</a:t>
                </a:r>
              </a:p>
            </c:rich>
          </c:tx>
          <c:layout>
            <c:manualLayout>
              <c:xMode val="edge"/>
              <c:yMode val="edge"/>
              <c:x val="2.3585732882618927E-2"/>
              <c:y val="0.2708861013861763"/>
            </c:manualLayout>
          </c:layout>
          <c:overlay val="0"/>
          <c:spPr>
            <a:noFill/>
            <a:ln>
              <a:noFill/>
            </a:ln>
            <a:effectLst/>
          </c:spPr>
          <c:txPr>
            <a:bodyPr rot="-54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ru-RU"/>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crossAx val="470427183"/>
        <c:crosses val="autoZero"/>
        <c:crossBetween val="between"/>
      </c:valAx>
      <c:valAx>
        <c:axId val="853044847"/>
        <c:scaling>
          <c:orientation val="minMax"/>
        </c:scaling>
        <c:delete val="0"/>
        <c:axPos val="r"/>
        <c:title>
          <c:tx>
            <c:rich>
              <a:bodyPr rot="-54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r>
                  <a:rPr lang="ru-RU" sz="1200">
                    <a:solidFill>
                      <a:sysClr val="windowText" lastClr="000000"/>
                    </a:solidFill>
                  </a:rPr>
                  <a:t>Ср. длительность платежа</a:t>
                </a:r>
              </a:p>
            </c:rich>
          </c:tx>
          <c:layout>
            <c:manualLayout>
              <c:xMode val="edge"/>
              <c:yMode val="edge"/>
              <c:x val="0.80536333694743312"/>
              <c:y val="0.28924266078944699"/>
            </c:manualLayout>
          </c:layout>
          <c:overlay val="0"/>
          <c:spPr>
            <a:noFill/>
            <a:ln>
              <a:noFill/>
            </a:ln>
            <a:effectLst/>
          </c:spPr>
          <c:txPr>
            <a:bodyPr rot="-54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ru-RU"/>
            </a:p>
          </c:txPr>
        </c:title>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crossAx val="853039087"/>
        <c:crosses val="max"/>
        <c:crossBetween val="between"/>
      </c:valAx>
      <c:catAx>
        <c:axId val="853039087"/>
        <c:scaling>
          <c:orientation val="minMax"/>
        </c:scaling>
        <c:delete val="1"/>
        <c:axPos val="b"/>
        <c:numFmt formatCode="General" sourceLinked="1"/>
        <c:majorTickMark val="out"/>
        <c:minorTickMark val="none"/>
        <c:tickLblPos val="nextTo"/>
        <c:crossAx val="853044847"/>
        <c:crosses val="autoZero"/>
        <c:auto val="1"/>
        <c:lblAlgn val="ctr"/>
        <c:lblOffset val="100"/>
        <c:noMultiLvlLbl val="0"/>
      </c:catAx>
      <c:spPr>
        <a:noFill/>
        <a:ln>
          <a:noFill/>
        </a:ln>
        <a:effectLst/>
      </c:spPr>
    </c:plotArea>
    <c:legend>
      <c:legendPos val="r"/>
      <c:layout>
        <c:manualLayout>
          <c:xMode val="edge"/>
          <c:yMode val="edge"/>
          <c:x val="0.82697599382500442"/>
          <c:y val="3.5854940715083394E-3"/>
          <c:w val="0.17101937503459472"/>
          <c:h val="0.2212876040252808"/>
        </c:manualLayout>
      </c:layout>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ru-RU"/>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ru-RU"/>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pivotSource>
    <c:name>[22 19_51_0366c796a7222c29.91880360Воркшопexcel1_Асмандияров_РА.xlsx]Задание 1!Сводная таблица19</c:name>
    <c:fmtId val="9"/>
  </c:pivotSource>
  <c:chart>
    <c:title>
      <c:tx>
        <c:rich>
          <a:bodyPr rot="0" spcFirstLastPara="1" vertOverflow="ellipsis" vert="horz" wrap="square" anchor="ctr" anchorCtr="1"/>
          <a:lstStyle/>
          <a:p>
            <a:pPr>
              <a:defRPr sz="1800" b="0" i="0" u="none" strike="noStrike" kern="1200" spc="0" baseline="0">
                <a:solidFill>
                  <a:schemeClr val="tx1">
                    <a:lumMod val="65000"/>
                    <a:lumOff val="35000"/>
                  </a:schemeClr>
                </a:solidFill>
                <a:latin typeface="+mn-lt"/>
                <a:ea typeface="+mn-ea"/>
                <a:cs typeface="+mn-cs"/>
              </a:defRPr>
            </a:pPr>
            <a:r>
              <a:rPr lang="ru-RU" sz="1800" b="0" i="0" u="none" strike="noStrike" kern="1200" spc="0" baseline="0" dirty="0">
                <a:solidFill>
                  <a:sysClr val="windowText" lastClr="000000"/>
                </a:solidFill>
                <a:latin typeface="+mn-lt"/>
              </a:rPr>
              <a:t>Динамика количества и ср. длительности транзакций на 1 сервере  на кассах с кассиром с 5 по 7 сентября</a:t>
            </a:r>
          </a:p>
        </c:rich>
      </c:tx>
      <c:layout>
        <c:manualLayout>
          <c:xMode val="edge"/>
          <c:yMode val="edge"/>
          <c:x val="4.8744474374913666E-2"/>
          <c:y val="4.0056091143692869E-3"/>
        </c:manualLayout>
      </c:layout>
      <c:overlay val="0"/>
      <c:spPr>
        <a:noFill/>
        <a:ln>
          <a:noFill/>
        </a:ln>
        <a:effectLst/>
      </c:spPr>
      <c:txPr>
        <a:bodyPr rot="0" spcFirstLastPara="1" vertOverflow="ellipsis" vert="horz" wrap="square" anchor="ctr" anchorCtr="1"/>
        <a:lstStyle/>
        <a:p>
          <a:pPr>
            <a:defRPr sz="1800" b="0" i="0" u="none" strike="noStrike" kern="1200" spc="0" baseline="0">
              <a:solidFill>
                <a:schemeClr val="tx1">
                  <a:lumMod val="65000"/>
                  <a:lumOff val="35000"/>
                </a:schemeClr>
              </a:solidFill>
              <a:latin typeface="+mn-lt"/>
              <a:ea typeface="+mn-ea"/>
              <a:cs typeface="+mn-cs"/>
            </a:defRPr>
          </a:pPr>
          <a:endParaRPr lang="ru-RU"/>
        </a:p>
      </c:txPr>
    </c:title>
    <c:autoTitleDeleted val="0"/>
    <c:pivotFmts>
      <c:pivotFmt>
        <c:idx val="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0417091693476685"/>
          <c:y val="0.23107570475065242"/>
          <c:w val="0.66359251968503941"/>
          <c:h val="0.61146600877953827"/>
        </c:manualLayout>
      </c:layout>
      <c:barChart>
        <c:barDir val="col"/>
        <c:grouping val="clustered"/>
        <c:varyColors val="0"/>
        <c:ser>
          <c:idx val="1"/>
          <c:order val="1"/>
          <c:tx>
            <c:strRef>
              <c:f>'Задание 1'!$C$35</c:f>
              <c:strCache>
                <c:ptCount val="1"/>
                <c:pt idx="0">
                  <c:v>Количество покупок</c:v>
                </c:pt>
              </c:strCache>
            </c:strRef>
          </c:tx>
          <c:spPr>
            <a:solidFill>
              <a:schemeClr val="accent2"/>
            </a:solidFill>
            <a:ln>
              <a:noFill/>
            </a:ln>
            <a:effectLst/>
          </c:spPr>
          <c:invertIfNegative val="0"/>
          <c:cat>
            <c:strRef>
              <c:f>'Задание 1'!$A$36:$A$38</c:f>
              <c:strCache>
                <c:ptCount val="3"/>
                <c:pt idx="0">
                  <c:v>05.сен</c:v>
                </c:pt>
                <c:pt idx="1">
                  <c:v>06.сен</c:v>
                </c:pt>
                <c:pt idx="2">
                  <c:v>07.сен</c:v>
                </c:pt>
              </c:strCache>
            </c:strRef>
          </c:cat>
          <c:val>
            <c:numRef>
              <c:f>'Задание 1'!$C$36:$C$38</c:f>
              <c:numCache>
                <c:formatCode>General</c:formatCode>
                <c:ptCount val="3"/>
                <c:pt idx="0">
                  <c:v>517</c:v>
                </c:pt>
                <c:pt idx="1">
                  <c:v>616</c:v>
                </c:pt>
                <c:pt idx="2">
                  <c:v>558</c:v>
                </c:pt>
              </c:numCache>
            </c:numRef>
          </c:val>
          <c:extLst>
            <c:ext xmlns:c16="http://schemas.microsoft.com/office/drawing/2014/chart" uri="{C3380CC4-5D6E-409C-BE32-E72D297353CC}">
              <c16:uniqueId val="{00000000-46E6-4017-B927-241C2B7D2F19}"/>
            </c:ext>
          </c:extLst>
        </c:ser>
        <c:dLbls>
          <c:showLegendKey val="0"/>
          <c:showVal val="0"/>
          <c:showCatName val="0"/>
          <c:showSerName val="0"/>
          <c:showPercent val="0"/>
          <c:showBubbleSize val="0"/>
        </c:dLbls>
        <c:gapWidth val="219"/>
        <c:overlap val="-27"/>
        <c:axId val="856617423"/>
        <c:axId val="856623183"/>
      </c:barChart>
      <c:lineChart>
        <c:grouping val="standard"/>
        <c:varyColors val="0"/>
        <c:ser>
          <c:idx val="0"/>
          <c:order val="0"/>
          <c:tx>
            <c:strRef>
              <c:f>'Задание 1'!$B$35</c:f>
              <c:strCache>
                <c:ptCount val="1"/>
                <c:pt idx="0">
                  <c:v>Ср. длительность платежа</c:v>
                </c:pt>
              </c:strCache>
            </c:strRef>
          </c:tx>
          <c:spPr>
            <a:ln w="28575" cap="rnd">
              <a:solidFill>
                <a:schemeClr val="accent1"/>
              </a:solidFill>
              <a:round/>
            </a:ln>
            <a:effectLst/>
          </c:spPr>
          <c:marker>
            <c:symbol val="none"/>
          </c:marker>
          <c:cat>
            <c:strRef>
              <c:f>'Задание 1'!$A$36:$A$38</c:f>
              <c:strCache>
                <c:ptCount val="3"/>
                <c:pt idx="0">
                  <c:v>05.сен</c:v>
                </c:pt>
                <c:pt idx="1">
                  <c:v>06.сен</c:v>
                </c:pt>
                <c:pt idx="2">
                  <c:v>07.сен</c:v>
                </c:pt>
              </c:strCache>
            </c:strRef>
          </c:cat>
          <c:val>
            <c:numRef>
              <c:f>'Задание 1'!$B$36:$B$38</c:f>
              <c:numCache>
                <c:formatCode>0</c:formatCode>
                <c:ptCount val="3"/>
                <c:pt idx="0">
                  <c:v>141.45841391557175</c:v>
                </c:pt>
                <c:pt idx="1">
                  <c:v>96.853896101268447</c:v>
                </c:pt>
                <c:pt idx="2">
                  <c:v>96.28673833869999</c:v>
                </c:pt>
              </c:numCache>
            </c:numRef>
          </c:val>
          <c:smooth val="0"/>
          <c:extLst>
            <c:ext xmlns:c16="http://schemas.microsoft.com/office/drawing/2014/chart" uri="{C3380CC4-5D6E-409C-BE32-E72D297353CC}">
              <c16:uniqueId val="{00000001-46E6-4017-B927-241C2B7D2F19}"/>
            </c:ext>
          </c:extLst>
        </c:ser>
        <c:dLbls>
          <c:showLegendKey val="0"/>
          <c:showVal val="0"/>
          <c:showCatName val="0"/>
          <c:showSerName val="0"/>
          <c:showPercent val="0"/>
          <c:showBubbleSize val="0"/>
        </c:dLbls>
        <c:marker val="1"/>
        <c:smooth val="0"/>
        <c:axId val="856622703"/>
        <c:axId val="856622223"/>
      </c:lineChart>
      <c:catAx>
        <c:axId val="856617423"/>
        <c:scaling>
          <c:orientation val="minMax"/>
        </c:scaling>
        <c:delete val="0"/>
        <c:axPos val="b"/>
        <c:title>
          <c:tx>
            <c:rich>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r>
                  <a:rPr lang="ru-RU" sz="1200">
                    <a:solidFill>
                      <a:sysClr val="windowText" lastClr="000000"/>
                    </a:solidFill>
                  </a:rPr>
                  <a:t>Дни</a:t>
                </a:r>
              </a:p>
            </c:rich>
          </c:tx>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ru-RU"/>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crossAx val="856623183"/>
        <c:crosses val="autoZero"/>
        <c:auto val="1"/>
        <c:lblAlgn val="ctr"/>
        <c:lblOffset val="100"/>
        <c:noMultiLvlLbl val="0"/>
      </c:catAx>
      <c:valAx>
        <c:axId val="856623183"/>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r>
                  <a:rPr lang="ru-RU" sz="1200">
                    <a:solidFill>
                      <a:sysClr val="windowText" lastClr="000000"/>
                    </a:solidFill>
                  </a:rPr>
                  <a:t>Кооичество</a:t>
                </a:r>
                <a:r>
                  <a:rPr lang="ru-RU" sz="1200" baseline="0">
                    <a:solidFill>
                      <a:sysClr val="windowText" lastClr="000000"/>
                    </a:solidFill>
                  </a:rPr>
                  <a:t> покупок</a:t>
                </a:r>
                <a:endParaRPr lang="ru-RU" sz="1200">
                  <a:solidFill>
                    <a:sysClr val="windowText" lastClr="000000"/>
                  </a:solidFill>
                </a:endParaRPr>
              </a:p>
            </c:rich>
          </c:tx>
          <c:layout>
            <c:manualLayout>
              <c:xMode val="edge"/>
              <c:yMode val="edge"/>
              <c:x val="2.2864173228346458E-2"/>
              <c:y val="0.249376607368933"/>
            </c:manualLayout>
          </c:layout>
          <c:overlay val="0"/>
          <c:spPr>
            <a:noFill/>
            <a:ln>
              <a:noFill/>
            </a:ln>
            <a:effectLst/>
          </c:spPr>
          <c:txPr>
            <a:bodyPr rot="-54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ru-RU"/>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crossAx val="856617423"/>
        <c:crosses val="autoZero"/>
        <c:crossBetween val="between"/>
      </c:valAx>
      <c:valAx>
        <c:axId val="856622223"/>
        <c:scaling>
          <c:orientation val="minMax"/>
        </c:scaling>
        <c:delete val="0"/>
        <c:axPos val="r"/>
        <c:title>
          <c:tx>
            <c:rich>
              <a:bodyPr rot="-54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r>
                  <a:rPr lang="ru-RU" sz="1200">
                    <a:solidFill>
                      <a:sysClr val="windowText" lastClr="000000"/>
                    </a:solidFill>
                  </a:rPr>
                  <a:t>Ср.</a:t>
                </a:r>
                <a:r>
                  <a:rPr lang="ru-RU" sz="1200" baseline="0">
                    <a:solidFill>
                      <a:sysClr val="windowText" lastClr="000000"/>
                    </a:solidFill>
                  </a:rPr>
                  <a:t> длительность платежа</a:t>
                </a:r>
                <a:endParaRPr lang="ru-RU" sz="1200">
                  <a:solidFill>
                    <a:sysClr val="windowText" lastClr="000000"/>
                  </a:solidFill>
                </a:endParaRPr>
              </a:p>
            </c:rich>
          </c:tx>
          <c:layout>
            <c:manualLayout>
              <c:xMode val="edge"/>
              <c:yMode val="edge"/>
              <c:x val="0.80781729175300476"/>
              <c:y val="0.24328745071050675"/>
            </c:manualLayout>
          </c:layout>
          <c:overlay val="0"/>
          <c:spPr>
            <a:noFill/>
            <a:ln>
              <a:noFill/>
            </a:ln>
            <a:effectLst/>
          </c:spPr>
          <c:txPr>
            <a:bodyPr rot="-54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ru-RU"/>
            </a:p>
          </c:txPr>
        </c:title>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crossAx val="856622703"/>
        <c:crosses val="max"/>
        <c:crossBetween val="between"/>
      </c:valAx>
      <c:catAx>
        <c:axId val="856622703"/>
        <c:scaling>
          <c:orientation val="minMax"/>
        </c:scaling>
        <c:delete val="1"/>
        <c:axPos val="b"/>
        <c:numFmt formatCode="General" sourceLinked="1"/>
        <c:majorTickMark val="out"/>
        <c:minorTickMark val="none"/>
        <c:tickLblPos val="nextTo"/>
        <c:crossAx val="856622223"/>
        <c:crosses val="autoZero"/>
        <c:auto val="1"/>
        <c:lblAlgn val="ctr"/>
        <c:lblOffset val="100"/>
        <c:noMultiLvlLbl val="0"/>
      </c:cat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ru-RU"/>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pivotSource>
    <c:name>[23 19_24_5466c8e206d4de68.59189473Воркшопexcel1_Асмандияров_РА.xlsx]Задание 2!Сводная таблица24</c:name>
    <c:fmtId val="5"/>
  </c:pivotSource>
  <c:chart>
    <c:autoTitleDeleted val="1"/>
    <c:pivotFmts>
      <c:pivotFmt>
        <c:idx val="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169765067333873"/>
          <c:y val="7.2690922512526845E-2"/>
          <c:w val="0.5963525952363431"/>
          <c:h val="0.81821164399904556"/>
        </c:manualLayout>
      </c:layout>
      <c:barChart>
        <c:barDir val="col"/>
        <c:grouping val="clustered"/>
        <c:varyColors val="0"/>
        <c:ser>
          <c:idx val="1"/>
          <c:order val="1"/>
          <c:tx>
            <c:strRef>
              <c:f>'Задание 2'!$C$3</c:f>
              <c:strCache>
                <c:ptCount val="1"/>
                <c:pt idx="0">
                  <c:v>Количество покупок</c:v>
                </c:pt>
              </c:strCache>
            </c:strRef>
          </c:tx>
          <c:spPr>
            <a:solidFill>
              <a:schemeClr val="accent2"/>
            </a:solidFill>
            <a:ln>
              <a:noFill/>
            </a:ln>
            <a:effectLst/>
          </c:spPr>
          <c:invertIfNegative val="0"/>
          <c:cat>
            <c:strRef>
              <c:f>'Задание 2'!$A$4:$A$6</c:f>
              <c:strCache>
                <c:ptCount val="3"/>
                <c:pt idx="0">
                  <c:v>5</c:v>
                </c:pt>
                <c:pt idx="1">
                  <c:v>6</c:v>
                </c:pt>
                <c:pt idx="2">
                  <c:v>7</c:v>
                </c:pt>
              </c:strCache>
            </c:strRef>
          </c:cat>
          <c:val>
            <c:numRef>
              <c:f>'Задание 2'!$C$4:$C$6</c:f>
              <c:numCache>
                <c:formatCode>General</c:formatCode>
                <c:ptCount val="3"/>
                <c:pt idx="0">
                  <c:v>10120</c:v>
                </c:pt>
                <c:pt idx="1">
                  <c:v>10217</c:v>
                </c:pt>
                <c:pt idx="2">
                  <c:v>10053</c:v>
                </c:pt>
              </c:numCache>
            </c:numRef>
          </c:val>
          <c:extLst>
            <c:ext xmlns:c16="http://schemas.microsoft.com/office/drawing/2014/chart" uri="{C3380CC4-5D6E-409C-BE32-E72D297353CC}">
              <c16:uniqueId val="{00000000-3E5C-4A32-AC69-8D0D4E9E0512}"/>
            </c:ext>
          </c:extLst>
        </c:ser>
        <c:dLbls>
          <c:showLegendKey val="0"/>
          <c:showVal val="0"/>
          <c:showCatName val="0"/>
          <c:showSerName val="0"/>
          <c:showPercent val="0"/>
          <c:showBubbleSize val="0"/>
        </c:dLbls>
        <c:gapWidth val="219"/>
        <c:overlap val="-27"/>
        <c:axId val="853034767"/>
        <c:axId val="853031887"/>
      </c:barChart>
      <c:lineChart>
        <c:grouping val="standard"/>
        <c:varyColors val="0"/>
        <c:ser>
          <c:idx val="0"/>
          <c:order val="0"/>
          <c:tx>
            <c:strRef>
              <c:f>'Задание 2'!$B$3</c:f>
              <c:strCache>
                <c:ptCount val="1"/>
                <c:pt idx="0">
                  <c:v>Средний чек</c:v>
                </c:pt>
              </c:strCache>
            </c:strRef>
          </c:tx>
          <c:spPr>
            <a:ln w="28575" cap="rnd">
              <a:solidFill>
                <a:schemeClr val="accent1"/>
              </a:solidFill>
              <a:round/>
            </a:ln>
            <a:effectLst/>
          </c:spPr>
          <c:marker>
            <c:symbol val="none"/>
          </c:marker>
          <c:cat>
            <c:strRef>
              <c:f>'Задание 2'!$A$4:$A$6</c:f>
              <c:strCache>
                <c:ptCount val="3"/>
                <c:pt idx="0">
                  <c:v>5</c:v>
                </c:pt>
                <c:pt idx="1">
                  <c:v>6</c:v>
                </c:pt>
                <c:pt idx="2">
                  <c:v>7</c:v>
                </c:pt>
              </c:strCache>
            </c:strRef>
          </c:cat>
          <c:val>
            <c:numRef>
              <c:f>'Задание 2'!$B$4:$B$6</c:f>
              <c:numCache>
                <c:formatCode>_-* #\ ##0\ "₽"_-;\-* #\ ##0\ "₽"_-;_-* "-"??\ "₽"_-;_-@_-</c:formatCode>
                <c:ptCount val="3"/>
                <c:pt idx="0">
                  <c:v>18518.769268774704</c:v>
                </c:pt>
                <c:pt idx="1">
                  <c:v>18358.344132328471</c:v>
                </c:pt>
                <c:pt idx="2">
                  <c:v>19769.976126529393</c:v>
                </c:pt>
              </c:numCache>
            </c:numRef>
          </c:val>
          <c:smooth val="0"/>
          <c:extLst>
            <c:ext xmlns:c16="http://schemas.microsoft.com/office/drawing/2014/chart" uri="{C3380CC4-5D6E-409C-BE32-E72D297353CC}">
              <c16:uniqueId val="{00000001-3E5C-4A32-AC69-8D0D4E9E0512}"/>
            </c:ext>
          </c:extLst>
        </c:ser>
        <c:dLbls>
          <c:showLegendKey val="0"/>
          <c:showVal val="0"/>
          <c:showCatName val="0"/>
          <c:showSerName val="0"/>
          <c:showPercent val="0"/>
          <c:showBubbleSize val="0"/>
        </c:dLbls>
        <c:marker val="1"/>
        <c:smooth val="0"/>
        <c:axId val="853031407"/>
        <c:axId val="853046287"/>
      </c:lineChart>
      <c:catAx>
        <c:axId val="853034767"/>
        <c:scaling>
          <c:orientation val="minMax"/>
        </c:scaling>
        <c:delete val="0"/>
        <c:axPos val="b"/>
        <c:title>
          <c:tx>
            <c:rich>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r>
                  <a:rPr lang="ru-RU" sz="1200">
                    <a:solidFill>
                      <a:schemeClr val="tx1"/>
                    </a:solidFill>
                  </a:rPr>
                  <a:t>Дни</a:t>
                </a:r>
              </a:p>
            </c:rich>
          </c:tx>
          <c:layout>
            <c:manualLayout>
              <c:xMode val="edge"/>
              <c:yMode val="edge"/>
              <c:x val="0.3997347854002864"/>
              <c:y val="0.95292498061321884"/>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ru-RU"/>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crossAx val="853031887"/>
        <c:crosses val="autoZero"/>
        <c:auto val="1"/>
        <c:lblAlgn val="ctr"/>
        <c:lblOffset val="100"/>
        <c:noMultiLvlLbl val="0"/>
      </c:catAx>
      <c:valAx>
        <c:axId val="853031887"/>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r>
                  <a:rPr lang="ru-RU" sz="1200">
                    <a:solidFill>
                      <a:sysClr val="windowText" lastClr="000000"/>
                    </a:solidFill>
                  </a:rPr>
                  <a:t>Количество</a:t>
                </a:r>
                <a:r>
                  <a:rPr lang="ru-RU" sz="1200" baseline="0">
                    <a:solidFill>
                      <a:sysClr val="windowText" lastClr="000000"/>
                    </a:solidFill>
                  </a:rPr>
                  <a:t> покупок</a:t>
                </a:r>
                <a:endParaRPr lang="ru-RU" sz="1200">
                  <a:solidFill>
                    <a:sysClr val="windowText" lastClr="000000"/>
                  </a:solidFill>
                </a:endParaRPr>
              </a:p>
            </c:rich>
          </c:tx>
          <c:layout>
            <c:manualLayout>
              <c:xMode val="edge"/>
              <c:yMode val="edge"/>
              <c:x val="2.5093480162805736E-2"/>
              <c:y val="0.36026492782152231"/>
            </c:manualLayout>
          </c:layout>
          <c:overlay val="0"/>
          <c:spPr>
            <a:noFill/>
            <a:ln>
              <a:noFill/>
            </a:ln>
            <a:effectLst/>
          </c:spPr>
          <c:txPr>
            <a:bodyPr rot="-54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ru-RU"/>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crossAx val="853034767"/>
        <c:crosses val="autoZero"/>
        <c:crossBetween val="between"/>
      </c:valAx>
      <c:valAx>
        <c:axId val="853046287"/>
        <c:scaling>
          <c:orientation val="minMax"/>
        </c:scaling>
        <c:delete val="0"/>
        <c:axPos val="r"/>
        <c:title>
          <c:tx>
            <c:rich>
              <a:bodyPr rot="-54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r>
                  <a:rPr lang="ru-RU" sz="1200">
                    <a:solidFill>
                      <a:sysClr val="windowText" lastClr="000000"/>
                    </a:solidFill>
                  </a:rPr>
                  <a:t>Средний чек</a:t>
                </a:r>
              </a:p>
            </c:rich>
          </c:tx>
          <c:layout>
            <c:manualLayout>
              <c:xMode val="edge"/>
              <c:yMode val="edge"/>
              <c:x val="0.79709003765833619"/>
              <c:y val="0.38325261721546167"/>
            </c:manualLayout>
          </c:layout>
          <c:overlay val="0"/>
          <c:spPr>
            <a:noFill/>
            <a:ln>
              <a:noFill/>
            </a:ln>
            <a:effectLst/>
          </c:spPr>
          <c:txPr>
            <a:bodyPr rot="-54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ru-RU"/>
            </a:p>
          </c:txPr>
        </c:title>
        <c:numFmt formatCode="_-* #\ ##0\ &quot;₽&quot;_-;\-* #\ ##0\ &quot;₽&quot;_-;_-* &quot;-&quot;??\ &quot;₽&quot;_-;_-@_-"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crossAx val="853031407"/>
        <c:crosses val="max"/>
        <c:crossBetween val="between"/>
      </c:valAx>
      <c:catAx>
        <c:axId val="853031407"/>
        <c:scaling>
          <c:orientation val="minMax"/>
        </c:scaling>
        <c:delete val="1"/>
        <c:axPos val="b"/>
        <c:numFmt formatCode="General" sourceLinked="1"/>
        <c:majorTickMark val="out"/>
        <c:minorTickMark val="none"/>
        <c:tickLblPos val="nextTo"/>
        <c:crossAx val="853046287"/>
        <c:crosses val="autoZero"/>
        <c:auto val="1"/>
        <c:lblAlgn val="ctr"/>
        <c:lblOffset val="100"/>
        <c:noMultiLvlLbl val="0"/>
      </c:catAx>
      <c:spPr>
        <a:noFill/>
        <a:ln>
          <a:noFill/>
        </a:ln>
        <a:effectLst/>
      </c:spPr>
    </c:plotArea>
    <c:legend>
      <c:legendPos val="r"/>
      <c:layout>
        <c:manualLayout>
          <c:xMode val="edge"/>
          <c:yMode val="edge"/>
          <c:x val="0.85420235852075743"/>
          <c:y val="0.32382999086440156"/>
          <c:w val="0.13411545259808738"/>
          <c:h val="0.21378586554521595"/>
        </c:manualLayout>
      </c:layout>
      <c:overlay val="0"/>
      <c:spPr>
        <a:noFill/>
        <a:ln>
          <a:noFill/>
        </a:ln>
        <a:effectLst/>
      </c:spPr>
      <c:txPr>
        <a:bodyPr rot="0" spcFirstLastPara="1" vertOverflow="ellipsis" vert="horz" wrap="square" anchor="ctr" anchorCtr="1"/>
        <a:lstStyle/>
        <a:p>
          <a:pPr>
            <a:defRPr sz="1050" b="0" i="0" u="none" strike="noStrike" kern="1200" baseline="0">
              <a:solidFill>
                <a:schemeClr val="tx1">
                  <a:lumMod val="65000"/>
                  <a:lumOff val="35000"/>
                </a:schemeClr>
              </a:solidFill>
              <a:latin typeface="+mn-lt"/>
              <a:ea typeface="+mn-ea"/>
              <a:cs typeface="+mn-cs"/>
            </a:defRPr>
          </a:pPr>
          <a:endParaRPr lang="ru-RU"/>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ru-RU"/>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1"/>
          <c:order val="1"/>
          <c:tx>
            <c:strRef>
              <c:f>'Задание 2'!$H$45</c:f>
              <c:strCache>
                <c:ptCount val="1"/>
                <c:pt idx="0">
                  <c:v>Средняя сэкономленная клиентами сумма</c:v>
                </c:pt>
              </c:strCache>
            </c:strRef>
          </c:tx>
          <c:spPr>
            <a:solidFill>
              <a:schemeClr val="accent2"/>
            </a:solidFill>
            <a:ln>
              <a:noFill/>
            </a:ln>
            <a:effectLst/>
          </c:spPr>
          <c:invertIfNegative val="0"/>
          <c:val>
            <c:numRef>
              <c:f>'Задание 2'!$H$46:$H$49</c:f>
              <c:numCache>
                <c:formatCode>_-* #\ ##0\ "₽"_-;\-* #\ ##0\ "₽"_-;_-* "-"??\ "₽"_-;_-@_-</c:formatCode>
                <c:ptCount val="4"/>
                <c:pt idx="0">
                  <c:v>185.22174333204484</c:v>
                </c:pt>
                <c:pt idx="1">
                  <c:v>370.44348666408968</c:v>
                </c:pt>
                <c:pt idx="2">
                  <c:v>555.66522999613449</c:v>
                </c:pt>
                <c:pt idx="3">
                  <c:v>740.88697332817935</c:v>
                </c:pt>
              </c:numCache>
            </c:numRef>
          </c:val>
          <c:extLst>
            <c:ext xmlns:c16="http://schemas.microsoft.com/office/drawing/2014/chart" uri="{C3380CC4-5D6E-409C-BE32-E72D297353CC}">
              <c16:uniqueId val="{00000000-A815-43B4-B723-05703D8B10D1}"/>
            </c:ext>
          </c:extLst>
        </c:ser>
        <c:dLbls>
          <c:showLegendKey val="0"/>
          <c:showVal val="0"/>
          <c:showCatName val="0"/>
          <c:showSerName val="0"/>
          <c:showPercent val="0"/>
          <c:showBubbleSize val="0"/>
        </c:dLbls>
        <c:gapWidth val="219"/>
        <c:overlap val="-27"/>
        <c:axId val="1349341967"/>
        <c:axId val="1349331407"/>
      </c:barChart>
      <c:barChart>
        <c:barDir val="col"/>
        <c:grouping val="clustered"/>
        <c:varyColors val="0"/>
        <c:ser>
          <c:idx val="2"/>
          <c:order val="2"/>
          <c:tx>
            <c:strRef>
              <c:f>'Задание 2'!$I$45</c:f>
              <c:strCache>
                <c:ptCount val="1"/>
                <c:pt idx="0">
                  <c:v>Общая сэкономленная клиентами сумма</c:v>
                </c:pt>
              </c:strCache>
            </c:strRef>
          </c:tx>
          <c:spPr>
            <a:solidFill>
              <a:schemeClr val="accent3"/>
            </a:solidFill>
            <a:ln>
              <a:noFill/>
            </a:ln>
            <a:effectLst/>
          </c:spPr>
          <c:invertIfNegative val="0"/>
          <c:val>
            <c:numRef>
              <c:f>'Задание 2'!$I$46:$I$49</c:f>
              <c:numCache>
                <c:formatCode>_-* #\ ##0\ "₽"_-;\-* #\ ##0\ "₽"_-;_-* "-"??\ "₽"_-;_-@_-</c:formatCode>
                <c:ptCount val="4"/>
                <c:pt idx="0">
                  <c:v>479168.65</c:v>
                </c:pt>
                <c:pt idx="1">
                  <c:v>958337.3</c:v>
                </c:pt>
                <c:pt idx="2">
                  <c:v>1437505.95</c:v>
                </c:pt>
                <c:pt idx="3">
                  <c:v>1916674.6</c:v>
                </c:pt>
              </c:numCache>
            </c:numRef>
          </c:val>
          <c:extLst>
            <c:ext xmlns:c16="http://schemas.microsoft.com/office/drawing/2014/chart" uri="{C3380CC4-5D6E-409C-BE32-E72D297353CC}">
              <c16:uniqueId val="{00000001-A815-43B4-B723-05703D8B10D1}"/>
            </c:ext>
          </c:extLst>
        </c:ser>
        <c:dLbls>
          <c:showLegendKey val="0"/>
          <c:showVal val="0"/>
          <c:showCatName val="0"/>
          <c:showSerName val="0"/>
          <c:showPercent val="0"/>
          <c:showBubbleSize val="0"/>
        </c:dLbls>
        <c:gapWidth val="219"/>
        <c:overlap val="-27"/>
        <c:axId val="1349329967"/>
        <c:axId val="1349338127"/>
      </c:barChart>
      <c:lineChart>
        <c:grouping val="standard"/>
        <c:varyColors val="0"/>
        <c:ser>
          <c:idx val="0"/>
          <c:order val="0"/>
          <c:tx>
            <c:strRef>
              <c:f>'Задание 2'!$G$45</c:f>
              <c:strCache>
                <c:ptCount val="1"/>
                <c:pt idx="0">
                  <c:v>Бины</c:v>
                </c:pt>
              </c:strCache>
            </c:strRef>
          </c:tx>
          <c:spPr>
            <a:ln w="28575" cap="rnd">
              <a:solidFill>
                <a:schemeClr val="accent1"/>
              </a:solidFill>
              <a:round/>
            </a:ln>
            <a:effectLst/>
          </c:spPr>
          <c:marker>
            <c:symbol val="none"/>
          </c:marker>
          <c:val>
            <c:numRef>
              <c:f>'Задание 2'!$G$46:$G$49</c:f>
              <c:numCache>
                <c:formatCode>0.00%</c:formatCode>
                <c:ptCount val="4"/>
                <c:pt idx="0">
                  <c:v>0.01</c:v>
                </c:pt>
                <c:pt idx="1">
                  <c:v>0.02</c:v>
                </c:pt>
                <c:pt idx="2">
                  <c:v>0.03</c:v>
                </c:pt>
                <c:pt idx="3">
                  <c:v>0.04</c:v>
                </c:pt>
              </c:numCache>
            </c:numRef>
          </c:val>
          <c:smooth val="0"/>
          <c:extLst>
            <c:ext xmlns:c16="http://schemas.microsoft.com/office/drawing/2014/chart" uri="{C3380CC4-5D6E-409C-BE32-E72D297353CC}">
              <c16:uniqueId val="{00000002-A815-43B4-B723-05703D8B10D1}"/>
            </c:ext>
          </c:extLst>
        </c:ser>
        <c:dLbls>
          <c:showLegendKey val="0"/>
          <c:showVal val="0"/>
          <c:showCatName val="0"/>
          <c:showSerName val="0"/>
          <c:showPercent val="0"/>
          <c:showBubbleSize val="0"/>
        </c:dLbls>
        <c:marker val="1"/>
        <c:smooth val="0"/>
        <c:axId val="1349341967"/>
        <c:axId val="1349331407"/>
      </c:lineChart>
      <c:catAx>
        <c:axId val="1349341967"/>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ru-RU" sz="1100">
                    <a:solidFill>
                      <a:sysClr val="windowText" lastClr="000000"/>
                    </a:solidFill>
                  </a:rPr>
                  <a:t>Бины</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ru-RU"/>
            </a:p>
          </c:txPr>
        </c:title>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crossAx val="1349331407"/>
        <c:crosses val="autoZero"/>
        <c:auto val="1"/>
        <c:lblAlgn val="ctr"/>
        <c:lblOffset val="100"/>
        <c:noMultiLvlLbl val="0"/>
      </c:catAx>
      <c:valAx>
        <c:axId val="1349331407"/>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r>
                  <a:rPr lang="ru-RU" sz="1200">
                    <a:solidFill>
                      <a:sysClr val="windowText" lastClr="000000"/>
                    </a:solidFill>
                  </a:rPr>
                  <a:t>Средняя сэкономленная клиентами сумма</a:t>
                </a:r>
              </a:p>
            </c:rich>
          </c:tx>
          <c:layout>
            <c:manualLayout>
              <c:xMode val="edge"/>
              <c:yMode val="edge"/>
              <c:x val="3.6473692750781765E-3"/>
              <c:y val="0.15777648583039597"/>
            </c:manualLayout>
          </c:layout>
          <c:overlay val="0"/>
          <c:spPr>
            <a:noFill/>
            <a:ln>
              <a:noFill/>
            </a:ln>
            <a:effectLst/>
          </c:spPr>
          <c:txPr>
            <a:bodyPr rot="-54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ru-RU"/>
            </a:p>
          </c:txPr>
        </c:title>
        <c:numFmt formatCode="_-* #\ ##0\ &quot;₽&quot;_-;\-* #\ ##0\ &quot;₽&quot;_-;_-* &quot;-&quot;??\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crossAx val="1349341967"/>
        <c:crosses val="autoZero"/>
        <c:crossBetween val="between"/>
        <c:majorUnit val="80"/>
      </c:valAx>
      <c:valAx>
        <c:axId val="1349338127"/>
        <c:scaling>
          <c:orientation val="minMax"/>
        </c:scaling>
        <c:delete val="0"/>
        <c:axPos val="r"/>
        <c:title>
          <c:tx>
            <c:rich>
              <a:bodyPr rot="-54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r>
                  <a:rPr lang="ru-RU" sz="1200">
                    <a:solidFill>
                      <a:sysClr val="windowText" lastClr="000000"/>
                    </a:solidFill>
                  </a:rPr>
                  <a:t>Общая сэкономленная клиентами сумма</a:t>
                </a:r>
              </a:p>
            </c:rich>
          </c:tx>
          <c:layout>
            <c:manualLayout>
              <c:xMode val="edge"/>
              <c:yMode val="edge"/>
              <c:x val="0.97610973124823797"/>
              <c:y val="0.16636064197806555"/>
            </c:manualLayout>
          </c:layout>
          <c:overlay val="0"/>
          <c:spPr>
            <a:noFill/>
            <a:ln>
              <a:noFill/>
            </a:ln>
            <a:effectLst/>
          </c:spPr>
          <c:txPr>
            <a:bodyPr rot="-54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ru-RU"/>
            </a:p>
          </c:txPr>
        </c:title>
        <c:numFmt formatCode="_-* #\ ##0\ &quot;₽&quot;_-;\-* #\ ##0\ &quot;₽&quot;_-;_-* &quot;-&quot;??\ &quot;₽&quot;_-;_-@_-"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crossAx val="1349329967"/>
        <c:crosses val="max"/>
        <c:crossBetween val="between"/>
        <c:majorUnit val="250000"/>
      </c:valAx>
      <c:catAx>
        <c:axId val="1349329967"/>
        <c:scaling>
          <c:orientation val="minMax"/>
        </c:scaling>
        <c:delete val="1"/>
        <c:axPos val="b"/>
        <c:majorTickMark val="out"/>
        <c:minorTickMark val="none"/>
        <c:tickLblPos val="nextTo"/>
        <c:crossAx val="1349338127"/>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ru-RU"/>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ru-RU"/>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14BA762-3991-3832-779A-E7752EDB3454}"/>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id="{8230045B-A1A3-3498-49B1-711FE772989B}"/>
              </a:ext>
            </a:extLst>
          </p:cNvPr>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1"/>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id="{639AB802-DE34-A20A-27C5-F231D4D61496}"/>
              </a:ext>
            </a:extLst>
          </p:cNvPr>
          <p:cNvSpPr>
            <a:spLocks noGrp="1"/>
          </p:cNvSpPr>
          <p:nvPr>
            <p:ph type="dt" sz="half" idx="10"/>
          </p:nvPr>
        </p:nvSpPr>
        <p:spPr/>
        <p:txBody>
          <a:bodyPr/>
          <a:lstStyle/>
          <a:p>
            <a:fld id="{02EF281E-5119-4EE1-87A1-FE5CB68252C5}" type="datetimeFigureOut">
              <a:rPr lang="ru-RU" smtClean="0"/>
              <a:t>17.12.2025</a:t>
            </a:fld>
            <a:endParaRPr lang="ru-RU"/>
          </a:p>
        </p:txBody>
      </p:sp>
      <p:sp>
        <p:nvSpPr>
          <p:cNvPr id="5" name="Нижний колонтитул 4">
            <a:extLst>
              <a:ext uri="{FF2B5EF4-FFF2-40B4-BE49-F238E27FC236}">
                <a16:creationId xmlns:a16="http://schemas.microsoft.com/office/drawing/2014/main" id="{3D8A9583-B562-30CA-17B1-E6D137DDA5F3}"/>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AAC58933-7FFE-21C8-1120-4A516B6B536C}"/>
              </a:ext>
            </a:extLst>
          </p:cNvPr>
          <p:cNvSpPr>
            <a:spLocks noGrp="1"/>
          </p:cNvSpPr>
          <p:nvPr>
            <p:ph type="sldNum" sz="quarter" idx="12"/>
          </p:nvPr>
        </p:nvSpPr>
        <p:spPr/>
        <p:txBody>
          <a:bodyPr/>
          <a:lstStyle/>
          <a:p>
            <a:fld id="{044D6A02-9020-469A-A64A-01A49BF5CA24}" type="slidenum">
              <a:rPr lang="ru-RU" smtClean="0"/>
              <a:t>‹#›</a:t>
            </a:fld>
            <a:endParaRPr lang="ru-RU"/>
          </a:p>
        </p:txBody>
      </p:sp>
    </p:spTree>
    <p:extLst>
      <p:ext uri="{BB962C8B-B14F-4D97-AF65-F5344CB8AC3E}">
        <p14:creationId xmlns:p14="http://schemas.microsoft.com/office/powerpoint/2010/main" val="23196492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159BAAD-C2C4-5047-D56A-3576B3CEB9F8}"/>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E62AB5B9-7355-E87D-FCD3-4A6DC86C8808}"/>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05D15AAF-D9B2-6658-1395-3CEE3BDACB87}"/>
              </a:ext>
            </a:extLst>
          </p:cNvPr>
          <p:cNvSpPr>
            <a:spLocks noGrp="1"/>
          </p:cNvSpPr>
          <p:nvPr>
            <p:ph type="dt" sz="half" idx="10"/>
          </p:nvPr>
        </p:nvSpPr>
        <p:spPr/>
        <p:txBody>
          <a:bodyPr/>
          <a:lstStyle/>
          <a:p>
            <a:fld id="{02EF281E-5119-4EE1-87A1-FE5CB68252C5}" type="datetimeFigureOut">
              <a:rPr lang="ru-RU" smtClean="0"/>
              <a:t>17.12.2025</a:t>
            </a:fld>
            <a:endParaRPr lang="ru-RU"/>
          </a:p>
        </p:txBody>
      </p:sp>
      <p:sp>
        <p:nvSpPr>
          <p:cNvPr id="5" name="Нижний колонтитул 4">
            <a:extLst>
              <a:ext uri="{FF2B5EF4-FFF2-40B4-BE49-F238E27FC236}">
                <a16:creationId xmlns:a16="http://schemas.microsoft.com/office/drawing/2014/main" id="{89D6FE13-3804-267C-7B0B-10B1BFEE38D0}"/>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0859F86E-D63A-3FD9-F633-95E3F64932E5}"/>
              </a:ext>
            </a:extLst>
          </p:cNvPr>
          <p:cNvSpPr>
            <a:spLocks noGrp="1"/>
          </p:cNvSpPr>
          <p:nvPr>
            <p:ph type="sldNum" sz="quarter" idx="12"/>
          </p:nvPr>
        </p:nvSpPr>
        <p:spPr/>
        <p:txBody>
          <a:bodyPr/>
          <a:lstStyle/>
          <a:p>
            <a:fld id="{044D6A02-9020-469A-A64A-01A49BF5CA24}" type="slidenum">
              <a:rPr lang="ru-RU" smtClean="0"/>
              <a:t>‹#›</a:t>
            </a:fld>
            <a:endParaRPr lang="ru-RU"/>
          </a:p>
        </p:txBody>
      </p:sp>
    </p:spTree>
    <p:extLst>
      <p:ext uri="{BB962C8B-B14F-4D97-AF65-F5344CB8AC3E}">
        <p14:creationId xmlns:p14="http://schemas.microsoft.com/office/powerpoint/2010/main" val="32580956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BFB924B-9D0B-6737-4373-B0F62BE7AC46}"/>
              </a:ext>
            </a:extLst>
          </p:cNvPr>
          <p:cNvSpPr>
            <a:spLocks noGrp="1"/>
          </p:cNvSpPr>
          <p:nvPr>
            <p:ph type="title"/>
          </p:nvPr>
        </p:nvSpPr>
        <p:spPr>
          <a:xfrm>
            <a:off x="831852" y="1709738"/>
            <a:ext cx="10515600" cy="2852737"/>
          </a:xfrm>
        </p:spPr>
        <p:txBody>
          <a:bodyPr anchor="b"/>
          <a:lstStyle>
            <a:lvl1pPr>
              <a:defRPr sz="6000"/>
            </a:lvl1pPr>
          </a:lstStyle>
          <a:p>
            <a:r>
              <a:rPr lang="ru-RU"/>
              <a:t>Образец заголовка</a:t>
            </a:r>
          </a:p>
        </p:txBody>
      </p:sp>
      <p:sp>
        <p:nvSpPr>
          <p:cNvPr id="3" name="Текст 2">
            <a:extLst>
              <a:ext uri="{FF2B5EF4-FFF2-40B4-BE49-F238E27FC236}">
                <a16:creationId xmlns:a16="http://schemas.microsoft.com/office/drawing/2014/main" id="{BA3E6E6B-0A3D-1371-A77F-744A44AE4D69}"/>
              </a:ext>
            </a:extLst>
          </p:cNvPr>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1">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1348B5EE-7333-E7DD-1A01-D22C2F74F257}"/>
              </a:ext>
            </a:extLst>
          </p:cNvPr>
          <p:cNvSpPr>
            <a:spLocks noGrp="1"/>
          </p:cNvSpPr>
          <p:nvPr>
            <p:ph type="dt" sz="half" idx="10"/>
          </p:nvPr>
        </p:nvSpPr>
        <p:spPr/>
        <p:txBody>
          <a:bodyPr/>
          <a:lstStyle/>
          <a:p>
            <a:fld id="{02EF281E-5119-4EE1-87A1-FE5CB68252C5}" type="datetimeFigureOut">
              <a:rPr lang="ru-RU" smtClean="0"/>
              <a:t>17.12.2025</a:t>
            </a:fld>
            <a:endParaRPr lang="ru-RU"/>
          </a:p>
        </p:txBody>
      </p:sp>
      <p:sp>
        <p:nvSpPr>
          <p:cNvPr id="5" name="Нижний колонтитул 4">
            <a:extLst>
              <a:ext uri="{FF2B5EF4-FFF2-40B4-BE49-F238E27FC236}">
                <a16:creationId xmlns:a16="http://schemas.microsoft.com/office/drawing/2014/main" id="{82811ADB-6864-0CB8-D015-ED06B2EEF13F}"/>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1A2F79C4-96CB-810A-F5AD-7CCAAB1C9D71}"/>
              </a:ext>
            </a:extLst>
          </p:cNvPr>
          <p:cNvSpPr>
            <a:spLocks noGrp="1"/>
          </p:cNvSpPr>
          <p:nvPr>
            <p:ph type="sldNum" sz="quarter" idx="12"/>
          </p:nvPr>
        </p:nvSpPr>
        <p:spPr/>
        <p:txBody>
          <a:bodyPr/>
          <a:lstStyle/>
          <a:p>
            <a:fld id="{044D6A02-9020-469A-A64A-01A49BF5CA24}" type="slidenum">
              <a:rPr lang="ru-RU" smtClean="0"/>
              <a:t>‹#›</a:t>
            </a:fld>
            <a:endParaRPr lang="ru-RU"/>
          </a:p>
        </p:txBody>
      </p:sp>
    </p:spTree>
    <p:extLst>
      <p:ext uri="{BB962C8B-B14F-4D97-AF65-F5344CB8AC3E}">
        <p14:creationId xmlns:p14="http://schemas.microsoft.com/office/powerpoint/2010/main" val="9479598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1BD70D3-D8AA-C029-34FA-D6659AB47C11}"/>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F001E3A2-C6E8-3722-AE8F-5B074D6819D4}"/>
              </a:ext>
            </a:extLst>
          </p:cNvPr>
          <p:cNvSpPr>
            <a:spLocks noGrp="1"/>
          </p:cNvSpPr>
          <p:nvPr>
            <p:ph sz="half" idx="1"/>
          </p:nvPr>
        </p:nvSpPr>
        <p:spPr>
          <a:xfrm>
            <a:off x="838201"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id="{780AF45B-6CDD-9B6E-FAB1-BF49D9F321DA}"/>
              </a:ext>
            </a:extLst>
          </p:cNvPr>
          <p:cNvSpPr>
            <a:spLocks noGrp="1"/>
          </p:cNvSpPr>
          <p:nvPr>
            <p:ph sz="half" idx="2"/>
          </p:nvPr>
        </p:nvSpPr>
        <p:spPr>
          <a:xfrm>
            <a:off x="6172201"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a16="http://schemas.microsoft.com/office/drawing/2014/main" id="{324B9C96-061B-92D1-E7C2-FA1EF7804D7C}"/>
              </a:ext>
            </a:extLst>
          </p:cNvPr>
          <p:cNvSpPr>
            <a:spLocks noGrp="1"/>
          </p:cNvSpPr>
          <p:nvPr>
            <p:ph type="dt" sz="half" idx="10"/>
          </p:nvPr>
        </p:nvSpPr>
        <p:spPr/>
        <p:txBody>
          <a:bodyPr/>
          <a:lstStyle/>
          <a:p>
            <a:fld id="{02EF281E-5119-4EE1-87A1-FE5CB68252C5}" type="datetimeFigureOut">
              <a:rPr lang="ru-RU" smtClean="0"/>
              <a:t>17.12.2025</a:t>
            </a:fld>
            <a:endParaRPr lang="ru-RU"/>
          </a:p>
        </p:txBody>
      </p:sp>
      <p:sp>
        <p:nvSpPr>
          <p:cNvPr id="6" name="Нижний колонтитул 5">
            <a:extLst>
              <a:ext uri="{FF2B5EF4-FFF2-40B4-BE49-F238E27FC236}">
                <a16:creationId xmlns:a16="http://schemas.microsoft.com/office/drawing/2014/main" id="{A1B9B192-7A4F-3C68-3450-2D71094D0AB8}"/>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47E2094E-33DC-1419-505A-2D89E3EFF500}"/>
              </a:ext>
            </a:extLst>
          </p:cNvPr>
          <p:cNvSpPr>
            <a:spLocks noGrp="1"/>
          </p:cNvSpPr>
          <p:nvPr>
            <p:ph type="sldNum" sz="quarter" idx="12"/>
          </p:nvPr>
        </p:nvSpPr>
        <p:spPr/>
        <p:txBody>
          <a:bodyPr/>
          <a:lstStyle/>
          <a:p>
            <a:fld id="{044D6A02-9020-469A-A64A-01A49BF5CA24}" type="slidenum">
              <a:rPr lang="ru-RU" smtClean="0"/>
              <a:t>‹#›</a:t>
            </a:fld>
            <a:endParaRPr lang="ru-RU"/>
          </a:p>
        </p:txBody>
      </p:sp>
    </p:spTree>
    <p:extLst>
      <p:ext uri="{BB962C8B-B14F-4D97-AF65-F5344CB8AC3E}">
        <p14:creationId xmlns:p14="http://schemas.microsoft.com/office/powerpoint/2010/main" val="12930386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5405B42-2EAA-CABB-83CA-25ADBFE397D2}"/>
              </a:ext>
            </a:extLst>
          </p:cNvPr>
          <p:cNvSpPr>
            <a:spLocks noGrp="1"/>
          </p:cNvSpPr>
          <p:nvPr>
            <p:ph type="title"/>
          </p:nvPr>
        </p:nvSpPr>
        <p:spPr>
          <a:xfrm>
            <a:off x="839789" y="365125"/>
            <a:ext cx="10515600" cy="1325563"/>
          </a:xfrm>
        </p:spPr>
        <p:txBody>
          <a:bodyPr/>
          <a:lstStyle/>
          <a:p>
            <a:r>
              <a:rPr lang="ru-RU"/>
              <a:t>Образец заголовка</a:t>
            </a:r>
          </a:p>
        </p:txBody>
      </p:sp>
      <p:sp>
        <p:nvSpPr>
          <p:cNvPr id="3" name="Текст 2">
            <a:extLst>
              <a:ext uri="{FF2B5EF4-FFF2-40B4-BE49-F238E27FC236}">
                <a16:creationId xmlns:a16="http://schemas.microsoft.com/office/drawing/2014/main" id="{C0AED54B-0696-BF02-7ED5-1A4110B7B6D1}"/>
              </a:ext>
            </a:extLst>
          </p:cNvPr>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1"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B76CBB4F-B92B-AFDF-9622-958CF7C1F1CD}"/>
              </a:ext>
            </a:extLst>
          </p:cNvPr>
          <p:cNvSpPr>
            <a:spLocks noGrp="1"/>
          </p:cNvSpPr>
          <p:nvPr>
            <p:ph sz="half" idx="2"/>
          </p:nvPr>
        </p:nvSpPr>
        <p:spPr>
          <a:xfrm>
            <a:off x="839789" y="2505076"/>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B0863DD2-B6EC-38EC-1454-FE27C06EEE7B}"/>
              </a:ext>
            </a:extLst>
          </p:cNvPr>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1"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80898302-CDF4-5512-B507-34A8A51B073A}"/>
              </a:ext>
            </a:extLst>
          </p:cNvPr>
          <p:cNvSpPr>
            <a:spLocks noGrp="1"/>
          </p:cNvSpPr>
          <p:nvPr>
            <p:ph sz="quarter" idx="4"/>
          </p:nvPr>
        </p:nvSpPr>
        <p:spPr>
          <a:xfrm>
            <a:off x="6172202" y="2505076"/>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7676CC88-324D-6FB9-737A-79B92A9D53C1}"/>
              </a:ext>
            </a:extLst>
          </p:cNvPr>
          <p:cNvSpPr>
            <a:spLocks noGrp="1"/>
          </p:cNvSpPr>
          <p:nvPr>
            <p:ph type="dt" sz="half" idx="10"/>
          </p:nvPr>
        </p:nvSpPr>
        <p:spPr/>
        <p:txBody>
          <a:bodyPr/>
          <a:lstStyle/>
          <a:p>
            <a:fld id="{02EF281E-5119-4EE1-87A1-FE5CB68252C5}" type="datetimeFigureOut">
              <a:rPr lang="ru-RU" smtClean="0"/>
              <a:t>17.12.2025</a:t>
            </a:fld>
            <a:endParaRPr lang="ru-RU"/>
          </a:p>
        </p:txBody>
      </p:sp>
      <p:sp>
        <p:nvSpPr>
          <p:cNvPr id="8" name="Нижний колонтитул 7">
            <a:extLst>
              <a:ext uri="{FF2B5EF4-FFF2-40B4-BE49-F238E27FC236}">
                <a16:creationId xmlns:a16="http://schemas.microsoft.com/office/drawing/2014/main" id="{170BABBF-94C3-485A-B697-BF5AF81FEF5B}"/>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BD081659-C681-BA8B-07DF-06E10FE9C233}"/>
              </a:ext>
            </a:extLst>
          </p:cNvPr>
          <p:cNvSpPr>
            <a:spLocks noGrp="1"/>
          </p:cNvSpPr>
          <p:nvPr>
            <p:ph type="sldNum" sz="quarter" idx="12"/>
          </p:nvPr>
        </p:nvSpPr>
        <p:spPr/>
        <p:txBody>
          <a:bodyPr/>
          <a:lstStyle/>
          <a:p>
            <a:fld id="{044D6A02-9020-469A-A64A-01A49BF5CA24}" type="slidenum">
              <a:rPr lang="ru-RU" smtClean="0"/>
              <a:t>‹#›</a:t>
            </a:fld>
            <a:endParaRPr lang="ru-RU"/>
          </a:p>
        </p:txBody>
      </p:sp>
    </p:spTree>
    <p:extLst>
      <p:ext uri="{BB962C8B-B14F-4D97-AF65-F5344CB8AC3E}">
        <p14:creationId xmlns:p14="http://schemas.microsoft.com/office/powerpoint/2010/main" val="22538184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787526D-DCEA-9826-41CC-B193D33C3C17}"/>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96D5CA31-9439-E35D-8AB4-CE180142A445}"/>
              </a:ext>
            </a:extLst>
          </p:cNvPr>
          <p:cNvSpPr>
            <a:spLocks noGrp="1"/>
          </p:cNvSpPr>
          <p:nvPr>
            <p:ph type="dt" sz="half" idx="10"/>
          </p:nvPr>
        </p:nvSpPr>
        <p:spPr/>
        <p:txBody>
          <a:bodyPr/>
          <a:lstStyle/>
          <a:p>
            <a:fld id="{02EF281E-5119-4EE1-87A1-FE5CB68252C5}" type="datetimeFigureOut">
              <a:rPr lang="ru-RU" smtClean="0"/>
              <a:t>17.12.2025</a:t>
            </a:fld>
            <a:endParaRPr lang="ru-RU"/>
          </a:p>
        </p:txBody>
      </p:sp>
      <p:sp>
        <p:nvSpPr>
          <p:cNvPr id="4" name="Нижний колонтитул 3">
            <a:extLst>
              <a:ext uri="{FF2B5EF4-FFF2-40B4-BE49-F238E27FC236}">
                <a16:creationId xmlns:a16="http://schemas.microsoft.com/office/drawing/2014/main" id="{6BC8E35B-E6F6-91D2-663D-255D31A45C25}"/>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827A316A-99CC-DD90-02A5-B52B0237A876}"/>
              </a:ext>
            </a:extLst>
          </p:cNvPr>
          <p:cNvSpPr>
            <a:spLocks noGrp="1"/>
          </p:cNvSpPr>
          <p:nvPr>
            <p:ph type="sldNum" sz="quarter" idx="12"/>
          </p:nvPr>
        </p:nvSpPr>
        <p:spPr/>
        <p:txBody>
          <a:bodyPr/>
          <a:lstStyle/>
          <a:p>
            <a:fld id="{044D6A02-9020-469A-A64A-01A49BF5CA24}" type="slidenum">
              <a:rPr lang="ru-RU" smtClean="0"/>
              <a:t>‹#›</a:t>
            </a:fld>
            <a:endParaRPr lang="ru-RU"/>
          </a:p>
        </p:txBody>
      </p:sp>
    </p:spTree>
    <p:extLst>
      <p:ext uri="{BB962C8B-B14F-4D97-AF65-F5344CB8AC3E}">
        <p14:creationId xmlns:p14="http://schemas.microsoft.com/office/powerpoint/2010/main" val="13240896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211A9EB9-C447-7DCB-1F74-E89A1120BBD7}"/>
              </a:ext>
            </a:extLst>
          </p:cNvPr>
          <p:cNvSpPr>
            <a:spLocks noGrp="1"/>
          </p:cNvSpPr>
          <p:nvPr>
            <p:ph type="dt" sz="half" idx="10"/>
          </p:nvPr>
        </p:nvSpPr>
        <p:spPr/>
        <p:txBody>
          <a:bodyPr/>
          <a:lstStyle/>
          <a:p>
            <a:fld id="{02EF281E-5119-4EE1-87A1-FE5CB68252C5}" type="datetimeFigureOut">
              <a:rPr lang="ru-RU" smtClean="0"/>
              <a:t>17.12.2025</a:t>
            </a:fld>
            <a:endParaRPr lang="ru-RU"/>
          </a:p>
        </p:txBody>
      </p:sp>
      <p:sp>
        <p:nvSpPr>
          <p:cNvPr id="3" name="Нижний колонтитул 2">
            <a:extLst>
              <a:ext uri="{FF2B5EF4-FFF2-40B4-BE49-F238E27FC236}">
                <a16:creationId xmlns:a16="http://schemas.microsoft.com/office/drawing/2014/main" id="{BA454CE1-D4F7-55AE-F455-53D45D90E041}"/>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23AA4160-6E34-0CB8-E055-7D96BC18646E}"/>
              </a:ext>
            </a:extLst>
          </p:cNvPr>
          <p:cNvSpPr>
            <a:spLocks noGrp="1"/>
          </p:cNvSpPr>
          <p:nvPr>
            <p:ph type="sldNum" sz="quarter" idx="12"/>
          </p:nvPr>
        </p:nvSpPr>
        <p:spPr/>
        <p:txBody>
          <a:bodyPr/>
          <a:lstStyle/>
          <a:p>
            <a:fld id="{044D6A02-9020-469A-A64A-01A49BF5CA24}" type="slidenum">
              <a:rPr lang="ru-RU" smtClean="0"/>
              <a:t>‹#›</a:t>
            </a:fld>
            <a:endParaRPr lang="ru-RU"/>
          </a:p>
        </p:txBody>
      </p:sp>
    </p:spTree>
    <p:extLst>
      <p:ext uri="{BB962C8B-B14F-4D97-AF65-F5344CB8AC3E}">
        <p14:creationId xmlns:p14="http://schemas.microsoft.com/office/powerpoint/2010/main" val="3013206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379BCC0-69A9-F6CE-76A7-CE93F7BB58B4}"/>
              </a:ext>
            </a:extLst>
          </p:cNvPr>
          <p:cNvSpPr>
            <a:spLocks noGrp="1"/>
          </p:cNvSpPr>
          <p:nvPr>
            <p:ph type="title"/>
          </p:nvPr>
        </p:nvSpPr>
        <p:spPr>
          <a:xfrm>
            <a:off x="839790" y="457200"/>
            <a:ext cx="3932236" cy="1600200"/>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F908C6FF-48D5-12B6-1372-ABA53278D5C2}"/>
              </a:ext>
            </a:extLst>
          </p:cNvPr>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47A6F2FD-7421-85B9-39F6-68C1639A3E8C}"/>
              </a:ext>
            </a:extLst>
          </p:cNvPr>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1"/>
            </a:lvl2pPr>
            <a:lvl3pPr marL="914411" indent="0">
              <a:buNone/>
              <a:defRPr sz="1200"/>
            </a:lvl3pPr>
            <a:lvl4pPr marL="1371617" indent="0">
              <a:buNone/>
              <a:defRPr sz="1001"/>
            </a:lvl4pPr>
            <a:lvl5pPr marL="1828823" indent="0">
              <a:buNone/>
              <a:defRPr sz="1001"/>
            </a:lvl5pPr>
            <a:lvl6pPr marL="2286029" indent="0">
              <a:buNone/>
              <a:defRPr sz="1001"/>
            </a:lvl6pPr>
            <a:lvl7pPr marL="2743234" indent="0">
              <a:buNone/>
              <a:defRPr sz="1001"/>
            </a:lvl7pPr>
            <a:lvl8pPr marL="3200440" indent="0">
              <a:buNone/>
              <a:defRPr sz="1001"/>
            </a:lvl8pPr>
            <a:lvl9pPr marL="3657646" indent="0">
              <a:buNone/>
              <a:defRPr sz="1001"/>
            </a:lvl9pPr>
          </a:lstStyle>
          <a:p>
            <a:pPr lvl="0"/>
            <a:r>
              <a:rPr lang="ru-RU"/>
              <a:t>Образец текста</a:t>
            </a:r>
          </a:p>
        </p:txBody>
      </p:sp>
      <p:sp>
        <p:nvSpPr>
          <p:cNvPr id="5" name="Дата 4">
            <a:extLst>
              <a:ext uri="{FF2B5EF4-FFF2-40B4-BE49-F238E27FC236}">
                <a16:creationId xmlns:a16="http://schemas.microsoft.com/office/drawing/2014/main" id="{4F53560B-E38C-D495-AE6A-FAF18881D39C}"/>
              </a:ext>
            </a:extLst>
          </p:cNvPr>
          <p:cNvSpPr>
            <a:spLocks noGrp="1"/>
          </p:cNvSpPr>
          <p:nvPr>
            <p:ph type="dt" sz="half" idx="10"/>
          </p:nvPr>
        </p:nvSpPr>
        <p:spPr/>
        <p:txBody>
          <a:bodyPr/>
          <a:lstStyle/>
          <a:p>
            <a:fld id="{02EF281E-5119-4EE1-87A1-FE5CB68252C5}" type="datetimeFigureOut">
              <a:rPr lang="ru-RU" smtClean="0"/>
              <a:t>17.12.2025</a:t>
            </a:fld>
            <a:endParaRPr lang="ru-RU"/>
          </a:p>
        </p:txBody>
      </p:sp>
      <p:sp>
        <p:nvSpPr>
          <p:cNvPr id="6" name="Нижний колонтитул 5">
            <a:extLst>
              <a:ext uri="{FF2B5EF4-FFF2-40B4-BE49-F238E27FC236}">
                <a16:creationId xmlns:a16="http://schemas.microsoft.com/office/drawing/2014/main" id="{803FC662-870B-D6DE-3D45-1BD42308DA8F}"/>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FF959201-7BDB-BFE7-1F3A-AB5A228311F7}"/>
              </a:ext>
            </a:extLst>
          </p:cNvPr>
          <p:cNvSpPr>
            <a:spLocks noGrp="1"/>
          </p:cNvSpPr>
          <p:nvPr>
            <p:ph type="sldNum" sz="quarter" idx="12"/>
          </p:nvPr>
        </p:nvSpPr>
        <p:spPr/>
        <p:txBody>
          <a:bodyPr/>
          <a:lstStyle/>
          <a:p>
            <a:fld id="{044D6A02-9020-469A-A64A-01A49BF5CA24}" type="slidenum">
              <a:rPr lang="ru-RU" smtClean="0"/>
              <a:t>‹#›</a:t>
            </a:fld>
            <a:endParaRPr lang="ru-RU"/>
          </a:p>
        </p:txBody>
      </p:sp>
    </p:spTree>
    <p:extLst>
      <p:ext uri="{BB962C8B-B14F-4D97-AF65-F5344CB8AC3E}">
        <p14:creationId xmlns:p14="http://schemas.microsoft.com/office/powerpoint/2010/main" val="13499612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759FEE0-AAA7-6A2B-DE72-F62EC1FAAA91}"/>
              </a:ext>
            </a:extLst>
          </p:cNvPr>
          <p:cNvSpPr>
            <a:spLocks noGrp="1"/>
          </p:cNvSpPr>
          <p:nvPr>
            <p:ph type="title"/>
          </p:nvPr>
        </p:nvSpPr>
        <p:spPr>
          <a:xfrm>
            <a:off x="839790" y="457200"/>
            <a:ext cx="3932236" cy="1600200"/>
          </a:xfrm>
        </p:spPr>
        <p:txBody>
          <a:bodyPr anchor="b"/>
          <a:lstStyle>
            <a:lvl1pPr>
              <a:defRPr sz="3200"/>
            </a:lvl1pPr>
          </a:lstStyle>
          <a:p>
            <a:r>
              <a:rPr lang="ru-RU"/>
              <a:t>Образец заголовка</a:t>
            </a:r>
          </a:p>
        </p:txBody>
      </p:sp>
      <p:sp>
        <p:nvSpPr>
          <p:cNvPr id="3" name="Рисунок 2">
            <a:extLst>
              <a:ext uri="{FF2B5EF4-FFF2-40B4-BE49-F238E27FC236}">
                <a16:creationId xmlns:a16="http://schemas.microsoft.com/office/drawing/2014/main" id="{C9F758C7-2BD5-5AC4-81CC-7BEEDC5A9231}"/>
              </a:ext>
            </a:extLst>
          </p:cNvPr>
          <p:cNvSpPr>
            <a:spLocks noGrp="1"/>
          </p:cNvSpPr>
          <p:nvPr>
            <p:ph type="pic" idx="1"/>
          </p:nvPr>
        </p:nvSpPr>
        <p:spPr>
          <a:xfrm>
            <a:off x="5183188" y="987425"/>
            <a:ext cx="6172201" cy="4873625"/>
          </a:xfrm>
        </p:spPr>
        <p:txBody>
          <a:bodyPr/>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endParaRPr lang="ru-RU"/>
          </a:p>
        </p:txBody>
      </p:sp>
      <p:sp>
        <p:nvSpPr>
          <p:cNvPr id="4" name="Текст 3">
            <a:extLst>
              <a:ext uri="{FF2B5EF4-FFF2-40B4-BE49-F238E27FC236}">
                <a16:creationId xmlns:a16="http://schemas.microsoft.com/office/drawing/2014/main" id="{53ACC9E9-552F-F9EB-B5EB-46C5EFB3E582}"/>
              </a:ext>
            </a:extLst>
          </p:cNvPr>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1"/>
            </a:lvl2pPr>
            <a:lvl3pPr marL="914411" indent="0">
              <a:buNone/>
              <a:defRPr sz="1200"/>
            </a:lvl3pPr>
            <a:lvl4pPr marL="1371617" indent="0">
              <a:buNone/>
              <a:defRPr sz="1001"/>
            </a:lvl4pPr>
            <a:lvl5pPr marL="1828823" indent="0">
              <a:buNone/>
              <a:defRPr sz="1001"/>
            </a:lvl5pPr>
            <a:lvl6pPr marL="2286029" indent="0">
              <a:buNone/>
              <a:defRPr sz="1001"/>
            </a:lvl6pPr>
            <a:lvl7pPr marL="2743234" indent="0">
              <a:buNone/>
              <a:defRPr sz="1001"/>
            </a:lvl7pPr>
            <a:lvl8pPr marL="3200440" indent="0">
              <a:buNone/>
              <a:defRPr sz="1001"/>
            </a:lvl8pPr>
            <a:lvl9pPr marL="3657646" indent="0">
              <a:buNone/>
              <a:defRPr sz="1001"/>
            </a:lvl9pPr>
          </a:lstStyle>
          <a:p>
            <a:pPr lvl="0"/>
            <a:r>
              <a:rPr lang="ru-RU"/>
              <a:t>Образец текста</a:t>
            </a:r>
          </a:p>
        </p:txBody>
      </p:sp>
      <p:sp>
        <p:nvSpPr>
          <p:cNvPr id="5" name="Дата 4">
            <a:extLst>
              <a:ext uri="{FF2B5EF4-FFF2-40B4-BE49-F238E27FC236}">
                <a16:creationId xmlns:a16="http://schemas.microsoft.com/office/drawing/2014/main" id="{2F167B60-CEE2-0E5C-307D-696EF4CBF740}"/>
              </a:ext>
            </a:extLst>
          </p:cNvPr>
          <p:cNvSpPr>
            <a:spLocks noGrp="1"/>
          </p:cNvSpPr>
          <p:nvPr>
            <p:ph type="dt" sz="half" idx="10"/>
          </p:nvPr>
        </p:nvSpPr>
        <p:spPr/>
        <p:txBody>
          <a:bodyPr/>
          <a:lstStyle/>
          <a:p>
            <a:fld id="{02EF281E-5119-4EE1-87A1-FE5CB68252C5}" type="datetimeFigureOut">
              <a:rPr lang="ru-RU" smtClean="0"/>
              <a:t>17.12.2025</a:t>
            </a:fld>
            <a:endParaRPr lang="ru-RU"/>
          </a:p>
        </p:txBody>
      </p:sp>
      <p:sp>
        <p:nvSpPr>
          <p:cNvPr id="6" name="Нижний колонтитул 5">
            <a:extLst>
              <a:ext uri="{FF2B5EF4-FFF2-40B4-BE49-F238E27FC236}">
                <a16:creationId xmlns:a16="http://schemas.microsoft.com/office/drawing/2014/main" id="{B991F02C-F62C-8EE6-9EA1-B6F39A6D5D78}"/>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8F6B7FDC-E688-A152-B05F-3BC8FC5F00D0}"/>
              </a:ext>
            </a:extLst>
          </p:cNvPr>
          <p:cNvSpPr>
            <a:spLocks noGrp="1"/>
          </p:cNvSpPr>
          <p:nvPr>
            <p:ph type="sldNum" sz="quarter" idx="12"/>
          </p:nvPr>
        </p:nvSpPr>
        <p:spPr/>
        <p:txBody>
          <a:bodyPr/>
          <a:lstStyle/>
          <a:p>
            <a:fld id="{044D6A02-9020-469A-A64A-01A49BF5CA24}" type="slidenum">
              <a:rPr lang="ru-RU" smtClean="0"/>
              <a:t>‹#›</a:t>
            </a:fld>
            <a:endParaRPr lang="ru-RU"/>
          </a:p>
        </p:txBody>
      </p:sp>
    </p:spTree>
    <p:extLst>
      <p:ext uri="{BB962C8B-B14F-4D97-AF65-F5344CB8AC3E}">
        <p14:creationId xmlns:p14="http://schemas.microsoft.com/office/powerpoint/2010/main" val="13542868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D7EE9FA-2478-48C4-0BC2-53750EDE2706}"/>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83D60FE4-BB62-E0E3-42ED-4E6AA52CC3C8}"/>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65708E90-0839-2016-B175-36C19D017230}"/>
              </a:ext>
            </a:extLst>
          </p:cNvPr>
          <p:cNvSpPr>
            <a:spLocks noGrp="1"/>
          </p:cNvSpPr>
          <p:nvPr>
            <p:ph type="dt" sz="half" idx="10"/>
          </p:nvPr>
        </p:nvSpPr>
        <p:spPr/>
        <p:txBody>
          <a:bodyPr/>
          <a:lstStyle/>
          <a:p>
            <a:fld id="{02EF281E-5119-4EE1-87A1-FE5CB68252C5}" type="datetimeFigureOut">
              <a:rPr lang="ru-RU" smtClean="0"/>
              <a:t>17.12.2025</a:t>
            </a:fld>
            <a:endParaRPr lang="ru-RU"/>
          </a:p>
        </p:txBody>
      </p:sp>
      <p:sp>
        <p:nvSpPr>
          <p:cNvPr id="5" name="Нижний колонтитул 4">
            <a:extLst>
              <a:ext uri="{FF2B5EF4-FFF2-40B4-BE49-F238E27FC236}">
                <a16:creationId xmlns:a16="http://schemas.microsoft.com/office/drawing/2014/main" id="{BC006981-AAD4-CE5F-9558-BF3FC24FEFD8}"/>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FDD60EDE-D608-0B45-88AA-557DCD44D8A0}"/>
              </a:ext>
            </a:extLst>
          </p:cNvPr>
          <p:cNvSpPr>
            <a:spLocks noGrp="1"/>
          </p:cNvSpPr>
          <p:nvPr>
            <p:ph type="sldNum" sz="quarter" idx="12"/>
          </p:nvPr>
        </p:nvSpPr>
        <p:spPr/>
        <p:txBody>
          <a:bodyPr/>
          <a:lstStyle/>
          <a:p>
            <a:fld id="{044D6A02-9020-469A-A64A-01A49BF5CA24}" type="slidenum">
              <a:rPr lang="ru-RU" smtClean="0"/>
              <a:t>‹#›</a:t>
            </a:fld>
            <a:endParaRPr lang="ru-RU"/>
          </a:p>
        </p:txBody>
      </p:sp>
    </p:spTree>
    <p:extLst>
      <p:ext uri="{BB962C8B-B14F-4D97-AF65-F5344CB8AC3E}">
        <p14:creationId xmlns:p14="http://schemas.microsoft.com/office/powerpoint/2010/main" val="35879197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7FD97CD0-73A0-4F2E-0533-7D25B82FB48F}"/>
              </a:ext>
            </a:extLst>
          </p:cNvPr>
          <p:cNvSpPr>
            <a:spLocks noGrp="1"/>
          </p:cNvSpPr>
          <p:nvPr>
            <p:ph type="title" orient="vert"/>
          </p:nvPr>
        </p:nvSpPr>
        <p:spPr>
          <a:xfrm>
            <a:off x="8724899" y="365125"/>
            <a:ext cx="2628900"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36C9619C-7522-7CC8-868F-569267438432}"/>
              </a:ext>
            </a:extLst>
          </p:cNvPr>
          <p:cNvSpPr>
            <a:spLocks noGrp="1"/>
          </p:cNvSpPr>
          <p:nvPr>
            <p:ph type="body" orient="vert" idx="1"/>
          </p:nvPr>
        </p:nvSpPr>
        <p:spPr>
          <a:xfrm>
            <a:off x="838199"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1F0DD059-0B98-0427-C563-19C4138CBE88}"/>
              </a:ext>
            </a:extLst>
          </p:cNvPr>
          <p:cNvSpPr>
            <a:spLocks noGrp="1"/>
          </p:cNvSpPr>
          <p:nvPr>
            <p:ph type="dt" sz="half" idx="10"/>
          </p:nvPr>
        </p:nvSpPr>
        <p:spPr/>
        <p:txBody>
          <a:bodyPr/>
          <a:lstStyle/>
          <a:p>
            <a:fld id="{02EF281E-5119-4EE1-87A1-FE5CB68252C5}" type="datetimeFigureOut">
              <a:rPr lang="ru-RU" smtClean="0"/>
              <a:t>17.12.2025</a:t>
            </a:fld>
            <a:endParaRPr lang="ru-RU"/>
          </a:p>
        </p:txBody>
      </p:sp>
      <p:sp>
        <p:nvSpPr>
          <p:cNvPr id="5" name="Нижний колонтитул 4">
            <a:extLst>
              <a:ext uri="{FF2B5EF4-FFF2-40B4-BE49-F238E27FC236}">
                <a16:creationId xmlns:a16="http://schemas.microsoft.com/office/drawing/2014/main" id="{17162FFF-D855-C06B-961F-6B518F064BBD}"/>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554A2847-BB81-5FFE-1998-9DF1C0CDE414}"/>
              </a:ext>
            </a:extLst>
          </p:cNvPr>
          <p:cNvSpPr>
            <a:spLocks noGrp="1"/>
          </p:cNvSpPr>
          <p:nvPr>
            <p:ph type="sldNum" sz="quarter" idx="12"/>
          </p:nvPr>
        </p:nvSpPr>
        <p:spPr/>
        <p:txBody>
          <a:bodyPr/>
          <a:lstStyle/>
          <a:p>
            <a:fld id="{044D6A02-9020-469A-A64A-01A49BF5CA24}" type="slidenum">
              <a:rPr lang="ru-RU" smtClean="0"/>
              <a:t>‹#›</a:t>
            </a:fld>
            <a:endParaRPr lang="ru-RU"/>
          </a:p>
        </p:txBody>
      </p:sp>
    </p:spTree>
    <p:extLst>
      <p:ext uri="{BB962C8B-B14F-4D97-AF65-F5344CB8AC3E}">
        <p14:creationId xmlns:p14="http://schemas.microsoft.com/office/powerpoint/2010/main" val="616696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CBA3D05-97B8-26CE-A431-D67A380C98B6}"/>
              </a:ext>
            </a:extLst>
          </p:cNvPr>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a:extLst>
              <a:ext uri="{FF2B5EF4-FFF2-40B4-BE49-F238E27FC236}">
                <a16:creationId xmlns:a16="http://schemas.microsoft.com/office/drawing/2014/main" id="{3917FB2A-71E6-20AC-2361-87246AB2272C}"/>
              </a:ext>
            </a:extLst>
          </p:cNvPr>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CCC607F9-0214-07D0-8407-EF7A808D49BF}"/>
              </a:ext>
            </a:extLst>
          </p:cNvPr>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EF281E-5119-4EE1-87A1-FE5CB68252C5}" type="datetimeFigureOut">
              <a:rPr lang="ru-RU" smtClean="0"/>
              <a:t>17.12.2025</a:t>
            </a:fld>
            <a:endParaRPr lang="ru-RU"/>
          </a:p>
        </p:txBody>
      </p:sp>
      <p:sp>
        <p:nvSpPr>
          <p:cNvPr id="5" name="Нижний колонтитул 4">
            <a:extLst>
              <a:ext uri="{FF2B5EF4-FFF2-40B4-BE49-F238E27FC236}">
                <a16:creationId xmlns:a16="http://schemas.microsoft.com/office/drawing/2014/main" id="{CBD51481-C085-04E6-449B-79E04F9FD7F6}"/>
              </a:ext>
            </a:extLst>
          </p:cNvPr>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a:extLst>
              <a:ext uri="{FF2B5EF4-FFF2-40B4-BE49-F238E27FC236}">
                <a16:creationId xmlns:a16="http://schemas.microsoft.com/office/drawing/2014/main" id="{E7B2DFE1-871A-E0D3-4EEC-99D8CCBB304E}"/>
              </a:ext>
            </a:extLst>
          </p:cNvPr>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44D6A02-9020-469A-A64A-01A49BF5CA24}" type="slidenum">
              <a:rPr lang="ru-RU" smtClean="0"/>
              <a:t>‹#›</a:t>
            </a:fld>
            <a:endParaRPr lang="ru-RU"/>
          </a:p>
        </p:txBody>
      </p:sp>
    </p:spTree>
    <p:extLst>
      <p:ext uri="{BB962C8B-B14F-4D97-AF65-F5344CB8AC3E}">
        <p14:creationId xmlns:p14="http://schemas.microsoft.com/office/powerpoint/2010/main" val="11703823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11"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4" indent="-228604" algn="l" defTabSz="914411" rtl="0" eaLnBrk="1" latinLnBrk="0" hangingPunct="1">
        <a:lnSpc>
          <a:spcPct val="90000"/>
        </a:lnSpc>
        <a:spcBef>
          <a:spcPts val="1001"/>
        </a:spcBef>
        <a:buFont typeface="Arial" panose="020B0604020202020204" pitchFamily="34" charset="0"/>
        <a:buChar char="•"/>
        <a:defRPr sz="2800" kern="1200">
          <a:solidFill>
            <a:schemeClr val="tx1"/>
          </a:solidFill>
          <a:latin typeface="+mn-lt"/>
          <a:ea typeface="+mn-ea"/>
          <a:cs typeface="+mn-cs"/>
        </a:defRPr>
      </a:lvl1pPr>
      <a:lvl2pPr marL="685809" indent="-228604"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5" indent="-228604"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1"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4pPr>
      <a:lvl5pPr marL="2057427"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5pPr>
      <a:lvl6pPr marL="2514632"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38"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44"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49"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p:bodyStyle>
    <p:otherStyle>
      <a:defPPr>
        <a:defRPr lang="ru-RU"/>
      </a:defPPr>
      <a:lvl1pPr marL="0" algn="l" defTabSz="914411" rtl="0" eaLnBrk="1" latinLnBrk="0" hangingPunct="1">
        <a:defRPr sz="1801" kern="1200">
          <a:solidFill>
            <a:schemeClr val="tx1"/>
          </a:solidFill>
          <a:latin typeface="+mn-lt"/>
          <a:ea typeface="+mn-ea"/>
          <a:cs typeface="+mn-cs"/>
        </a:defRPr>
      </a:lvl1pPr>
      <a:lvl2pPr marL="457206" algn="l" defTabSz="914411" rtl="0" eaLnBrk="1" latinLnBrk="0" hangingPunct="1">
        <a:defRPr sz="1801" kern="1200">
          <a:solidFill>
            <a:schemeClr val="tx1"/>
          </a:solidFill>
          <a:latin typeface="+mn-lt"/>
          <a:ea typeface="+mn-ea"/>
          <a:cs typeface="+mn-cs"/>
        </a:defRPr>
      </a:lvl2pPr>
      <a:lvl3pPr marL="914411" algn="l" defTabSz="914411" rtl="0" eaLnBrk="1" latinLnBrk="0" hangingPunct="1">
        <a:defRPr sz="1801" kern="1200">
          <a:solidFill>
            <a:schemeClr val="tx1"/>
          </a:solidFill>
          <a:latin typeface="+mn-lt"/>
          <a:ea typeface="+mn-ea"/>
          <a:cs typeface="+mn-cs"/>
        </a:defRPr>
      </a:lvl3pPr>
      <a:lvl4pPr marL="1371617" algn="l" defTabSz="914411" rtl="0" eaLnBrk="1" latinLnBrk="0" hangingPunct="1">
        <a:defRPr sz="1801" kern="1200">
          <a:solidFill>
            <a:schemeClr val="tx1"/>
          </a:solidFill>
          <a:latin typeface="+mn-lt"/>
          <a:ea typeface="+mn-ea"/>
          <a:cs typeface="+mn-cs"/>
        </a:defRPr>
      </a:lvl4pPr>
      <a:lvl5pPr marL="1828823" algn="l" defTabSz="914411" rtl="0" eaLnBrk="1" latinLnBrk="0" hangingPunct="1">
        <a:defRPr sz="1801" kern="1200">
          <a:solidFill>
            <a:schemeClr val="tx1"/>
          </a:solidFill>
          <a:latin typeface="+mn-lt"/>
          <a:ea typeface="+mn-ea"/>
          <a:cs typeface="+mn-cs"/>
        </a:defRPr>
      </a:lvl5pPr>
      <a:lvl6pPr marL="2286029" algn="l" defTabSz="914411" rtl="0" eaLnBrk="1" latinLnBrk="0" hangingPunct="1">
        <a:defRPr sz="1801" kern="1200">
          <a:solidFill>
            <a:schemeClr val="tx1"/>
          </a:solidFill>
          <a:latin typeface="+mn-lt"/>
          <a:ea typeface="+mn-ea"/>
          <a:cs typeface="+mn-cs"/>
        </a:defRPr>
      </a:lvl6pPr>
      <a:lvl7pPr marL="2743234" algn="l" defTabSz="914411" rtl="0" eaLnBrk="1" latinLnBrk="0" hangingPunct="1">
        <a:defRPr sz="1801" kern="1200">
          <a:solidFill>
            <a:schemeClr val="tx1"/>
          </a:solidFill>
          <a:latin typeface="+mn-lt"/>
          <a:ea typeface="+mn-ea"/>
          <a:cs typeface="+mn-cs"/>
        </a:defRPr>
      </a:lvl7pPr>
      <a:lvl8pPr marL="3200440" algn="l" defTabSz="914411" rtl="0" eaLnBrk="1" latinLnBrk="0" hangingPunct="1">
        <a:defRPr sz="1801" kern="1200">
          <a:solidFill>
            <a:schemeClr val="tx1"/>
          </a:solidFill>
          <a:latin typeface="+mn-lt"/>
          <a:ea typeface="+mn-ea"/>
          <a:cs typeface="+mn-cs"/>
        </a:defRPr>
      </a:lvl8pPr>
      <a:lvl9pPr marL="3657646" algn="l" defTabSz="914411" rtl="0" eaLnBrk="1" latinLnBrk="0" hangingPunct="1">
        <a:defRPr sz="180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7.xml"/><Relationship Id="rId5" Type="http://schemas.openxmlformats.org/officeDocument/2006/relationships/chart" Target="../charts/chart6.xml"/><Relationship Id="rId4" Type="http://schemas.openxmlformats.org/officeDocument/2006/relationships/chart" Target="../charts/char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chart" Target="../charts/chart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chart" Target="../charts/chart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chart" Target="../charts/chart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chart" Target="../charts/chart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chart" Target="../charts/chart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chart" Target="../charts/chart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chart" Target="../charts/chart16.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chart" Target="../charts/chart18.xml"/><Relationship Id="rId2" Type="http://schemas.openxmlformats.org/officeDocument/2006/relationships/chart" Target="../charts/chart17.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chart" Target="../charts/chart19.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chart" Target="../charts/chart2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D6E2A6A-3CCE-E3DE-7D9D-4FD1ABBD8336}"/>
              </a:ext>
            </a:extLst>
          </p:cNvPr>
          <p:cNvSpPr>
            <a:spLocks noGrp="1"/>
          </p:cNvSpPr>
          <p:nvPr>
            <p:ph type="ctrTitle"/>
          </p:nvPr>
        </p:nvSpPr>
        <p:spPr>
          <a:xfrm>
            <a:off x="1524000" y="389106"/>
            <a:ext cx="9144000" cy="1054571"/>
          </a:xfrm>
        </p:spPr>
        <p:txBody>
          <a:bodyPr>
            <a:normAutofit fontScale="90000"/>
          </a:bodyPr>
          <a:lstStyle/>
          <a:p>
            <a:r>
              <a:rPr lang="ru-RU" sz="3600" b="1" dirty="0">
                <a:solidFill>
                  <a:schemeClr val="accent1"/>
                </a:solidFill>
              </a:rPr>
              <a:t>Исследование данных крупного торгового ритейлера за промежуток с 1 по 7 сентября 2023 г.</a:t>
            </a:r>
            <a:endParaRPr lang="ru-RU" sz="3600" dirty="0">
              <a:solidFill>
                <a:schemeClr val="accent1"/>
              </a:solidFill>
            </a:endParaRPr>
          </a:p>
        </p:txBody>
      </p:sp>
      <p:sp>
        <p:nvSpPr>
          <p:cNvPr id="3" name="Подзаголовок 2">
            <a:extLst>
              <a:ext uri="{FF2B5EF4-FFF2-40B4-BE49-F238E27FC236}">
                <a16:creationId xmlns:a16="http://schemas.microsoft.com/office/drawing/2014/main" id="{110EFA61-5C84-50E7-EE7E-6C8E2D8A0679}"/>
              </a:ext>
            </a:extLst>
          </p:cNvPr>
          <p:cNvSpPr>
            <a:spLocks noGrp="1"/>
          </p:cNvSpPr>
          <p:nvPr>
            <p:ph type="subTitle" idx="1"/>
          </p:nvPr>
        </p:nvSpPr>
        <p:spPr>
          <a:xfrm>
            <a:off x="1524000" y="2093363"/>
            <a:ext cx="9144000" cy="2671273"/>
          </a:xfrm>
        </p:spPr>
        <p:txBody>
          <a:bodyPr>
            <a:normAutofit fontScale="25000" lnSpcReduction="20000"/>
          </a:bodyPr>
          <a:lstStyle/>
          <a:p>
            <a:r>
              <a:rPr lang="ru-RU" sz="7200" i="1" u="sng" dirty="0"/>
              <a:t>Причина исследования:</a:t>
            </a:r>
            <a:endParaRPr lang="ru-RU" sz="7200" dirty="0"/>
          </a:p>
          <a:p>
            <a:pPr>
              <a:lnSpc>
                <a:spcPct val="170000"/>
              </a:lnSpc>
              <a:spcBef>
                <a:spcPts val="0"/>
              </a:spcBef>
            </a:pPr>
            <a:r>
              <a:rPr lang="ru-RU" sz="7200" dirty="0"/>
              <a:t>За первые 4 дня сентября произошел рост количества транзакций. </a:t>
            </a:r>
          </a:p>
          <a:p>
            <a:pPr>
              <a:lnSpc>
                <a:spcPct val="170000"/>
              </a:lnSpc>
              <a:spcBef>
                <a:spcPts val="0"/>
              </a:spcBef>
            </a:pPr>
            <a:endParaRPr lang="ru-RU" sz="7200" dirty="0"/>
          </a:p>
          <a:p>
            <a:pPr>
              <a:lnSpc>
                <a:spcPct val="170000"/>
              </a:lnSpc>
              <a:spcBef>
                <a:spcPts val="0"/>
              </a:spcBef>
            </a:pPr>
            <a:r>
              <a:rPr lang="ru-RU" sz="7200" i="1" u="sng" dirty="0"/>
              <a:t>Гипотеза, которую необходимо проверить:</a:t>
            </a:r>
            <a:endParaRPr lang="ru-RU" sz="7200" i="1" dirty="0"/>
          </a:p>
          <a:p>
            <a:pPr>
              <a:lnSpc>
                <a:spcPct val="170000"/>
              </a:lnSpc>
              <a:spcBef>
                <a:spcPts val="0"/>
              </a:spcBef>
            </a:pPr>
            <a:r>
              <a:rPr lang="ru-RU" sz="7200" dirty="0"/>
              <a:t>Драйвером роста является одна или несколько конкретных торговых точек. Если это так, необходимо будет проверить также, не «пожрал» ли «драйвер» другие торговые точки.</a:t>
            </a:r>
          </a:p>
          <a:p>
            <a:endParaRPr lang="ru-RU" dirty="0"/>
          </a:p>
        </p:txBody>
      </p:sp>
    </p:spTree>
    <p:extLst>
      <p:ext uri="{BB962C8B-B14F-4D97-AF65-F5344CB8AC3E}">
        <p14:creationId xmlns:p14="http://schemas.microsoft.com/office/powerpoint/2010/main" val="25746147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D2CE7C2-B996-5073-1934-17A98197ECDB}"/>
              </a:ext>
            </a:extLst>
          </p:cNvPr>
          <p:cNvSpPr>
            <a:spLocks noGrp="1"/>
          </p:cNvSpPr>
          <p:nvPr>
            <p:ph type="title"/>
          </p:nvPr>
        </p:nvSpPr>
        <p:spPr>
          <a:xfrm>
            <a:off x="2240828" y="724833"/>
            <a:ext cx="7710344" cy="443567"/>
          </a:xfrm>
        </p:spPr>
        <p:txBody>
          <a:bodyPr>
            <a:noAutofit/>
          </a:bodyPr>
          <a:lstStyle/>
          <a:p>
            <a:r>
              <a:rPr lang="ru-RU" sz="2800" i="1" dirty="0"/>
              <a:t>Количество транзакций (абсолютные значения)</a:t>
            </a:r>
            <a:br>
              <a:rPr lang="ru-RU" sz="2800" i="1" dirty="0"/>
            </a:br>
            <a:endParaRPr lang="ru-RU" sz="2800" dirty="0"/>
          </a:p>
        </p:txBody>
      </p:sp>
      <p:graphicFrame>
        <p:nvGraphicFramePr>
          <p:cNvPr id="10" name="Объект 9">
            <a:extLst>
              <a:ext uri="{FF2B5EF4-FFF2-40B4-BE49-F238E27FC236}">
                <a16:creationId xmlns:a16="http://schemas.microsoft.com/office/drawing/2014/main" id="{18DCF9EB-7C75-151A-F2B9-C0577722DB62}"/>
              </a:ext>
            </a:extLst>
          </p:cNvPr>
          <p:cNvGraphicFramePr>
            <a:graphicFrameLocks noGrp="1"/>
          </p:cNvGraphicFramePr>
          <p:nvPr>
            <p:ph idx="1"/>
            <p:extLst>
              <p:ext uri="{D42A27DB-BD31-4B8C-83A1-F6EECF244321}">
                <p14:modId xmlns:p14="http://schemas.microsoft.com/office/powerpoint/2010/main" val="7697247"/>
              </p:ext>
            </p:extLst>
          </p:nvPr>
        </p:nvGraphicFramePr>
        <p:xfrm>
          <a:off x="518160" y="1245141"/>
          <a:ext cx="11297920" cy="524773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0933506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DC36027-2BE1-9656-C9A8-20EF44D13622}"/>
              </a:ext>
            </a:extLst>
          </p:cNvPr>
          <p:cNvSpPr>
            <a:spLocks noGrp="1"/>
          </p:cNvSpPr>
          <p:nvPr>
            <p:ph type="title"/>
          </p:nvPr>
        </p:nvSpPr>
        <p:spPr>
          <a:xfrm>
            <a:off x="2741282" y="645932"/>
            <a:ext cx="6709436" cy="490908"/>
          </a:xfrm>
        </p:spPr>
        <p:txBody>
          <a:bodyPr>
            <a:noAutofit/>
          </a:bodyPr>
          <a:lstStyle/>
          <a:p>
            <a:r>
              <a:rPr lang="ru-RU" sz="2800" i="1" dirty="0"/>
              <a:t>Количество транзакций (нормированный)</a:t>
            </a:r>
            <a:br>
              <a:rPr lang="ru-RU" sz="2800" i="1" dirty="0"/>
            </a:br>
            <a:endParaRPr lang="ru-RU" sz="2800" dirty="0"/>
          </a:p>
        </p:txBody>
      </p:sp>
      <p:graphicFrame>
        <p:nvGraphicFramePr>
          <p:cNvPr id="4" name="Объект 3">
            <a:extLst>
              <a:ext uri="{FF2B5EF4-FFF2-40B4-BE49-F238E27FC236}">
                <a16:creationId xmlns:a16="http://schemas.microsoft.com/office/drawing/2014/main" id="{196E30A3-D5AB-8FA6-F583-AF233B34332C}"/>
              </a:ext>
            </a:extLst>
          </p:cNvPr>
          <p:cNvGraphicFramePr>
            <a:graphicFrameLocks noGrp="1"/>
          </p:cNvGraphicFramePr>
          <p:nvPr>
            <p:ph idx="1"/>
            <p:extLst>
              <p:ext uri="{D42A27DB-BD31-4B8C-83A1-F6EECF244321}">
                <p14:modId xmlns:p14="http://schemas.microsoft.com/office/powerpoint/2010/main" val="1972791184"/>
              </p:ext>
            </p:extLst>
          </p:nvPr>
        </p:nvGraphicFramePr>
        <p:xfrm>
          <a:off x="838202" y="1300480"/>
          <a:ext cx="10515600" cy="519239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8483856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FD85D74-A7A3-70AD-C278-39F85A5ECFDF}"/>
              </a:ext>
            </a:extLst>
          </p:cNvPr>
          <p:cNvSpPr>
            <a:spLocks noGrp="1"/>
          </p:cNvSpPr>
          <p:nvPr>
            <p:ph type="title"/>
          </p:nvPr>
        </p:nvSpPr>
        <p:spPr>
          <a:xfrm>
            <a:off x="838200" y="1536970"/>
            <a:ext cx="10515600" cy="3482503"/>
          </a:xfrm>
        </p:spPr>
        <p:txBody>
          <a:bodyPr>
            <a:noAutofit/>
          </a:bodyPr>
          <a:lstStyle/>
          <a:p>
            <a:pPr algn="ctr">
              <a:lnSpc>
                <a:spcPct val="150000"/>
              </a:lnSpc>
            </a:pPr>
            <a:r>
              <a:rPr lang="ru-RU" sz="1800" i="1" u="sng" dirty="0">
                <a:latin typeface="+mn-lt"/>
              </a:rPr>
              <a:t>Причина исследования:</a:t>
            </a:r>
            <a:br>
              <a:rPr lang="ru-RU" sz="1800" dirty="0"/>
            </a:br>
            <a:r>
              <a:rPr lang="ru-RU" sz="1800" dirty="0"/>
              <a:t>Замечаем, что у нас есть проблемы с распределением нагрузки на сервера. Необходимо исследовать динамику нагрузки и найти варианты решения проблемы.</a:t>
            </a:r>
            <a:br>
              <a:rPr lang="ru-RU" sz="1800" dirty="0"/>
            </a:br>
            <a:br>
              <a:rPr lang="ru-RU" sz="1800" dirty="0">
                <a:latin typeface="+mn-lt"/>
              </a:rPr>
            </a:br>
            <a:r>
              <a:rPr lang="ru-RU" sz="1800" i="1" u="sng" dirty="0">
                <a:latin typeface="+mn-lt"/>
              </a:rPr>
              <a:t>Гипотеза, которую необходимо проверить:</a:t>
            </a:r>
            <a:br>
              <a:rPr lang="ru-RU" sz="1800" dirty="0">
                <a:latin typeface="+mn-lt"/>
              </a:rPr>
            </a:br>
            <a:r>
              <a:rPr lang="ru-RU" sz="1800" dirty="0"/>
              <a:t>Повышение нагрузки связано с ростом количества транзакций, и равномерность нагрузки можно «полечить», если сделать «</a:t>
            </a:r>
            <a:r>
              <a:rPr lang="ru-RU" sz="1800" dirty="0" err="1"/>
              <a:t>перепривязку</a:t>
            </a:r>
            <a:r>
              <a:rPr lang="ru-RU" sz="1800" dirty="0"/>
              <a:t>» торговых точек к другим серверам.</a:t>
            </a:r>
          </a:p>
        </p:txBody>
      </p:sp>
    </p:spTree>
    <p:extLst>
      <p:ext uri="{BB962C8B-B14F-4D97-AF65-F5344CB8AC3E}">
        <p14:creationId xmlns:p14="http://schemas.microsoft.com/office/powerpoint/2010/main" val="7398416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Диаграмма 1">
            <a:extLst>
              <a:ext uri="{FF2B5EF4-FFF2-40B4-BE49-F238E27FC236}">
                <a16:creationId xmlns:a16="http://schemas.microsoft.com/office/drawing/2014/main" id="{1726F9F4-26E6-F08E-8211-B309E9ED2068}"/>
              </a:ext>
            </a:extLst>
          </p:cNvPr>
          <p:cNvGraphicFramePr>
            <a:graphicFrameLocks/>
          </p:cNvGraphicFramePr>
          <p:nvPr>
            <p:extLst>
              <p:ext uri="{D42A27DB-BD31-4B8C-83A1-F6EECF244321}">
                <p14:modId xmlns:p14="http://schemas.microsoft.com/office/powerpoint/2010/main" val="259310636"/>
              </p:ext>
            </p:extLst>
          </p:nvPr>
        </p:nvGraphicFramePr>
        <p:xfrm>
          <a:off x="562273" y="640736"/>
          <a:ext cx="5533727" cy="226143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 name="Диаграмма 2">
            <a:extLst>
              <a:ext uri="{FF2B5EF4-FFF2-40B4-BE49-F238E27FC236}">
                <a16:creationId xmlns:a16="http://schemas.microsoft.com/office/drawing/2014/main" id="{3B90C377-C88B-BF16-DEBD-6C5F2724FD0E}"/>
              </a:ext>
            </a:extLst>
          </p:cNvPr>
          <p:cNvGraphicFramePr>
            <a:graphicFrameLocks/>
          </p:cNvGraphicFramePr>
          <p:nvPr>
            <p:extLst>
              <p:ext uri="{D42A27DB-BD31-4B8C-83A1-F6EECF244321}">
                <p14:modId xmlns:p14="http://schemas.microsoft.com/office/powerpoint/2010/main" val="990616788"/>
              </p:ext>
            </p:extLst>
          </p:nvPr>
        </p:nvGraphicFramePr>
        <p:xfrm>
          <a:off x="684222" y="3753792"/>
          <a:ext cx="5642705" cy="2941648"/>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Box 3">
            <a:extLst>
              <a:ext uri="{FF2B5EF4-FFF2-40B4-BE49-F238E27FC236}">
                <a16:creationId xmlns:a16="http://schemas.microsoft.com/office/drawing/2014/main" id="{92C4237C-ED29-FAF7-4246-B298CC9B0740}"/>
              </a:ext>
            </a:extLst>
          </p:cNvPr>
          <p:cNvSpPr txBox="1"/>
          <p:nvPr/>
        </p:nvSpPr>
        <p:spPr>
          <a:xfrm>
            <a:off x="2130711" y="240625"/>
            <a:ext cx="8161506" cy="707886"/>
          </a:xfrm>
          <a:prstGeom prst="rect">
            <a:avLst/>
          </a:prstGeom>
          <a:noFill/>
        </p:spPr>
        <p:txBody>
          <a:bodyPr wrap="square" rtlCol="0">
            <a:spAutoFit/>
          </a:bodyPr>
          <a:lstStyle/>
          <a:p>
            <a:pPr algn="ctr"/>
            <a:r>
              <a:rPr lang="ru-RU" sz="2000" i="1" dirty="0"/>
              <a:t>Коэффициент</a:t>
            </a:r>
            <a:r>
              <a:rPr lang="ru-RU" sz="2000" i="1" baseline="0" dirty="0"/>
              <a:t> роста </a:t>
            </a:r>
            <a:r>
              <a:rPr lang="ru-RU" sz="2000" i="1" baseline="0" dirty="0">
                <a:solidFill>
                  <a:sysClr val="windowText" lastClr="000000"/>
                </a:solidFill>
              </a:rPr>
              <a:t>н</a:t>
            </a:r>
            <a:r>
              <a:rPr lang="ru-RU" sz="2000" i="1" dirty="0">
                <a:solidFill>
                  <a:sysClr val="windowText" lastClr="000000"/>
                </a:solidFill>
              </a:rPr>
              <a:t>агрузки на сервера</a:t>
            </a:r>
            <a:r>
              <a:rPr lang="ru-RU" sz="2000" i="1" baseline="0" dirty="0"/>
              <a:t> до/после распределения нагрузки</a:t>
            </a:r>
            <a:endParaRPr lang="ru-RU" sz="2000" i="1" dirty="0"/>
          </a:p>
        </p:txBody>
      </p:sp>
      <p:graphicFrame>
        <p:nvGraphicFramePr>
          <p:cNvPr id="5" name="Диаграмма 4">
            <a:extLst>
              <a:ext uri="{FF2B5EF4-FFF2-40B4-BE49-F238E27FC236}">
                <a16:creationId xmlns:a16="http://schemas.microsoft.com/office/drawing/2014/main" id="{953B1CD7-3B4A-0F30-BDA5-AE96E45981CB}"/>
              </a:ext>
            </a:extLst>
          </p:cNvPr>
          <p:cNvGraphicFramePr>
            <a:graphicFrameLocks/>
          </p:cNvGraphicFramePr>
          <p:nvPr>
            <p:extLst>
              <p:ext uri="{D42A27DB-BD31-4B8C-83A1-F6EECF244321}">
                <p14:modId xmlns:p14="http://schemas.microsoft.com/office/powerpoint/2010/main" val="3735038419"/>
              </p:ext>
            </p:extLst>
          </p:nvPr>
        </p:nvGraphicFramePr>
        <p:xfrm>
          <a:off x="6450217" y="3751812"/>
          <a:ext cx="5288488" cy="2941648"/>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 name="Диаграмма 5">
            <a:extLst>
              <a:ext uri="{FF2B5EF4-FFF2-40B4-BE49-F238E27FC236}">
                <a16:creationId xmlns:a16="http://schemas.microsoft.com/office/drawing/2014/main" id="{508DFD35-D194-F515-C337-ABA95D0530A4}"/>
              </a:ext>
            </a:extLst>
          </p:cNvPr>
          <p:cNvGraphicFramePr>
            <a:graphicFrameLocks/>
          </p:cNvGraphicFramePr>
          <p:nvPr>
            <p:extLst>
              <p:ext uri="{D42A27DB-BD31-4B8C-83A1-F6EECF244321}">
                <p14:modId xmlns:p14="http://schemas.microsoft.com/office/powerpoint/2010/main" val="3080909117"/>
              </p:ext>
            </p:extLst>
          </p:nvPr>
        </p:nvGraphicFramePr>
        <p:xfrm>
          <a:off x="6326927" y="640735"/>
          <a:ext cx="5535068" cy="2261439"/>
        </p:xfrm>
        <a:graphic>
          <a:graphicData uri="http://schemas.openxmlformats.org/drawingml/2006/chart">
            <c:chart xmlns:c="http://schemas.openxmlformats.org/drawingml/2006/chart" xmlns:r="http://schemas.openxmlformats.org/officeDocument/2006/relationships" r:id="rId5"/>
          </a:graphicData>
        </a:graphic>
      </p:graphicFrame>
      <p:sp>
        <p:nvSpPr>
          <p:cNvPr id="8" name="TextBox 7">
            <a:extLst>
              <a:ext uri="{FF2B5EF4-FFF2-40B4-BE49-F238E27FC236}">
                <a16:creationId xmlns:a16="http://schemas.microsoft.com/office/drawing/2014/main" id="{1FBBE6C0-84A7-1747-115A-D14609A335EC}"/>
              </a:ext>
            </a:extLst>
          </p:cNvPr>
          <p:cNvSpPr txBox="1"/>
          <p:nvPr/>
        </p:nvSpPr>
        <p:spPr>
          <a:xfrm>
            <a:off x="3172138" y="3228945"/>
            <a:ext cx="6078652" cy="400110"/>
          </a:xfrm>
          <a:prstGeom prst="rect">
            <a:avLst/>
          </a:prstGeom>
          <a:noFill/>
        </p:spPr>
        <p:txBody>
          <a:bodyPr wrap="none" rtlCol="0">
            <a:spAutoFit/>
          </a:bodyPr>
          <a:lstStyle/>
          <a:p>
            <a:r>
              <a:rPr lang="ru-RU" sz="2000" i="1" dirty="0">
                <a:solidFill>
                  <a:sysClr val="windowText" lastClr="000000"/>
                </a:solidFill>
              </a:rPr>
              <a:t>Нагрузка серверов до/после распределения нагрузки</a:t>
            </a:r>
            <a:endParaRPr lang="ru-RU" sz="2000" dirty="0"/>
          </a:p>
        </p:txBody>
      </p:sp>
    </p:spTree>
    <p:extLst>
      <p:ext uri="{BB962C8B-B14F-4D97-AF65-F5344CB8AC3E}">
        <p14:creationId xmlns:p14="http://schemas.microsoft.com/office/powerpoint/2010/main" val="28257854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675BB23-CCD9-6769-F331-411A6D5C396F}"/>
              </a:ext>
            </a:extLst>
          </p:cNvPr>
          <p:cNvSpPr>
            <a:spLocks noGrp="1"/>
          </p:cNvSpPr>
          <p:nvPr>
            <p:ph type="title"/>
          </p:nvPr>
        </p:nvSpPr>
        <p:spPr>
          <a:xfrm>
            <a:off x="838200" y="1481969"/>
            <a:ext cx="10515600" cy="3894062"/>
          </a:xfrm>
        </p:spPr>
        <p:txBody>
          <a:bodyPr>
            <a:normAutofit/>
          </a:bodyPr>
          <a:lstStyle/>
          <a:p>
            <a:pPr algn="ctr">
              <a:lnSpc>
                <a:spcPct val="150000"/>
              </a:lnSpc>
            </a:pPr>
            <a:r>
              <a:rPr lang="ru-RU" sz="1800" i="1" u="sng" dirty="0">
                <a:latin typeface="+mn-lt"/>
              </a:rPr>
              <a:t>Причина исследования:</a:t>
            </a:r>
            <a:br>
              <a:rPr lang="ru-RU" sz="1800" i="1" u="sng" dirty="0">
                <a:latin typeface="+mn-lt"/>
              </a:rPr>
            </a:br>
            <a:r>
              <a:rPr lang="ru-RU" sz="1800" dirty="0"/>
              <a:t>Необходимо рассчитать, в каких точках какой процент операций совершается с помощью касс самообслуживания. Также изучить динамику доли операций на кассах самообслуживания и соотнести эту информацию с динамикой распределения операций по торговым точкам.</a:t>
            </a:r>
            <a:br>
              <a:rPr lang="ru-RU" sz="1800" dirty="0"/>
            </a:br>
            <a:br>
              <a:rPr lang="ru-RU" sz="1800" i="1" u="sng" dirty="0">
                <a:latin typeface="+mn-lt"/>
              </a:rPr>
            </a:br>
            <a:r>
              <a:rPr lang="ru-RU" sz="1800" i="1" u="sng" dirty="0">
                <a:latin typeface="+mn-lt"/>
              </a:rPr>
              <a:t>Гипотеза, которую необходимо проверить:</a:t>
            </a:r>
            <a:br>
              <a:rPr lang="ru-RU" sz="1800" i="1" u="sng" dirty="0">
                <a:latin typeface="+mn-lt"/>
              </a:rPr>
            </a:br>
            <a:r>
              <a:rPr lang="ru-RU" sz="1800" dirty="0"/>
              <a:t>Сильный рост количества операций с касс самообслуживания увеличивает среднюю длительность операции.</a:t>
            </a:r>
            <a:endParaRPr lang="ru-RU" sz="1800" dirty="0">
              <a:latin typeface="+mn-lt"/>
            </a:endParaRPr>
          </a:p>
        </p:txBody>
      </p:sp>
    </p:spTree>
    <p:extLst>
      <p:ext uri="{BB962C8B-B14F-4D97-AF65-F5344CB8AC3E}">
        <p14:creationId xmlns:p14="http://schemas.microsoft.com/office/powerpoint/2010/main" val="39095148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C6F00B4-E7DC-6B74-05D1-6512D45D3103}"/>
              </a:ext>
            </a:extLst>
          </p:cNvPr>
          <p:cNvSpPr>
            <a:spLocks noGrp="1"/>
          </p:cNvSpPr>
          <p:nvPr>
            <p:ph type="title"/>
          </p:nvPr>
        </p:nvSpPr>
        <p:spPr>
          <a:xfrm>
            <a:off x="838200" y="418289"/>
            <a:ext cx="10515600" cy="729575"/>
          </a:xfrm>
        </p:spPr>
        <p:txBody>
          <a:bodyPr>
            <a:normAutofit fontScale="90000"/>
          </a:bodyPr>
          <a:lstStyle/>
          <a:p>
            <a:pPr algn="ctr"/>
            <a:r>
              <a:rPr lang="ru-RU" sz="3100" i="1" dirty="0">
                <a:solidFill>
                  <a:sysClr val="windowText" lastClr="000000"/>
                </a:solidFill>
              </a:rPr>
              <a:t>Количество</a:t>
            </a:r>
            <a:r>
              <a:rPr lang="ru-RU" sz="3200" i="1" baseline="0" dirty="0">
                <a:solidFill>
                  <a:sysClr val="windowText" lastClr="000000"/>
                </a:solidFill>
              </a:rPr>
              <a:t> транзакций на кассах с кассиром/самообслуживания</a:t>
            </a:r>
            <a:br>
              <a:rPr lang="ru-RU" sz="3200" i="1" baseline="0" dirty="0">
                <a:solidFill>
                  <a:sysClr val="windowText" lastClr="000000"/>
                </a:solidFill>
              </a:rPr>
            </a:br>
            <a:endParaRPr lang="ru-RU" sz="3200" dirty="0"/>
          </a:p>
        </p:txBody>
      </p:sp>
      <p:graphicFrame>
        <p:nvGraphicFramePr>
          <p:cNvPr id="4" name="Диаграмма 3">
            <a:extLst>
              <a:ext uri="{FF2B5EF4-FFF2-40B4-BE49-F238E27FC236}">
                <a16:creationId xmlns:a16="http://schemas.microsoft.com/office/drawing/2014/main" id="{5FA1C1B0-9733-4C9D-9FC7-4D5EB72882E9}"/>
              </a:ext>
            </a:extLst>
          </p:cNvPr>
          <p:cNvGraphicFramePr>
            <a:graphicFrameLocks/>
          </p:cNvGraphicFramePr>
          <p:nvPr>
            <p:extLst>
              <p:ext uri="{D42A27DB-BD31-4B8C-83A1-F6EECF244321}">
                <p14:modId xmlns:p14="http://schemas.microsoft.com/office/powerpoint/2010/main" val="2845000861"/>
              </p:ext>
            </p:extLst>
          </p:nvPr>
        </p:nvGraphicFramePr>
        <p:xfrm>
          <a:off x="838200" y="1001950"/>
          <a:ext cx="10515600" cy="5603131"/>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1788493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Диаграмма 2">
            <a:extLst>
              <a:ext uri="{FF2B5EF4-FFF2-40B4-BE49-F238E27FC236}">
                <a16:creationId xmlns:a16="http://schemas.microsoft.com/office/drawing/2014/main" id="{04B065B0-EB62-57C4-88F8-DB973825C945}"/>
              </a:ext>
            </a:extLst>
          </p:cNvPr>
          <p:cNvGraphicFramePr>
            <a:graphicFrameLocks/>
          </p:cNvGraphicFramePr>
          <p:nvPr>
            <p:extLst>
              <p:ext uri="{D42A27DB-BD31-4B8C-83A1-F6EECF244321}">
                <p14:modId xmlns:p14="http://schemas.microsoft.com/office/powerpoint/2010/main" val="3728425728"/>
              </p:ext>
            </p:extLst>
          </p:nvPr>
        </p:nvGraphicFramePr>
        <p:xfrm>
          <a:off x="436548" y="1330332"/>
          <a:ext cx="5528272" cy="479267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Диаграмма 3">
            <a:extLst>
              <a:ext uri="{FF2B5EF4-FFF2-40B4-BE49-F238E27FC236}">
                <a16:creationId xmlns:a16="http://schemas.microsoft.com/office/drawing/2014/main" id="{BE088F6C-F01B-0919-AFF6-D3DED6A6A95F}"/>
              </a:ext>
            </a:extLst>
          </p:cNvPr>
          <p:cNvGraphicFramePr>
            <a:graphicFrameLocks/>
          </p:cNvGraphicFramePr>
          <p:nvPr>
            <p:extLst>
              <p:ext uri="{D42A27DB-BD31-4B8C-83A1-F6EECF244321}">
                <p14:modId xmlns:p14="http://schemas.microsoft.com/office/powerpoint/2010/main" val="1672315761"/>
              </p:ext>
            </p:extLst>
          </p:nvPr>
        </p:nvGraphicFramePr>
        <p:xfrm>
          <a:off x="6227180" y="1330332"/>
          <a:ext cx="5528272" cy="4792675"/>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Box 4">
            <a:extLst>
              <a:ext uri="{FF2B5EF4-FFF2-40B4-BE49-F238E27FC236}">
                <a16:creationId xmlns:a16="http://schemas.microsoft.com/office/drawing/2014/main" id="{E3D3ECA6-6111-5844-CF05-5E03F6D3FB78}"/>
              </a:ext>
            </a:extLst>
          </p:cNvPr>
          <p:cNvSpPr txBox="1"/>
          <p:nvPr/>
        </p:nvSpPr>
        <p:spPr>
          <a:xfrm>
            <a:off x="834844" y="611881"/>
            <a:ext cx="4731680" cy="400110"/>
          </a:xfrm>
          <a:prstGeom prst="rect">
            <a:avLst/>
          </a:prstGeom>
          <a:noFill/>
        </p:spPr>
        <p:txBody>
          <a:bodyPr wrap="none" rtlCol="0">
            <a:spAutoFit/>
          </a:bodyPr>
          <a:lstStyle/>
          <a:p>
            <a:r>
              <a:rPr lang="ru-RU" sz="2000" i="1" dirty="0">
                <a:solidFill>
                  <a:sysClr val="windowText" lastClr="000000"/>
                </a:solidFill>
              </a:rPr>
              <a:t>Доля транзакций</a:t>
            </a:r>
            <a:r>
              <a:rPr lang="ru-RU" sz="2000" i="1" baseline="0" dirty="0">
                <a:solidFill>
                  <a:sysClr val="windowText" lastClr="000000"/>
                </a:solidFill>
              </a:rPr>
              <a:t> по самообслуживанию</a:t>
            </a:r>
            <a:endParaRPr lang="ru-RU" sz="2000" i="1" dirty="0">
              <a:solidFill>
                <a:sysClr val="windowText" lastClr="000000"/>
              </a:solidFill>
            </a:endParaRPr>
          </a:p>
        </p:txBody>
      </p:sp>
      <p:sp>
        <p:nvSpPr>
          <p:cNvPr id="6" name="TextBox 5">
            <a:extLst>
              <a:ext uri="{FF2B5EF4-FFF2-40B4-BE49-F238E27FC236}">
                <a16:creationId xmlns:a16="http://schemas.microsoft.com/office/drawing/2014/main" id="{5EEDC56A-3563-2138-0762-24A8328591A5}"/>
              </a:ext>
            </a:extLst>
          </p:cNvPr>
          <p:cNvSpPr txBox="1"/>
          <p:nvPr/>
        </p:nvSpPr>
        <p:spPr>
          <a:xfrm>
            <a:off x="6227180" y="611881"/>
            <a:ext cx="5867953" cy="400110"/>
          </a:xfrm>
          <a:prstGeom prst="rect">
            <a:avLst/>
          </a:prstGeom>
          <a:noFill/>
        </p:spPr>
        <p:txBody>
          <a:bodyPr wrap="none" rtlCol="0">
            <a:spAutoFit/>
          </a:bodyPr>
          <a:lstStyle/>
          <a:p>
            <a:r>
              <a:rPr lang="ru-RU" sz="2000" i="1" dirty="0">
                <a:solidFill>
                  <a:sysClr val="windowText" lastClr="000000"/>
                </a:solidFill>
              </a:rPr>
              <a:t>Время обслуживания</a:t>
            </a:r>
            <a:r>
              <a:rPr lang="ru-RU" sz="2000" i="1" baseline="0" dirty="0">
                <a:solidFill>
                  <a:sysClr val="windowText" lastClr="000000"/>
                </a:solidFill>
              </a:rPr>
              <a:t> на кассах самообслуживания </a:t>
            </a:r>
            <a:endParaRPr lang="ru-RU" sz="2000" i="1" dirty="0">
              <a:solidFill>
                <a:sysClr val="windowText" lastClr="000000"/>
              </a:solidFill>
            </a:endParaRPr>
          </a:p>
        </p:txBody>
      </p:sp>
    </p:spTree>
    <p:extLst>
      <p:ext uri="{BB962C8B-B14F-4D97-AF65-F5344CB8AC3E}">
        <p14:creationId xmlns:p14="http://schemas.microsoft.com/office/powerpoint/2010/main" val="25998145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45E9313-15C1-FBBB-0E22-7A86D4E4FC08}"/>
              </a:ext>
            </a:extLst>
          </p:cNvPr>
          <p:cNvSpPr>
            <a:spLocks noGrp="1"/>
          </p:cNvSpPr>
          <p:nvPr>
            <p:ph type="title"/>
          </p:nvPr>
        </p:nvSpPr>
        <p:spPr>
          <a:xfrm>
            <a:off x="838200" y="1845992"/>
            <a:ext cx="10515600" cy="3166015"/>
          </a:xfrm>
        </p:spPr>
        <p:txBody>
          <a:bodyPr>
            <a:normAutofit/>
          </a:bodyPr>
          <a:lstStyle/>
          <a:p>
            <a:pPr algn="ctr">
              <a:lnSpc>
                <a:spcPct val="150000"/>
              </a:lnSpc>
            </a:pPr>
            <a:r>
              <a:rPr lang="ru-RU" sz="1800" i="1" u="sng" dirty="0">
                <a:latin typeface="+mn-lt"/>
              </a:rPr>
              <a:t>Причина исследования</a:t>
            </a:r>
            <a:r>
              <a:rPr lang="ru-RU" sz="1800" i="1" u="sng" dirty="0"/>
              <a:t>:</a:t>
            </a:r>
            <a:br>
              <a:rPr lang="ru-RU" sz="1800" dirty="0"/>
            </a:br>
            <a:r>
              <a:rPr lang="ru-RU" sz="1800" dirty="0"/>
              <a:t>Необходимо исследовать 1 сентября и определить, по каким причинам мы наблюдаем повышенную среднюю длительность операций.</a:t>
            </a:r>
          </a:p>
        </p:txBody>
      </p:sp>
    </p:spTree>
    <p:extLst>
      <p:ext uri="{BB962C8B-B14F-4D97-AF65-F5344CB8AC3E}">
        <p14:creationId xmlns:p14="http://schemas.microsoft.com/office/powerpoint/2010/main" val="24706853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A437D05-6200-7D69-F3C2-3721FD4927E5}"/>
              </a:ext>
            </a:extLst>
          </p:cNvPr>
          <p:cNvSpPr>
            <a:spLocks noGrp="1"/>
          </p:cNvSpPr>
          <p:nvPr>
            <p:ph type="title"/>
          </p:nvPr>
        </p:nvSpPr>
        <p:spPr>
          <a:xfrm>
            <a:off x="838202" y="289453"/>
            <a:ext cx="10515600" cy="823595"/>
          </a:xfrm>
        </p:spPr>
        <p:txBody>
          <a:bodyPr>
            <a:normAutofit fontScale="90000"/>
          </a:bodyPr>
          <a:lstStyle/>
          <a:p>
            <a:pPr algn="ctr"/>
            <a:r>
              <a:rPr lang="ru-RU" sz="3200" i="1" dirty="0">
                <a:solidFill>
                  <a:sysClr val="windowText" lastClr="000000"/>
                </a:solidFill>
              </a:rPr>
              <a:t>Средняя</a:t>
            </a:r>
            <a:r>
              <a:rPr lang="ru-RU" sz="3200" i="1" baseline="0" dirty="0">
                <a:solidFill>
                  <a:sysClr val="windowText" lastClr="000000"/>
                </a:solidFill>
              </a:rPr>
              <a:t> длительность транзакций на серверах 1 -го сентября</a:t>
            </a:r>
            <a:endParaRPr lang="ru-RU" sz="3200" dirty="0"/>
          </a:p>
        </p:txBody>
      </p:sp>
      <p:graphicFrame>
        <p:nvGraphicFramePr>
          <p:cNvPr id="3" name="Диаграмма 2">
            <a:extLst>
              <a:ext uri="{FF2B5EF4-FFF2-40B4-BE49-F238E27FC236}">
                <a16:creationId xmlns:a16="http://schemas.microsoft.com/office/drawing/2014/main" id="{3065C560-605D-B1EC-E85A-5AC629AC9D77}"/>
              </a:ext>
            </a:extLst>
          </p:cNvPr>
          <p:cNvGraphicFramePr>
            <a:graphicFrameLocks/>
          </p:cNvGraphicFramePr>
          <p:nvPr>
            <p:extLst>
              <p:ext uri="{D42A27DB-BD31-4B8C-83A1-F6EECF244321}">
                <p14:modId xmlns:p14="http://schemas.microsoft.com/office/powerpoint/2010/main" val="381324333"/>
              </p:ext>
            </p:extLst>
          </p:nvPr>
        </p:nvGraphicFramePr>
        <p:xfrm>
          <a:off x="838202" y="1371600"/>
          <a:ext cx="10515600" cy="519694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5221945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29049D3-AC55-EDDF-AA20-62B3AB364EC5}"/>
              </a:ext>
            </a:extLst>
          </p:cNvPr>
          <p:cNvSpPr>
            <a:spLocks noGrp="1"/>
          </p:cNvSpPr>
          <p:nvPr>
            <p:ph type="title"/>
          </p:nvPr>
        </p:nvSpPr>
        <p:spPr>
          <a:xfrm>
            <a:off x="838202" y="365125"/>
            <a:ext cx="10515600" cy="986155"/>
          </a:xfrm>
        </p:spPr>
        <p:txBody>
          <a:bodyPr>
            <a:noAutofit/>
          </a:bodyPr>
          <a:lstStyle/>
          <a:p>
            <a:pPr algn="ctr"/>
            <a:r>
              <a:rPr lang="ru-RU" sz="3200" i="1" dirty="0">
                <a:solidFill>
                  <a:sysClr val="windowText" lastClr="000000"/>
                </a:solidFill>
              </a:rPr>
              <a:t>Средняя длительность транзакций на серверах 1-го сентября</a:t>
            </a:r>
            <a:endParaRPr lang="ru-RU" sz="3200" dirty="0"/>
          </a:p>
        </p:txBody>
      </p:sp>
      <p:graphicFrame>
        <p:nvGraphicFramePr>
          <p:cNvPr id="3" name="Диаграмма 2">
            <a:extLst>
              <a:ext uri="{FF2B5EF4-FFF2-40B4-BE49-F238E27FC236}">
                <a16:creationId xmlns:a16="http://schemas.microsoft.com/office/drawing/2014/main" id="{857A56EA-73E2-7342-E02B-29D768F96A80}"/>
              </a:ext>
            </a:extLst>
          </p:cNvPr>
          <p:cNvGraphicFramePr>
            <a:graphicFrameLocks/>
          </p:cNvGraphicFramePr>
          <p:nvPr>
            <p:extLst>
              <p:ext uri="{D42A27DB-BD31-4B8C-83A1-F6EECF244321}">
                <p14:modId xmlns:p14="http://schemas.microsoft.com/office/powerpoint/2010/main" val="1648182606"/>
              </p:ext>
            </p:extLst>
          </p:nvPr>
        </p:nvGraphicFramePr>
        <p:xfrm>
          <a:off x="838202" y="1534160"/>
          <a:ext cx="10699421" cy="4693259"/>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1076702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FEA5263-D3CC-88CD-4E90-EB4D171C8D19}"/>
              </a:ext>
            </a:extLst>
          </p:cNvPr>
          <p:cNvSpPr>
            <a:spLocks noGrp="1"/>
          </p:cNvSpPr>
          <p:nvPr>
            <p:ph type="title"/>
          </p:nvPr>
        </p:nvSpPr>
        <p:spPr>
          <a:xfrm>
            <a:off x="838200" y="238665"/>
            <a:ext cx="10515600" cy="704918"/>
          </a:xfrm>
        </p:spPr>
        <p:txBody>
          <a:bodyPr>
            <a:normAutofit/>
          </a:bodyPr>
          <a:lstStyle/>
          <a:p>
            <a:pPr algn="ctr"/>
            <a:r>
              <a:rPr lang="ru-RU" sz="3200" i="1" dirty="0">
                <a:solidFill>
                  <a:sysClr val="windowText" lastClr="000000"/>
                </a:solidFill>
              </a:rPr>
              <a:t>Нагрузка на сервера 1-го сентября</a:t>
            </a:r>
            <a:endParaRPr lang="ru-RU" sz="3200" dirty="0"/>
          </a:p>
        </p:txBody>
      </p:sp>
      <p:graphicFrame>
        <p:nvGraphicFramePr>
          <p:cNvPr id="3" name="Диаграмма 2">
            <a:extLst>
              <a:ext uri="{FF2B5EF4-FFF2-40B4-BE49-F238E27FC236}">
                <a16:creationId xmlns:a16="http://schemas.microsoft.com/office/drawing/2014/main" id="{30D73CB2-0845-B961-41EF-3DD04C16AE80}"/>
              </a:ext>
            </a:extLst>
          </p:cNvPr>
          <p:cNvGraphicFramePr>
            <a:graphicFrameLocks/>
          </p:cNvGraphicFramePr>
          <p:nvPr>
            <p:extLst>
              <p:ext uri="{D42A27DB-BD31-4B8C-83A1-F6EECF244321}">
                <p14:modId xmlns:p14="http://schemas.microsoft.com/office/powerpoint/2010/main" val="4277490947"/>
              </p:ext>
            </p:extLst>
          </p:nvPr>
        </p:nvGraphicFramePr>
        <p:xfrm>
          <a:off x="838200" y="1060315"/>
          <a:ext cx="10515600" cy="5440606"/>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5266022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6F83C23-7855-E855-3CC0-43C46F9C5B27}"/>
              </a:ext>
            </a:extLst>
          </p:cNvPr>
          <p:cNvSpPr>
            <a:spLocks noGrp="1"/>
          </p:cNvSpPr>
          <p:nvPr>
            <p:ph type="title"/>
          </p:nvPr>
        </p:nvSpPr>
        <p:spPr>
          <a:xfrm>
            <a:off x="838202" y="365126"/>
            <a:ext cx="10515600" cy="682378"/>
          </a:xfrm>
        </p:spPr>
        <p:txBody>
          <a:bodyPr>
            <a:normAutofit fontScale="90000"/>
          </a:bodyPr>
          <a:lstStyle/>
          <a:p>
            <a:pPr algn="ctr"/>
            <a:r>
              <a:rPr lang="ru-RU" sz="3200" i="1" dirty="0">
                <a:solidFill>
                  <a:sysClr val="windowText" lastClr="000000"/>
                </a:solidFill>
              </a:rPr>
              <a:t>Нагрузка 1-го сентября по торговым точкам</a:t>
            </a:r>
            <a:br>
              <a:rPr lang="ru-RU" sz="3200" i="1" dirty="0">
                <a:solidFill>
                  <a:sysClr val="windowText" lastClr="000000"/>
                </a:solidFill>
              </a:rPr>
            </a:br>
            <a:endParaRPr lang="ru-RU" sz="3200" dirty="0"/>
          </a:p>
        </p:txBody>
      </p:sp>
      <p:graphicFrame>
        <p:nvGraphicFramePr>
          <p:cNvPr id="3" name="Диаграмма 2">
            <a:extLst>
              <a:ext uri="{FF2B5EF4-FFF2-40B4-BE49-F238E27FC236}">
                <a16:creationId xmlns:a16="http://schemas.microsoft.com/office/drawing/2014/main" id="{3079B29A-7CBE-2036-AF9D-DF05EC2745EC}"/>
              </a:ext>
            </a:extLst>
          </p:cNvPr>
          <p:cNvGraphicFramePr>
            <a:graphicFrameLocks/>
          </p:cNvGraphicFramePr>
          <p:nvPr>
            <p:extLst>
              <p:ext uri="{D42A27DB-BD31-4B8C-83A1-F6EECF244321}">
                <p14:modId xmlns:p14="http://schemas.microsoft.com/office/powerpoint/2010/main" val="1831004103"/>
              </p:ext>
            </p:extLst>
          </p:nvPr>
        </p:nvGraphicFramePr>
        <p:xfrm>
          <a:off x="544749" y="1047503"/>
          <a:ext cx="11459183" cy="544537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4083921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8E8778E-6C90-16B1-E17F-2B9521F0511A}"/>
              </a:ext>
            </a:extLst>
          </p:cNvPr>
          <p:cNvSpPr>
            <a:spLocks noGrp="1"/>
          </p:cNvSpPr>
          <p:nvPr>
            <p:ph type="title"/>
          </p:nvPr>
        </p:nvSpPr>
        <p:spPr>
          <a:xfrm>
            <a:off x="838200" y="741680"/>
            <a:ext cx="10515600" cy="400246"/>
          </a:xfrm>
        </p:spPr>
        <p:txBody>
          <a:bodyPr>
            <a:noAutofit/>
          </a:bodyPr>
          <a:lstStyle/>
          <a:p>
            <a:pPr algn="ctr"/>
            <a:r>
              <a:rPr lang="ru-RU" sz="2800" i="1" dirty="0">
                <a:solidFill>
                  <a:sysClr val="windowText" lastClr="000000"/>
                </a:solidFill>
              </a:rPr>
              <a:t>Средняя продолжительность транзакций по платежным системам 1-го сентября</a:t>
            </a:r>
            <a:br>
              <a:rPr lang="ru-RU" sz="2800" i="1" dirty="0">
                <a:solidFill>
                  <a:sysClr val="windowText" lastClr="000000"/>
                </a:solidFill>
              </a:rPr>
            </a:br>
            <a:endParaRPr lang="ru-RU" sz="2800" dirty="0"/>
          </a:p>
        </p:txBody>
      </p:sp>
      <p:graphicFrame>
        <p:nvGraphicFramePr>
          <p:cNvPr id="3" name="Диаграмма 2">
            <a:extLst>
              <a:ext uri="{FF2B5EF4-FFF2-40B4-BE49-F238E27FC236}">
                <a16:creationId xmlns:a16="http://schemas.microsoft.com/office/drawing/2014/main" id="{A0D831B2-38A5-B2C2-BE3B-A1E61AC5906E}"/>
              </a:ext>
            </a:extLst>
          </p:cNvPr>
          <p:cNvGraphicFramePr>
            <a:graphicFrameLocks/>
          </p:cNvGraphicFramePr>
          <p:nvPr>
            <p:extLst>
              <p:ext uri="{D42A27DB-BD31-4B8C-83A1-F6EECF244321}">
                <p14:modId xmlns:p14="http://schemas.microsoft.com/office/powerpoint/2010/main" val="468630095"/>
              </p:ext>
            </p:extLst>
          </p:nvPr>
        </p:nvGraphicFramePr>
        <p:xfrm>
          <a:off x="914474" y="1381760"/>
          <a:ext cx="10363052" cy="511111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7121613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75DC225-D5F7-54F5-96F8-C98B5C8CF171}"/>
              </a:ext>
            </a:extLst>
          </p:cNvPr>
          <p:cNvSpPr>
            <a:spLocks noGrp="1"/>
          </p:cNvSpPr>
          <p:nvPr>
            <p:ph type="title"/>
          </p:nvPr>
        </p:nvSpPr>
        <p:spPr>
          <a:xfrm>
            <a:off x="838200" y="294006"/>
            <a:ext cx="10515600" cy="600074"/>
          </a:xfrm>
        </p:spPr>
        <p:txBody>
          <a:bodyPr>
            <a:noAutofit/>
          </a:bodyPr>
          <a:lstStyle/>
          <a:p>
            <a:pPr algn="ctr"/>
            <a:r>
              <a:rPr lang="ru-RU" sz="3200" i="1" dirty="0">
                <a:solidFill>
                  <a:sysClr val="windowText" lastClr="000000"/>
                </a:solidFill>
              </a:rPr>
              <a:t>Преобладание платежных систем 1-го сентября</a:t>
            </a:r>
            <a:endParaRPr lang="ru-RU" sz="3200" dirty="0"/>
          </a:p>
        </p:txBody>
      </p:sp>
      <p:graphicFrame>
        <p:nvGraphicFramePr>
          <p:cNvPr id="3" name="Диаграмма 2">
            <a:extLst>
              <a:ext uri="{FF2B5EF4-FFF2-40B4-BE49-F238E27FC236}">
                <a16:creationId xmlns:a16="http://schemas.microsoft.com/office/drawing/2014/main" id="{6A57EDA1-2381-9F5E-B277-66FC730B2E62}"/>
              </a:ext>
            </a:extLst>
          </p:cNvPr>
          <p:cNvGraphicFramePr>
            <a:graphicFrameLocks/>
          </p:cNvGraphicFramePr>
          <p:nvPr>
            <p:extLst>
              <p:ext uri="{D42A27DB-BD31-4B8C-83A1-F6EECF244321}">
                <p14:modId xmlns:p14="http://schemas.microsoft.com/office/powerpoint/2010/main" val="1396108954"/>
              </p:ext>
            </p:extLst>
          </p:nvPr>
        </p:nvGraphicFramePr>
        <p:xfrm>
          <a:off x="838200" y="1239520"/>
          <a:ext cx="10795000" cy="532447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1851435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7EA0794-F53C-92DE-22D0-EDD02A28CED6}"/>
              </a:ext>
            </a:extLst>
          </p:cNvPr>
          <p:cNvSpPr>
            <a:spLocks noGrp="1"/>
          </p:cNvSpPr>
          <p:nvPr>
            <p:ph type="title"/>
          </p:nvPr>
        </p:nvSpPr>
        <p:spPr>
          <a:xfrm>
            <a:off x="838200" y="257782"/>
            <a:ext cx="10515600" cy="3964022"/>
          </a:xfrm>
        </p:spPr>
        <p:txBody>
          <a:bodyPr>
            <a:noAutofit/>
          </a:bodyPr>
          <a:lstStyle/>
          <a:p>
            <a:pPr algn="ctr">
              <a:lnSpc>
                <a:spcPct val="150000"/>
              </a:lnSpc>
            </a:pPr>
            <a:r>
              <a:rPr lang="ru-RU" sz="1800" i="1" u="sng" dirty="0">
                <a:latin typeface="+mn-lt"/>
              </a:rPr>
              <a:t>Причина исследования:</a:t>
            </a:r>
            <a:br>
              <a:rPr lang="ru-RU" sz="1800" dirty="0"/>
            </a:br>
            <a:r>
              <a:rPr lang="ru-RU" sz="1800" dirty="0"/>
              <a:t>Разработчики прислали следующую схему и сообщили, что в звеньях, отмеченных цветами, происходили технические проблемы.</a:t>
            </a:r>
            <a:br>
              <a:rPr lang="ru-RU" sz="1800" dirty="0"/>
            </a:br>
            <a:r>
              <a:rPr lang="ru-RU" sz="1800" dirty="0"/>
              <a:t>Необходимо предоставить информацию, насколько серьезно эти технические проблемы повлияли на среднюю длительность платежа и вывести на сколько процентов повысилась длительность операции по сравнению со среднестатистическим значением.</a:t>
            </a:r>
            <a:br>
              <a:rPr lang="ru-RU" sz="1800" dirty="0"/>
            </a:br>
            <a:r>
              <a:rPr lang="ru-RU" sz="1800" i="1" dirty="0">
                <a:solidFill>
                  <a:schemeClr val="accent1"/>
                </a:solidFill>
              </a:rPr>
              <a:t>Сиреневый — сервер 1 в период с 00:00 по 9:00 в день 05.09</a:t>
            </a:r>
            <a:br>
              <a:rPr lang="ru-RU" sz="1800" i="1" dirty="0">
                <a:solidFill>
                  <a:schemeClr val="accent1"/>
                </a:solidFill>
              </a:rPr>
            </a:br>
            <a:r>
              <a:rPr lang="ru-RU" sz="1800" i="1" dirty="0">
                <a:solidFill>
                  <a:schemeClr val="accent1"/>
                </a:solidFill>
              </a:rPr>
              <a:t>Красный — сервер 1 в течение всего дня 06.09</a:t>
            </a:r>
            <a:br>
              <a:rPr lang="ru-RU" sz="1800" i="1" dirty="0">
                <a:solidFill>
                  <a:schemeClr val="accent1"/>
                </a:solidFill>
              </a:rPr>
            </a:br>
            <a:r>
              <a:rPr lang="ru-RU" sz="1800" i="1" dirty="0">
                <a:solidFill>
                  <a:schemeClr val="accent1"/>
                </a:solidFill>
              </a:rPr>
              <a:t>Оранжевый — сервер 2 в период 12.00-13.00 в день 07.09</a:t>
            </a:r>
            <a:br>
              <a:rPr lang="ru-RU" sz="1800" i="1" dirty="0">
                <a:solidFill>
                  <a:schemeClr val="accent1"/>
                </a:solidFill>
              </a:rPr>
            </a:br>
            <a:endParaRPr lang="ru-RU" sz="1800" i="1" dirty="0">
              <a:solidFill>
                <a:schemeClr val="accent1"/>
              </a:solidFill>
            </a:endParaRPr>
          </a:p>
        </p:txBody>
      </p:sp>
      <p:pic>
        <p:nvPicPr>
          <p:cNvPr id="4" name="Рисунок 3">
            <a:extLst>
              <a:ext uri="{FF2B5EF4-FFF2-40B4-BE49-F238E27FC236}">
                <a16:creationId xmlns:a16="http://schemas.microsoft.com/office/drawing/2014/main" id="{51D78781-D283-C0E5-A169-D10FE4B11A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17035" y="4221804"/>
            <a:ext cx="4957930" cy="2305002"/>
          </a:xfrm>
          <a:prstGeom prst="rect">
            <a:avLst/>
          </a:prstGeom>
        </p:spPr>
      </p:pic>
    </p:spTree>
    <p:extLst>
      <p:ext uri="{BB962C8B-B14F-4D97-AF65-F5344CB8AC3E}">
        <p14:creationId xmlns:p14="http://schemas.microsoft.com/office/powerpoint/2010/main" val="1108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Диаграмма 2">
            <a:extLst>
              <a:ext uri="{FF2B5EF4-FFF2-40B4-BE49-F238E27FC236}">
                <a16:creationId xmlns:a16="http://schemas.microsoft.com/office/drawing/2014/main" id="{A8602624-5D4B-F497-791B-DFC3ED8FEABA}"/>
              </a:ext>
            </a:extLst>
          </p:cNvPr>
          <p:cNvGraphicFramePr>
            <a:graphicFrameLocks/>
          </p:cNvGraphicFramePr>
          <p:nvPr>
            <p:extLst>
              <p:ext uri="{D42A27DB-BD31-4B8C-83A1-F6EECF244321}">
                <p14:modId xmlns:p14="http://schemas.microsoft.com/office/powerpoint/2010/main" val="155943811"/>
              </p:ext>
            </p:extLst>
          </p:nvPr>
        </p:nvGraphicFramePr>
        <p:xfrm>
          <a:off x="389106" y="1498059"/>
          <a:ext cx="11237068" cy="5016919"/>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a:extLst>
              <a:ext uri="{FF2B5EF4-FFF2-40B4-BE49-F238E27FC236}">
                <a16:creationId xmlns:a16="http://schemas.microsoft.com/office/drawing/2014/main" id="{B124727D-8BBC-8E50-D858-FEA8C1226F84}"/>
              </a:ext>
            </a:extLst>
          </p:cNvPr>
          <p:cNvSpPr txBox="1"/>
          <p:nvPr/>
        </p:nvSpPr>
        <p:spPr>
          <a:xfrm>
            <a:off x="1431587" y="243191"/>
            <a:ext cx="9328826" cy="1077218"/>
          </a:xfrm>
          <a:prstGeom prst="rect">
            <a:avLst/>
          </a:prstGeom>
          <a:noFill/>
        </p:spPr>
        <p:txBody>
          <a:bodyPr wrap="square" rtlCol="0">
            <a:spAutoFit/>
          </a:bodyPr>
          <a:lstStyle/>
          <a:p>
            <a:pPr algn="ctr"/>
            <a:r>
              <a:rPr lang="ru-RU" sz="3200" dirty="0">
                <a:solidFill>
                  <a:sysClr val="windowText" lastClr="000000"/>
                </a:solidFill>
                <a:latin typeface="+mj-lt"/>
              </a:rPr>
              <a:t>Динамика ср. длительность платежа транзакций на 1 сервере с 5 по 7 сентября</a:t>
            </a:r>
          </a:p>
        </p:txBody>
      </p:sp>
    </p:spTree>
    <p:extLst>
      <p:ext uri="{BB962C8B-B14F-4D97-AF65-F5344CB8AC3E}">
        <p14:creationId xmlns:p14="http://schemas.microsoft.com/office/powerpoint/2010/main" val="9707298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Диаграмма 4">
            <a:extLst>
              <a:ext uri="{FF2B5EF4-FFF2-40B4-BE49-F238E27FC236}">
                <a16:creationId xmlns:a16="http://schemas.microsoft.com/office/drawing/2014/main" id="{882D2C86-383D-CB31-9713-4279B0F9BE7F}"/>
              </a:ext>
            </a:extLst>
          </p:cNvPr>
          <p:cNvGraphicFramePr>
            <a:graphicFrameLocks/>
          </p:cNvGraphicFramePr>
          <p:nvPr>
            <p:extLst>
              <p:ext uri="{D42A27DB-BD31-4B8C-83A1-F6EECF244321}">
                <p14:modId xmlns:p14="http://schemas.microsoft.com/office/powerpoint/2010/main" val="2455596454"/>
              </p:ext>
            </p:extLst>
          </p:nvPr>
        </p:nvGraphicFramePr>
        <p:xfrm>
          <a:off x="304800" y="3322319"/>
          <a:ext cx="11592559" cy="3383913"/>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Диаграмма 5">
            <a:extLst>
              <a:ext uri="{FF2B5EF4-FFF2-40B4-BE49-F238E27FC236}">
                <a16:creationId xmlns:a16="http://schemas.microsoft.com/office/drawing/2014/main" id="{B568EEE6-8A5B-6246-CB15-1E10DD7DEC45}"/>
              </a:ext>
            </a:extLst>
          </p:cNvPr>
          <p:cNvGraphicFramePr>
            <a:graphicFrameLocks/>
          </p:cNvGraphicFramePr>
          <p:nvPr>
            <p:extLst>
              <p:ext uri="{D42A27DB-BD31-4B8C-83A1-F6EECF244321}">
                <p14:modId xmlns:p14="http://schemas.microsoft.com/office/powerpoint/2010/main" val="3170900368"/>
              </p:ext>
            </p:extLst>
          </p:nvPr>
        </p:nvGraphicFramePr>
        <p:xfrm>
          <a:off x="304800" y="151765"/>
          <a:ext cx="11582400" cy="3170554"/>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2783762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861B8E8-01AC-2474-4657-344BFACE346F}"/>
              </a:ext>
            </a:extLst>
          </p:cNvPr>
          <p:cNvSpPr>
            <a:spLocks noGrp="1"/>
          </p:cNvSpPr>
          <p:nvPr>
            <p:ph type="title"/>
          </p:nvPr>
        </p:nvSpPr>
        <p:spPr>
          <a:xfrm>
            <a:off x="838200" y="450073"/>
            <a:ext cx="10515600" cy="5957854"/>
          </a:xfrm>
        </p:spPr>
        <p:txBody>
          <a:bodyPr>
            <a:normAutofit/>
          </a:bodyPr>
          <a:lstStyle/>
          <a:p>
            <a:pPr algn="ctr">
              <a:lnSpc>
                <a:spcPct val="150000"/>
              </a:lnSpc>
            </a:pPr>
            <a:r>
              <a:rPr lang="ru-RU" sz="1800" i="1" u="sng" dirty="0">
                <a:latin typeface="+mn-lt"/>
              </a:rPr>
              <a:t>Причина исследования:</a:t>
            </a:r>
            <a:br>
              <a:rPr lang="ru-RU" sz="1800" dirty="0"/>
            </a:br>
            <a:r>
              <a:rPr lang="ru-RU" sz="1800" dirty="0"/>
              <a:t>В течение всего дня 07.09 действовала маркетинговая акция, по которой любой предъявитель карты с программой лояльности за покупку свыше 15.000 рублей получает дополнительный подарок.</a:t>
            </a:r>
            <a:br>
              <a:rPr lang="ru-RU" sz="1800" dirty="0"/>
            </a:br>
            <a:br>
              <a:rPr lang="ru-RU" sz="1800" dirty="0"/>
            </a:br>
            <a:r>
              <a:rPr lang="ru-RU" sz="1800" dirty="0"/>
              <a:t>Оценить, на сколько процентов поднялся средний чек за этот период.</a:t>
            </a:r>
            <a:br>
              <a:rPr lang="ru-RU" sz="1800" dirty="0"/>
            </a:br>
            <a:r>
              <a:rPr lang="ru-RU" sz="1800" dirty="0"/>
              <a:t>Проверить, увеличилось ли общее количество транзакций за этот период?</a:t>
            </a:r>
            <a:br>
              <a:rPr lang="ru-RU" sz="1800" dirty="0"/>
            </a:br>
            <a:br>
              <a:rPr lang="ru-RU" sz="1800" dirty="0"/>
            </a:br>
            <a:r>
              <a:rPr lang="ru-RU" sz="1800" i="1" dirty="0"/>
              <a:t>Подарок разыгрывается в формате лотереи:</a:t>
            </a:r>
            <a:br>
              <a:rPr lang="ru-RU" sz="1800" i="1" dirty="0"/>
            </a:br>
            <a:r>
              <a:rPr lang="ru-RU" sz="1800" i="1" dirty="0"/>
              <a:t>Пятеро случайно выбранных счастливчиков получают подарок ценой 50.000 рублей</a:t>
            </a:r>
            <a:br>
              <a:rPr lang="ru-RU" sz="1800" i="1" dirty="0"/>
            </a:br>
            <a:r>
              <a:rPr lang="ru-RU" sz="1800" i="1" dirty="0"/>
              <a:t>Еще десятеро получают подарок ценой 10.000 рублей</a:t>
            </a:r>
            <a:br>
              <a:rPr lang="ru-RU" sz="1800" i="1" dirty="0"/>
            </a:br>
            <a:r>
              <a:rPr lang="ru-RU" sz="1800" i="1" dirty="0"/>
              <a:t>Все остальные попадающие под условия акции получают подарок ценой 750 рублей</a:t>
            </a:r>
          </a:p>
        </p:txBody>
      </p:sp>
    </p:spTree>
    <p:extLst>
      <p:ext uri="{BB962C8B-B14F-4D97-AF65-F5344CB8AC3E}">
        <p14:creationId xmlns:p14="http://schemas.microsoft.com/office/powerpoint/2010/main" val="3500478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E6AA193-D9F4-6514-2C01-C2C4168AE4AE}"/>
              </a:ext>
            </a:extLst>
          </p:cNvPr>
          <p:cNvSpPr>
            <a:spLocks noGrp="1"/>
          </p:cNvSpPr>
          <p:nvPr>
            <p:ph type="title"/>
          </p:nvPr>
        </p:nvSpPr>
        <p:spPr>
          <a:xfrm>
            <a:off x="838200" y="228282"/>
            <a:ext cx="10515600" cy="600075"/>
          </a:xfrm>
        </p:spPr>
        <p:txBody>
          <a:bodyPr>
            <a:noAutofit/>
          </a:bodyPr>
          <a:lstStyle/>
          <a:p>
            <a:pPr algn="ctr"/>
            <a:r>
              <a:rPr lang="ru-RU" sz="2800" dirty="0"/>
              <a:t>Динамика количества покупок и среднего чека с 5 по 7 сентября</a:t>
            </a:r>
          </a:p>
        </p:txBody>
      </p:sp>
      <p:graphicFrame>
        <p:nvGraphicFramePr>
          <p:cNvPr id="5" name="Диаграмма 4">
            <a:extLst>
              <a:ext uri="{FF2B5EF4-FFF2-40B4-BE49-F238E27FC236}">
                <a16:creationId xmlns:a16="http://schemas.microsoft.com/office/drawing/2014/main" id="{2A59557F-58C1-ED4C-FFD0-7FE3A48D8097}"/>
              </a:ext>
            </a:extLst>
          </p:cNvPr>
          <p:cNvGraphicFramePr>
            <a:graphicFrameLocks/>
          </p:cNvGraphicFramePr>
          <p:nvPr>
            <p:extLst>
              <p:ext uri="{D42A27DB-BD31-4B8C-83A1-F6EECF244321}">
                <p14:modId xmlns:p14="http://schemas.microsoft.com/office/powerpoint/2010/main" val="4044758083"/>
              </p:ext>
            </p:extLst>
          </p:nvPr>
        </p:nvGraphicFramePr>
        <p:xfrm>
          <a:off x="838198" y="965200"/>
          <a:ext cx="10967722" cy="536448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2794561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9147F57-3DFB-D1D9-C99F-5296BF2FA08B}"/>
              </a:ext>
            </a:extLst>
          </p:cNvPr>
          <p:cNvSpPr>
            <a:spLocks noGrp="1"/>
          </p:cNvSpPr>
          <p:nvPr>
            <p:ph type="title"/>
          </p:nvPr>
        </p:nvSpPr>
        <p:spPr>
          <a:xfrm>
            <a:off x="838200" y="1814546"/>
            <a:ext cx="10515600" cy="2348892"/>
          </a:xfrm>
        </p:spPr>
        <p:txBody>
          <a:bodyPr>
            <a:normAutofit/>
          </a:bodyPr>
          <a:lstStyle/>
          <a:p>
            <a:pPr algn="ctr">
              <a:lnSpc>
                <a:spcPct val="150000"/>
              </a:lnSpc>
            </a:pPr>
            <a:r>
              <a:rPr lang="ru-RU" sz="1800" i="1" u="sng" dirty="0">
                <a:latin typeface="+mn-lt"/>
              </a:rPr>
              <a:t>Причина исследования:</a:t>
            </a:r>
            <a:br>
              <a:rPr lang="ru-RU" sz="1800" dirty="0"/>
            </a:br>
            <a:r>
              <a:rPr lang="ru-RU" sz="1800" dirty="0"/>
              <a:t>Провести сегментацию скидок лояльности: разбить все скидки на </a:t>
            </a:r>
            <a:r>
              <a:rPr lang="ru-RU" sz="1800" dirty="0" err="1"/>
              <a:t>бины</a:t>
            </a:r>
            <a:r>
              <a:rPr lang="ru-RU" sz="1800" dirty="0"/>
              <a:t> (интервалы) и оценить, сколько денег суммарно экономят клиенты в рамках каждого </a:t>
            </a:r>
            <a:r>
              <a:rPr lang="ru-RU" sz="1800" dirty="0" err="1"/>
              <a:t>бина</a:t>
            </a:r>
            <a:r>
              <a:rPr lang="ru-RU" sz="1800" dirty="0"/>
              <a:t>.</a:t>
            </a:r>
          </a:p>
        </p:txBody>
      </p:sp>
    </p:spTree>
    <p:extLst>
      <p:ext uri="{BB962C8B-B14F-4D97-AF65-F5344CB8AC3E}">
        <p14:creationId xmlns:p14="http://schemas.microsoft.com/office/powerpoint/2010/main" val="23936803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B91A640-2160-5A9C-A484-F42791F7F9FB}"/>
              </a:ext>
            </a:extLst>
          </p:cNvPr>
          <p:cNvSpPr>
            <a:spLocks noGrp="1"/>
          </p:cNvSpPr>
          <p:nvPr>
            <p:ph type="title"/>
          </p:nvPr>
        </p:nvSpPr>
        <p:spPr>
          <a:xfrm>
            <a:off x="838200" y="222885"/>
            <a:ext cx="10515600" cy="711835"/>
          </a:xfrm>
        </p:spPr>
        <p:txBody>
          <a:bodyPr>
            <a:normAutofit/>
          </a:bodyPr>
          <a:lstStyle/>
          <a:p>
            <a:pPr algn="ctr"/>
            <a:r>
              <a:rPr lang="ru-RU" sz="2800" dirty="0">
                <a:solidFill>
                  <a:sysClr val="windowText" lastClr="000000"/>
                </a:solidFill>
              </a:rPr>
              <a:t>Сэкономленная клиентами сумма по </a:t>
            </a:r>
            <a:r>
              <a:rPr lang="ru-RU" sz="2800" dirty="0" err="1">
                <a:solidFill>
                  <a:sysClr val="windowText" lastClr="000000"/>
                </a:solidFill>
              </a:rPr>
              <a:t>бинам</a:t>
            </a:r>
            <a:endParaRPr lang="ru-RU" sz="2800" dirty="0"/>
          </a:p>
        </p:txBody>
      </p:sp>
      <p:graphicFrame>
        <p:nvGraphicFramePr>
          <p:cNvPr id="4" name="Диаграмма 3">
            <a:extLst>
              <a:ext uri="{FF2B5EF4-FFF2-40B4-BE49-F238E27FC236}">
                <a16:creationId xmlns:a16="http://schemas.microsoft.com/office/drawing/2014/main" id="{AA3FC55B-5B44-7E12-2B52-66707AFC5276}"/>
              </a:ext>
            </a:extLst>
          </p:cNvPr>
          <p:cNvGraphicFramePr>
            <a:graphicFrameLocks/>
          </p:cNvGraphicFramePr>
          <p:nvPr>
            <p:extLst>
              <p:ext uri="{D42A27DB-BD31-4B8C-83A1-F6EECF244321}">
                <p14:modId xmlns:p14="http://schemas.microsoft.com/office/powerpoint/2010/main" val="2813380576"/>
              </p:ext>
            </p:extLst>
          </p:nvPr>
        </p:nvGraphicFramePr>
        <p:xfrm>
          <a:off x="873057" y="1293779"/>
          <a:ext cx="10445885" cy="519457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88395228"/>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1423</TotalTime>
  <Words>667</Words>
  <Application>Microsoft Office PowerPoint</Application>
  <PresentationFormat>Широкоэкранный</PresentationFormat>
  <Paragraphs>72</Paragraphs>
  <Slides>22</Slides>
  <Notes>0</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22</vt:i4>
      </vt:variant>
    </vt:vector>
  </HeadingPairs>
  <TitlesOfParts>
    <vt:vector size="26" baseType="lpstr">
      <vt:lpstr>Arial</vt:lpstr>
      <vt:lpstr>Calibri</vt:lpstr>
      <vt:lpstr>Calibri Light</vt:lpstr>
      <vt:lpstr>Тема Office</vt:lpstr>
      <vt:lpstr>Исследование данных крупного торгового ритейлера за промежуток с 1 по 7 сентября 2023 г.</vt:lpstr>
      <vt:lpstr>Количество транзакций (абсолютные значения) </vt:lpstr>
      <vt:lpstr>Количество транзакций (нормированный) </vt:lpstr>
      <vt:lpstr>Причина исследования: Замечаем, что у нас есть проблемы с распределением нагрузки на сервера. Необходимо исследовать динамику нагрузки и найти варианты решения проблемы.  Гипотеза, которую необходимо проверить: Повышение нагрузки связано с ростом количества транзакций, и равномерность нагрузки можно «полечить», если сделать «перепривязку» торговых точек к другим серверам.</vt:lpstr>
      <vt:lpstr>Презентация PowerPoint</vt:lpstr>
      <vt:lpstr>Причина исследования: Необходимо рассчитать, в каких точках какой процент операций совершается с помощью касс самообслуживания. Также изучить динамику доли операций на кассах самообслуживания и соотнести эту информацию с динамикой распределения операций по торговым точкам.  Гипотеза, которую необходимо проверить: Сильный рост количества операций с касс самообслуживания увеличивает среднюю длительность операции.</vt:lpstr>
      <vt:lpstr>Количество транзакций на кассах с кассиром/самообслуживания </vt:lpstr>
      <vt:lpstr>Презентация PowerPoint</vt:lpstr>
      <vt:lpstr>Причина исследования: Необходимо исследовать 1 сентября и определить, по каким причинам мы наблюдаем повышенную среднюю длительность операций.</vt:lpstr>
      <vt:lpstr>Средняя длительность транзакций на серверах 1 -го сентября</vt:lpstr>
      <vt:lpstr>Средняя длительность транзакций на серверах 1-го сентября</vt:lpstr>
      <vt:lpstr>Нагрузка на сервера 1-го сентября</vt:lpstr>
      <vt:lpstr>Нагрузка 1-го сентября по торговым точкам </vt:lpstr>
      <vt:lpstr>Средняя продолжительность транзакций по платежным системам 1-го сентября </vt:lpstr>
      <vt:lpstr>Преобладание платежных систем 1-го сентября</vt:lpstr>
      <vt:lpstr>Причина исследования: Разработчики прислали следующую схему и сообщили, что в звеньях, отмеченных цветами, происходили технические проблемы. Необходимо предоставить информацию, насколько серьезно эти технические проблемы повлияли на среднюю длительность платежа и вывести на сколько процентов повысилась длительность операции по сравнению со среднестатистическим значением. Сиреневый — сервер 1 в период с 00:00 по 9:00 в день 05.09 Красный — сервер 1 в течение всего дня 06.09 Оранжевый — сервер 2 в период 12.00-13.00 в день 07.09 </vt:lpstr>
      <vt:lpstr>Презентация PowerPoint</vt:lpstr>
      <vt:lpstr>Презентация PowerPoint</vt:lpstr>
      <vt:lpstr>Причина исследования: В течение всего дня 07.09 действовала маркетинговая акция, по которой любой предъявитель карты с программой лояльности за покупку свыше 15.000 рублей получает дополнительный подарок.  Оценить, на сколько процентов поднялся средний чек за этот период. Проверить, увеличилось ли общее количество транзакций за этот период?  Подарок разыгрывается в формате лотереи: Пятеро случайно выбранных счастливчиков получают подарок ценой 50.000 рублей Еще десятеро получают подарок ценой 10.000 рублей Все остальные попадающие под условия акции получают подарок ценой 750 рублей</vt:lpstr>
      <vt:lpstr>Динамика количества покупок и среднего чека с 5 по 7 сентября</vt:lpstr>
      <vt:lpstr>Причина исследования: Провести сегментацию скидок лояльности: разбить все скидки на бины (интервалы) и оценить, сколько денег суммарно экономят клиенты в рамках каждого бина.</vt:lpstr>
      <vt:lpstr>Сэкономленная клиентами сумма по бинам</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RaiL Asmandiyarov</dc:creator>
  <cp:lastModifiedBy>RaiL Asmandiyarov</cp:lastModifiedBy>
  <cp:revision>3</cp:revision>
  <dcterms:created xsi:type="dcterms:W3CDTF">2025-12-15T11:02:28Z</dcterms:created>
  <dcterms:modified xsi:type="dcterms:W3CDTF">2025-12-17T19:22:07Z</dcterms:modified>
</cp:coreProperties>
</file>